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323" r:id="rId37"/>
    <p:sldId id="324" r:id="rId36"/>
    <p:sldId id="325" r:id="rId35"/>
    <p:sldId id="326" r:id="rId34"/>
    <p:sldId id="327" r:id="rId33"/>
    <p:sldId id="328" r:id="rId32"/>
    <p:sldId id="329" r:id="rId31"/>
    <p:sldId id="330" r:id="rId30"/>
    <p:sldId id="331" r:id="rId29"/>
    <p:sldId id="332" r:id="rId28"/>
    <p:sldId id="333" r:id="rId27"/>
    <p:sldId id="334" r:id="rId26"/>
    <p:sldId id="335" r:id="rId25"/>
  </p:sldIdLst>
  <p:sldSz cy="514805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8" roundtripDataSignature="AMtx7mjc7gD/wRqr05EwQvDqIjTIQbH/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25" Type="http://schemas.openxmlformats.org/officeDocument/2006/relationships/slide" Target="slides/slide48.xml"/><Relationship Id="rId26" Type="http://schemas.openxmlformats.org/officeDocument/2006/relationships/slide" Target="slides/slide47.xml"/><Relationship Id="rId27" Type="http://schemas.openxmlformats.org/officeDocument/2006/relationships/slide" Target="slides/slide46.xml"/><Relationship Id="rId28" Type="http://schemas.openxmlformats.org/officeDocument/2006/relationships/slide" Target="slides/slide45.xml"/><Relationship Id="rId29" Type="http://schemas.openxmlformats.org/officeDocument/2006/relationships/slide" Target="slides/slide44.xml"/><Relationship Id="rId30" Type="http://schemas.openxmlformats.org/officeDocument/2006/relationships/slide" Target="slides/slide43.xml"/><Relationship Id="rId31" Type="http://schemas.openxmlformats.org/officeDocument/2006/relationships/slide" Target="slides/slide42.xml"/><Relationship Id="rId32" Type="http://schemas.openxmlformats.org/officeDocument/2006/relationships/slide" Target="slides/slide41.xml"/><Relationship Id="rId33" Type="http://schemas.openxmlformats.org/officeDocument/2006/relationships/slide" Target="slides/slide40.xml"/><Relationship Id="rId34" Type="http://schemas.openxmlformats.org/officeDocument/2006/relationships/slide" Target="slides/slide39.xml"/><Relationship Id="rId35" Type="http://schemas.openxmlformats.org/officeDocument/2006/relationships/slide" Target="slides/slide38.xml"/><Relationship Id="rId36" Type="http://schemas.openxmlformats.org/officeDocument/2006/relationships/slide" Target="slides/slide37.xml"/><Relationship Id="rId37" Type="http://schemas.openxmlformats.org/officeDocument/2006/relationships/slide" Target="slides/slide36.xml"/><Relationship Id="rId3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7:47–7:50 · 3 min</a:t>
            </a:r>
          </a:p>
          <a:p/>
          <a:p>
            <a:r>
              <a:t>QUÉ HACER</a:t>
            </a:r>
          </a:p>
          <a:p>
            <a:r>
              <a:t>• Lee las preguntas del chat de Zoom; prioriza las de la demo.</a:t>
            </a:r>
          </a:p>
          <a:p>
            <a:r>
              <a:t>• Si nadie pregunta, abre tú: "¿Qué parte les dio más desconfianza: el código, el despliegue o el QA?"</a:t>
            </a:r>
          </a:p>
          <a:p/>
          <a:p>
            <a:r>
              <a:t>PREGUNTAS PROBABLES</a:t>
            </a:r>
          </a:p>
          <a:p>
            <a:r>
              <a:t>• "¿Cuánto costó?" → Render y Vercel en plan gratuito; Claude Code con tu suscripción.</a:t>
            </a:r>
          </a:p>
          <a:p>
            <a:r>
              <a:t>• "¿Y si el agente se equivoca en producción?" → No puede hacer push; los tests y el QA son el freno; y hay rollback con git.</a:t>
            </a:r>
          </a:p>
          <a:p>
            <a:r>
              <a:t>• "¿El código es mantenible?" → Es una demo exprés; la E4 a la E7 tratan especificación, arquitectura y revisión.</a:t>
            </a:r>
          </a:p>
          <a:p/>
          <a:p>
            <a:r>
              <a:t>TRANSICIÓN</a:t>
            </a:r>
          </a:p>
          <a:p>
            <a:r>
              <a:t>A las 7:50 en punto: "Les dejo con Andrés Bilbao." Deja de compartir pantalla.</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7:46–7:47 · 1 min</a:t>
            </a:r>
          </a:p>
          <a:p/>
          <a:p>
            <a:r>
              <a:t>QUÉ DECIR</a:t>
            </a:r>
          </a:p>
          <a:p>
            <a:r>
              <a:t>• "Su entregable es el PVB del producto que van a construir. Si su producto es algo nuevo, hacen un PVB; si es algo interno de su empresa, hacen un Internal Solution Brief."</a:t>
            </a:r>
          </a:p>
          <a:p>
            <a:r>
              <a:t>• Señala la lista de la derecha: "La prueba final: ¿un agente podría escribir el PRD solo con su PVB, como acabamos de ver? Si sí, está bien hecho."</a:t>
            </a:r>
          </a:p>
          <a:p>
            <a:r>
              <a:t>• "Lo necesitan antes de la E2, porque la E2 arranca de ahí."</a:t>
            </a:r>
          </a:p>
          <a:p/>
          <a:p>
            <a:r>
              <a:t>TRANSICIÓN</a:t>
            </a:r>
          </a:p>
          <a:p>
            <a:r>
              <a:t>"Abrimos preguntas."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7:45–7:46 · 1 min</a:t>
            </a:r>
          </a:p>
          <a:p/>
          <a:p>
            <a:r>
              <a:t>QUÉ HACER</a:t>
            </a:r>
          </a:p>
          <a:p>
            <a:r>
              <a:t>• Vuelve a compartir la presentación.</a:t>
            </a:r>
          </a:p>
          <a:p/>
          <a:p>
            <a:r>
              <a:t>QUÉ DECIR</a:t>
            </a:r>
          </a:p>
          <a:p>
            <a:r>
              <a:t>• Lee solo los títulos de las seis tarjetas; no leas los textos.</a:t>
            </a:r>
          </a:p>
          <a:p>
            <a:r>
              <a:t>• Cierra con la franja: "Esto fue exprés y con trampa: el PVB ya estaba bien hecho. El suyo es lo que viene ahora."</a:t>
            </a:r>
          </a:p>
          <a:p/>
          <a:p>
            <a:r>
              <a:t>TRANSICIÓN</a:t>
            </a:r>
          </a:p>
          <a:p>
            <a:r>
              <a:t>"Y eso es justo su entregable."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7:11–7:14 · 3 min</a:t>
            </a:r>
          </a:p>
          <a:p/>
          <a:p>
            <a:r>
              <a:t>QUÉ DECIR</a:t>
            </a:r>
          </a:p>
          <a:p>
            <a:r>
              <a:t>• CLAUDE.md: "Es el archivo que el agente lee al empezar cada sesión. Ahí le dije cuál es la fuente de verdad, qué stack usar y, muy importante, que no diga 'listo' hasta que los tests pasen."</a:t>
            </a:r>
          </a:p>
          <a:p>
            <a:r>
              <a:t>• settings.json: "Aquí están los permisos. Puede instalar y correr tests sin preguntarme, para que la demo fluya. Pero no puede hacer commit ni push: eso está bloqueado."</a:t>
            </a:r>
          </a:p>
          <a:p>
            <a:r>
              <a:t>• Arquitectura: "La tienda vive en Vercel, la API en Render. Los dos están conectados al repo: cada push a main se despliega solo."</a:t>
            </a:r>
          </a:p>
          <a:p>
            <a:r>
              <a:t>• Franja: "La regla de fondo: el agente propone y ejecuta; yo decido qué entra a producción."</a:t>
            </a:r>
          </a:p>
          <a:p/>
          <a:p>
            <a:r>
              <a:t>QUÉ HACER</a:t>
            </a:r>
          </a:p>
          <a:p>
            <a:r>
              <a:t>• Al terminar, deja de compartir la diapositiva y comparte la pantalla con la terminal 1 y VS Code (grano-en-vivo).</a:t>
            </a:r>
          </a:p>
          <a:p>
            <a:r>
              <a:t>• Abre la pestaña de /health de Render para confirmar que la API está despierta.</a:t>
            </a:r>
          </a:p>
          <a:p/>
          <a:p>
            <a:r>
              <a:t>TRANSICIÓN</a:t>
            </a:r>
          </a:p>
          <a:p>
            <a:r>
              <a:t>"Vamos a la terminal." → Demo D0–D7 según el runbook (7:15–7:45).</a:t>
            </a:r>
          </a:p>
          <a:p/>
          <a:p>
            <a:r>
              <a:t>PLAN B</a:t>
            </a:r>
          </a:p>
          <a:p>
            <a:r>
              <a:t>Si la demo se cae por completo, vuelve a esta presentación y sigue el plan C del runbook: recorre los tags y narra cada paso sobre el código ya hecho.</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7:09–7:11 · 2 min</a:t>
            </a:r>
          </a:p>
          <a:p/>
          <a:p>
            <a:r>
              <a:t>QUÉ DECIR</a:t>
            </a:r>
          </a:p>
          <a:p>
            <a:r>
              <a:t>• "Ocho pasos. Los primeros cinco, en mi máquina: del PVB al PRD, al plan, a la API y a la tienda."</a:t>
            </a:r>
          </a:p>
          <a:p>
            <a:r>
              <a:t>• "Los últimos tres, en producción: la tienda pública, un cambio de producto hecho en vivo y un QA donde el agente abre un navegador y compra solo."</a:t>
            </a:r>
          </a:p>
          <a:p>
            <a:r>
              <a:t>• Señala la columna de estaciones: "Cada paso es una estación del programa. Hoy lo ven en minutos; en la estación correspondiente lo van a hacer bien."</a:t>
            </a:r>
          </a:p>
          <a:p>
            <a:r>
              <a:t>• Señala la franja: "Y si algo falla en vivo, que puede pasar, cada paso tiene un respaldo en git. Eso también es una práctica: con agentes, los checkpoints son baratos."</a:t>
            </a:r>
          </a:p>
          <a:p/>
          <a:p>
            <a:r>
              <a:t>TRANSICIÓN</a:t>
            </a:r>
          </a:p>
          <a:p>
            <a:r>
              <a:t>"Antes de empezar, las reglas que le puse al agente."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7:09 · 10 s</a:t>
            </a:r>
          </a:p>
          <a:p/>
          <a:p>
            <a:r>
              <a:t>QUÉ DECIR</a:t>
            </a:r>
          </a:p>
          <a:p>
            <a:r>
              <a:t>• "Segunda parte: la demo. Primero les cuento qué van a ver, para que no se pierdan."</a:t>
            </a:r>
          </a:p>
          <a:p/>
          <a:p>
            <a:r>
              <a:t>TRANSICIÓN</a:t>
            </a:r>
          </a:p>
          <a:p>
            <a:r>
              <a:t>Avanza sin pausa.</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7:07–7:09 · 2 min</a:t>
            </a:r>
          </a:p>
          <a:p/>
          <a:p>
            <a:r>
              <a:t>QUÉ DECIR</a:t>
            </a:r>
          </a:p>
          <a:p>
            <a:r>
              <a:t>• Izquierda: "Si le pido a un agente 'hazme una tienda de café', me la hace en minutos. Pero inventa precios, inventa reglas de envío, y no tengo cómo decir si quedó bien o mal."</a:t>
            </a:r>
          </a:p>
          <a:p>
            <a:r>
              <a:t>• Derecha: "Con el PVB, el agente parte de reglas explícitas. Y lo más importante: de ahí sale un caso que se puede verificar. 2 Huila más 1 Chiapas con el cupón tiene que dar $837. Si da otra cosa, está mal."</a:t>
            </a:r>
          </a:p>
          <a:p>
            <a:r>
              <a:t>• "Recuerden ese número: $837. Lo vamos a ver al principio de la demo y lo vamos a comprobar en producción al final."</a:t>
            </a:r>
          </a:p>
          <a:p/>
          <a:p>
            <a:r>
              <a:t>TRANSICIÓN</a:t>
            </a:r>
          </a:p>
          <a:p>
            <a:r>
              <a:t>"Vamos a verlo."</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7:04–7:07 · 3 min</a:t>
            </a:r>
          </a:p>
          <a:p/>
          <a:p>
            <a:r>
              <a:t>QUÉ DECIR</a:t>
            </a:r>
          </a:p>
          <a:p>
            <a:r>
              <a:t>• "El PVB es una sola página que responde cinco preguntas: a dónde vamos, para quién, qué problema le resolvemos, qué construimos y cómo sabremos que funcionó."</a:t>
            </a:r>
          </a:p>
          <a:p>
            <a:r>
              <a:t>• Recorre las columnas de izquierda a derecha con el ejemplo de Grano, la tienda que vamos a construir en la demo.</a:t>
            </a:r>
          </a:p>
          <a:p>
            <a:r>
              <a:t>• Señala OBJETIVOS: "Sin números no hay producto, hay deseos. '100 pedidos el primer mes' se puede medir; 'que a la gente le guste' no."</a:t>
            </a:r>
          </a:p>
          <a:p>
            <a:r>
              <a:t>• Señala la franja de abajo: "Para trabajar con un agente agregamos tres campos. Las reglas de negocio son las que después vamos a comprobar en producción: envío de $99, gratis desde $600 y cupón del 10 %."</a:t>
            </a:r>
          </a:p>
          <a:p/>
          <a:p>
            <a:r>
              <a:t>TRANSICIÓN</a:t>
            </a:r>
          </a:p>
          <a:p>
            <a:r>
              <a:t>"¿Y por qué esto importa más ahora que programamos con agentes?"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7:04 · 10 s</a:t>
            </a:r>
          </a:p>
          <a:p/>
          <a:p>
            <a:r>
              <a:t>QUÉ DECIR</a:t>
            </a:r>
          </a:p>
          <a:p>
            <a:r>
              <a:t>• "Primera parte: por qué empezamos por el producto y no por el código."</a:t>
            </a:r>
          </a:p>
          <a:p/>
          <a:p>
            <a:r>
              <a:t>TRANSICIÓN</a:t>
            </a:r>
          </a:p>
          <a:p>
            <a:r>
              <a:t>Avanza sin pausa.</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7:02–7:04 · 2 min</a:t>
            </a:r>
          </a:p>
          <a:p/>
          <a:p>
            <a:r>
              <a:t>QUÉ DECIR</a:t>
            </a:r>
          </a:p>
          <a:p>
            <a:r>
              <a:t>• "Esta es la ruta. Cada estación produce un entregable y ese entregable es la entrada de la siguiente: el PVB alimenta el PRD, el PRD la especificación, y así hasta producción."</a:t>
            </a:r>
          </a:p>
          <a:p>
            <a:r>
              <a:t>• Señala E1: "Estamos aquí. Su entregable de hoy es el Product Vision Board."</a:t>
            </a:r>
          </a:p>
          <a:p>
            <a:r>
              <a:t>• Señala la franja de abajo: "En la demo van a ver toda la ruta comprimida: PRD, plan, código, despliegue y QA. Es exprés y le falta rigor a propósito; el rigor es lo que vienen a aprender."</a:t>
            </a:r>
          </a:p>
          <a:p/>
          <a:p>
            <a:r>
              <a:t>PREGUNTA AL GRUPO (opcional, si vas en tiempo)</a:t>
            </a:r>
          </a:p>
          <a:p>
            <a:r>
              <a:t>"¿Quién ya tiene una idea de producto?" Que levanten la mano en Zoom; no abras conversación.</a:t>
            </a:r>
          </a:p>
          <a:p/>
          <a:p>
            <a:r>
              <a:t>TRANSICIÓN</a:t>
            </a:r>
          </a:p>
          <a:p>
            <a:r>
              <a:t>"Todo empieza por el producto."</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7:01–7:02 · 1 min</a:t>
            </a:r>
          </a:p>
          <a:p/>
          <a:p>
            <a:r>
              <a:t>QUÉ DECIR</a:t>
            </a:r>
          </a:p>
          <a:p>
            <a:r>
              <a:t>• "Tengo 50 minutos: 15 de contexto, 30 de demo y 5 para sus preguntas. Después, Andrés Bilbao tiene una hora."</a:t>
            </a:r>
          </a:p>
          <a:p>
            <a:r>
              <a:t>• Señala el bloque verde: "Lo importante es la demo. Lo que veamos antes es para que la entiendan."</a:t>
            </a:r>
          </a:p>
          <a:p>
            <a:r>
              <a:t>• "Guarden sus preguntas para el final de la demo; las vamos a responder todas juntas."</a:t>
            </a:r>
          </a:p>
          <a:p/>
          <a:p>
            <a:r>
              <a:t>TRANSICIÓN</a:t>
            </a:r>
          </a:p>
          <a:p>
            <a:r>
              <a:t>"Primero, el mapa: dónde estamos y a dónde vamos."</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7:00–7:01 · 1 min</a:t>
            </a:r>
          </a:p>
          <a:p/>
          <a:p>
            <a:r>
              <a:t>QUÉ DECIR</a:t>
            </a:r>
          </a:p>
          <a:p>
            <a:r>
              <a:t>• "Bienvenidos a la primera estación. Hoy arrancamos el producto que van a construir en las próximas siete semanas."</a:t>
            </a:r>
          </a:p>
          <a:p>
            <a:r>
              <a:t>• "En la primera parte les cuento de dónde sale un producto (el Product Vision Board) y después lo vamos a llevar a producción en vivo, con un agente, en 30 minutos."</a:t>
            </a:r>
          </a:p>
          <a:p/>
          <a:p>
            <a:r>
              <a:t>TRANSICIÓN</a:t>
            </a:r>
          </a:p>
          <a:p>
            <a:r>
              <a:t>"Así se ven estas dos horas."</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6:55–7:00 · en pantalla mientras entra la gente</a:t>
            </a:r>
          </a:p>
          <a:p/>
          <a:p>
            <a:r>
              <a:t>QUÉ HACER</a:t>
            </a:r>
          </a:p>
          <a:p>
            <a:r>
              <a:t>• Comparte esta diapositiva desde las 6:55. Ten listas, detrás, las 5 terminales y las pestañas del navegador del runbook.</a:t>
            </a:r>
          </a:p>
          <a:p>
            <a:r>
              <a:t>• Confirma que el keep-alive de Render está corriendo y que /health responde.</a:t>
            </a:r>
          </a:p>
          <a:p>
            <a:r>
              <a:t>• Saluda en el chat a quien vaya entrando.</a:t>
            </a:r>
          </a:p>
          <a:p/>
          <a:p>
            <a:r>
              <a:t>TRANSICIÓN</a:t>
            </a:r>
          </a:p>
          <a:p>
            <a:r>
              <a:t>A las 7:00 en punto avanza: "Arrancamos."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2"/>
          <p:cNvSpPr/>
          <p:nvPr>
            <p:ph idx="2" type="pic"/>
          </p:nvPr>
        </p:nvSpPr>
        <p:spPr>
          <a:xfrm>
            <a:off x="1792288" y="612775"/>
            <a:ext cx="5486400" cy="4114800"/>
          </a:xfrm>
          <a:prstGeom prst="rect">
            <a:avLst/>
          </a:prstGeom>
          <a:noFill/>
          <a:ln>
            <a:noFill/>
          </a:ln>
        </p:spPr>
      </p:sp>
      <p:sp>
        <p:nvSpPr>
          <p:cNvPr id="64" name="Google Shape;64;p4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2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2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2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2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D0D0D"/>
        </a:solidFill>
      </p:bgPr>
    </p:bg>
    <p:spTree>
      <p:nvGrpSpPr>
        <p:cNvPr id="1" name=""/>
        <p:cNvGrpSpPr/>
        <p:nvPr/>
      </p:nvGrpSpPr>
      <p:grpSpPr/>
      <p:sp>
        <p:nvSpPr>
          <p:cNvPr id="84" name="Google Shape;84;p1"/>
          <p:cNvSpPr/>
          <p:nvPr/>
        </p:nvSpPr>
        <p:spPr>
          <a:xfrm>
            <a:off x="4572" y="4600"/>
            <a:ext cx="9143999" cy="109825"/>
          </a:xfrm>
          <a:prstGeom prst="rect">
            <a:avLst/>
          </a:prstGeom>
          <a:solidFill>
            <a:srgbClr val="C8E64D"/>
          </a:solidFill>
          <a:ln cap="flat" cmpd="sng" w="12700">
            <a:solidFill>
              <a:srgbClr val="C8E64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
          <p:cNvSpPr/>
          <p:nvPr/>
        </p:nvSpPr>
        <p:spPr>
          <a:xfrm>
            <a:off x="4572" y="5047398"/>
            <a:ext cx="9143999" cy="109825"/>
          </a:xfrm>
          <a:prstGeom prst="rect">
            <a:avLst/>
          </a:prstGeom>
          <a:solidFill>
            <a:srgbClr val="C8E64D"/>
          </a:solidFill>
          <a:ln cap="flat" cmpd="sng" w="12700">
            <a:solidFill>
              <a:srgbClr val="C8E64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86" name="Google Shape;86;p1"/>
          <p:cNvCxnSpPr/>
          <p:nvPr/>
        </p:nvCxnSpPr>
        <p:spPr>
          <a:xfrm>
            <a:off x="3022092" y="2036317"/>
            <a:ext cx="3108960" cy="0"/>
          </a:xfrm>
          <a:prstGeom prst="straightConnector1">
            <a:avLst/>
          </a:prstGeom>
          <a:noFill/>
          <a:ln cap="flat" cmpd="sng" w="12700">
            <a:solidFill>
              <a:srgbClr val="333333"/>
            </a:solidFill>
            <a:prstDash val="solid"/>
            <a:round/>
            <a:headEnd len="sm" w="sm" type="none"/>
            <a:tailEnd len="sm" w="sm" type="none"/>
          </a:ln>
          <a:effectLst>
            <a:outerShdw blurRad="40000" rotWithShape="0" dir="5400000" dist="20000">
              <a:srgbClr val="000000">
                <a:alpha val="38039"/>
              </a:srgbClr>
            </a:outerShdw>
          </a:effectLst>
        </p:spPr>
      </p:cxnSp>
      <p:pic>
        <p:nvPicPr>
          <p:cNvPr descr="image.png" id="87" name="Google Shape;87;p1"/>
          <p:cNvPicPr preferRelativeResize="0"/>
          <p:nvPr/>
        </p:nvPicPr>
        <p:blipFill rotWithShape="1">
          <a:blip r:embed="rId2">
            <a:alphaModFix/>
          </a:blip>
          <a:srcRect b="0" l="0" r="0" t="0"/>
          <a:stretch/>
        </p:blipFill>
        <p:spPr>
          <a:xfrm>
            <a:off x="3429000" y="594867"/>
            <a:ext cx="2286000" cy="1289303"/>
          </a:xfrm>
          <a:prstGeom prst="rect">
            <a:avLst/>
          </a:prstGeom>
          <a:noFill/>
          <a:ln>
            <a:noFill/>
          </a:ln>
        </p:spPr>
      </p:pic>
      <p:sp>
        <p:nvSpPr>
          <p:cNvPr id="88" name="Google Shape;88;p1"/>
          <p:cNvSpPr txBox="1"/>
          <p:nvPr/>
        </p:nvSpPr>
        <p:spPr>
          <a:xfrm>
            <a:off x="940892" y="2279534"/>
            <a:ext cx="8406131" cy="7361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5200" u="none" cap="none" strike="noStrike">
                <a:solidFill>
                  <a:srgbClr val="FFFFFF"/>
                </a:solidFill>
                <a:latin typeface="Arial"/>
                <a:ea typeface="Arial"/>
                <a:cs typeface="Arial"/>
                <a:sym typeface="Arial"/>
              </a:rPr>
              <a:t>Estamos por comenzar</a:t>
            </a:r>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D0D0D"/>
        </a:solidFill>
      </p:bgPr>
    </p:bg>
    <p:spTree>
      <p:nvGrpSpPr>
        <p:cNvPr id="1" name=""/>
        <p:cNvGrpSpPr/>
        <p:nvPr/>
      </p:nvGrpSpPr>
      <p:grpSpPr/>
      <p:sp>
        <p:nvSpPr>
          <p:cNvPr id="93" name="Google Shape;93;p2"/>
          <p:cNvSpPr/>
          <p:nvPr/>
        </p:nvSpPr>
        <p:spPr>
          <a:xfrm>
            <a:off x="4572" y="4600"/>
            <a:ext cx="9143999" cy="109825"/>
          </a:xfrm>
          <a:prstGeom prst="rect">
            <a:avLst/>
          </a:prstGeom>
          <a:solidFill>
            <a:srgbClr val="C8E64D"/>
          </a:solidFill>
          <a:ln cap="flat" cmpd="sng" w="12700">
            <a:solidFill>
              <a:srgbClr val="C8E64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2"/>
          <p:cNvSpPr/>
          <p:nvPr/>
        </p:nvSpPr>
        <p:spPr>
          <a:xfrm>
            <a:off x="4572" y="5047398"/>
            <a:ext cx="9143999" cy="109825"/>
          </a:xfrm>
          <a:prstGeom prst="rect">
            <a:avLst/>
          </a:prstGeom>
          <a:solidFill>
            <a:srgbClr val="C8E64D"/>
          </a:solidFill>
          <a:ln cap="flat" cmpd="sng" w="12700">
            <a:solidFill>
              <a:srgbClr val="C8E64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95" name="Google Shape;95;p2"/>
          <p:cNvCxnSpPr/>
          <p:nvPr/>
        </p:nvCxnSpPr>
        <p:spPr>
          <a:xfrm>
            <a:off x="3022092" y="2036317"/>
            <a:ext cx="3108960" cy="0"/>
          </a:xfrm>
          <a:prstGeom prst="straightConnector1">
            <a:avLst/>
          </a:prstGeom>
          <a:noFill/>
          <a:ln cap="flat" cmpd="sng" w="12700">
            <a:solidFill>
              <a:srgbClr val="333333"/>
            </a:solidFill>
            <a:prstDash val="solid"/>
            <a:round/>
            <a:headEnd len="sm" w="sm" type="none"/>
            <a:tailEnd len="sm" w="sm" type="none"/>
          </a:ln>
          <a:effectLst>
            <a:outerShdw blurRad="40000" rotWithShape="0" dir="5400000" dist="20000">
              <a:srgbClr val="000000">
                <a:alpha val="38039"/>
              </a:srgbClr>
            </a:outerShdw>
          </a:effectLst>
        </p:spPr>
      </p:cxnSp>
      <p:pic>
        <p:nvPicPr>
          <p:cNvPr descr="image.png" id="96" name="Google Shape;96;p2"/>
          <p:cNvPicPr preferRelativeResize="0"/>
          <p:nvPr/>
        </p:nvPicPr>
        <p:blipFill rotWithShape="1">
          <a:blip r:embed="rId2">
            <a:alphaModFix/>
          </a:blip>
          <a:srcRect b="0" l="0" r="0" t="0"/>
          <a:stretch/>
        </p:blipFill>
        <p:spPr>
          <a:xfrm>
            <a:off x="3429000" y="594867"/>
            <a:ext cx="2286000" cy="1289303"/>
          </a:xfrm>
          <a:prstGeom prst="rect">
            <a:avLst/>
          </a:prstGeom>
          <a:noFill/>
          <a:ln>
            <a:noFill/>
          </a:ln>
        </p:spPr>
      </p:pic>
      <p:sp>
        <p:nvSpPr>
          <p:cNvPr id="97" name="Google Shape;97;p2"/>
          <p:cNvSpPr txBox="1"/>
          <p:nvPr/>
        </p:nvSpPr>
        <p:spPr>
          <a:xfrm>
            <a:off x="457200" y="2279534"/>
            <a:ext cx="8229600" cy="73619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5200">
                <a:solidFill>
                  <a:srgbClr val="FFFFFF"/>
                </a:solidFill>
                <a:latin typeface="Arial"/>
                <a:ea typeface="Arial"/>
                <a:cs typeface="Arial"/>
                <a:sym typeface="Arial"/>
              </a:rPr>
              <a:t>Estación 1</a:t>
            </a:r>
            <a:endParaRPr/>
          </a:p>
        </p:txBody>
      </p:sp>
      <p:sp>
        <p:nvSpPr>
          <p:cNvPr id="98" name="Google Shape;98;p2"/>
          <p:cNvSpPr txBox="1"/>
          <p:nvPr/>
        </p:nvSpPr>
        <p:spPr>
          <a:xfrm>
            <a:off x="914400" y="3264395"/>
            <a:ext cx="7315200" cy="33716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380">
                <a:solidFill>
                  <a:srgbClr val="CCCCCC"/>
                </a:solidFill>
                <a:latin typeface="Arial"/>
                <a:ea typeface="Arial"/>
                <a:cs typeface="Arial"/>
                <a:sym typeface="Arial"/>
              </a:rPr>
              <a:t>Introducción y demostración · del PVB a producción</a:t>
            </a:r>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D0D0D"/>
        </a:solidFill>
      </p:bgPr>
    </p:bg>
    <p:spTree>
      <p:nvGrpSpPr>
        <p:cNvPr id="1" name=""/>
        <p:cNvGrpSpPr/>
        <p:nvPr/>
      </p:nvGrpSpPr>
      <p:grpSpPr/>
      <p:sp>
        <p:nvSpPr>
          <p:cNvPr id="335" name="Google Shape;335;p14"/>
          <p:cNvSpPr/>
          <p:nvPr/>
        </p:nvSpPr>
        <p:spPr>
          <a:xfrm>
            <a:off x="4572" y="4514"/>
            <a:ext cx="9143999" cy="64065"/>
          </a:xfrm>
          <a:prstGeom prst="rect">
            <a:avLst/>
          </a:prstGeom>
          <a:solidFill>
            <a:srgbClr val="C8E64D"/>
          </a:solidFill>
          <a:ln cap="flat" cmpd="sng" w="12700">
            <a:solidFill>
              <a:srgbClr val="C8E64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336" name="Google Shape;336;p14"/>
          <p:cNvCxnSpPr/>
          <p:nvPr/>
        </p:nvCxnSpPr>
        <p:spPr>
          <a:xfrm>
            <a:off x="365759" y="759586"/>
            <a:ext cx="4389120" cy="0"/>
          </a:xfrm>
          <a:prstGeom prst="straightConnector1">
            <a:avLst/>
          </a:prstGeom>
          <a:noFill/>
          <a:ln cap="flat" cmpd="sng" w="19050">
            <a:solidFill>
              <a:srgbClr val="C8E64D"/>
            </a:solidFill>
            <a:prstDash val="solid"/>
            <a:round/>
            <a:headEnd len="sm" w="sm" type="none"/>
            <a:tailEnd len="sm" w="sm" type="none"/>
          </a:ln>
          <a:effectLst>
            <a:outerShdw blurRad="40000" rotWithShape="0" dir="5400000" dist="20000">
              <a:srgbClr val="000000">
                <a:alpha val="38039"/>
              </a:srgbClr>
            </a:outerShdw>
          </a:effectLst>
        </p:spPr>
      </p:cxnSp>
      <p:pic>
        <p:nvPicPr>
          <p:cNvPr descr="image.png" id="345" name="Google Shape;345;p14"/>
          <p:cNvPicPr preferRelativeResize="0"/>
          <p:nvPr/>
        </p:nvPicPr>
        <p:blipFill rotWithShape="1">
          <a:blip r:embed="rId2">
            <a:alphaModFix/>
          </a:blip>
          <a:srcRect b="0" l="0" r="0" t="0"/>
          <a:stretch/>
        </p:blipFill>
        <p:spPr>
          <a:xfrm>
            <a:off x="7772400" y="91566"/>
            <a:ext cx="1170432" cy="658368"/>
          </a:xfrm>
          <a:prstGeom prst="rect">
            <a:avLst/>
          </a:prstGeom>
          <a:noFill/>
          <a:ln>
            <a:noFill/>
          </a:ln>
        </p:spPr>
      </p:pic>
      <p:sp>
        <p:nvSpPr>
          <p:cNvPr id="346" name="Google Shape;346;p14"/>
          <p:cNvSpPr txBox="1"/>
          <p:nvPr/>
        </p:nvSpPr>
        <p:spPr>
          <a:xfrm>
            <a:off x="320357" y="4940472"/>
            <a:ext cx="1263005" cy="11250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90">
                <a:solidFill>
                  <a:srgbClr val="666666"/>
                </a:solidFill>
                <a:latin typeface="Arial"/>
                <a:ea typeface="Arial"/>
                <a:cs typeface="Arial"/>
                <a:sym typeface="Arial"/>
              </a:rPr>
              <a:t>AI for Developers | 30X</a:t>
            </a:r>
            <a:endParaRPr/>
          </a:p>
        </p:txBody>
      </p:sp>
      <p:sp>
        <p:nvSpPr>
          <p:cNvPr id="347" name="Google Shape;347;p14"/>
          <p:cNvSpPr txBox="1"/>
          <p:nvPr/>
        </p:nvSpPr>
        <p:spPr>
          <a:xfrm>
            <a:off x="8549640" y="4940472"/>
            <a:ext cx="457200" cy="11250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790">
                <a:solidFill>
                  <a:srgbClr val="666666"/>
                </a:solidFill>
                <a:latin typeface="Arial"/>
                <a:ea typeface="Arial"/>
                <a:cs typeface="Arial"/>
                <a:sym typeface="Arial"/>
              </a:rPr>
              <a:t>3</a:t>
            </a:r>
            <a:endParaRPr/>
          </a:p>
        </p:txBody>
      </p:sp>
      <p:sp>
        <p:nvSpPr>
          <p:cNvPr id="348" name="Google Shape;348;p14"/>
          <p:cNvSpPr txBox="1"/>
          <p:nvPr/>
        </p:nvSpPr>
        <p:spPr>
          <a:xfrm>
            <a:off x="366077" y="236955"/>
            <a:ext cx="7223760" cy="3171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240">
                <a:solidFill>
                  <a:srgbClr val="FFFFFF"/>
                </a:solidFill>
                <a:latin typeface="Arial"/>
                <a:ea typeface="Arial"/>
                <a:cs typeface="Arial"/>
                <a:sym typeface="Arial"/>
              </a:rPr>
              <a:t>Agenda de hoy · bloque 1</a:t>
            </a:r>
            <a:endParaRPr/>
          </a:p>
        </p:txBody>
      </p:sp>
      <p:sp>
        <p:nvSpPr>
          <p:cNvPr id="349" name="TextBox 348"/>
          <p:cNvSpPr txBox="1"/>
          <p:nvPr/>
        </p:nvSpPr>
        <p:spPr>
          <a:xfrm>
            <a:off x="365760" y="896112"/>
            <a:ext cx="8412480" cy="274320"/>
          </a:xfrm>
          <a:prstGeom prst="rect">
            <a:avLst/>
          </a:prstGeom>
          <a:noFill/>
        </p:spPr>
        <p:txBody>
          <a:bodyPr wrap="square" lIns="0" rIns="0" tIns="0" bIns="0" anchor="t">
            <a:spAutoFit/>
          </a:bodyPr>
          <a:lstStyle/>
          <a:p>
            <a:pPr algn="l">
              <a:spcAft>
                <a:spcPts val="400"/>
              </a:spcAft>
            </a:pPr>
            <a:r>
              <a:rPr sz="1150" b="0" i="0">
                <a:solidFill>
                  <a:srgbClr val="DDDDDD"/>
                </a:solidFill>
                <a:latin typeface="Arial"/>
              </a:rPr>
              <a:t>7:00 a 8:50 pm COT · dos bloques. Las preguntas de la demo van al final del bloque 1.</a:t>
            </a:r>
          </a:p>
        </p:txBody>
      </p:sp>
      <p:sp>
        <p:nvSpPr>
          <p:cNvPr id="350" name="Rectangle 349"/>
          <p:cNvSpPr/>
          <p:nvPr/>
        </p:nvSpPr>
        <p:spPr>
          <a:xfrm>
            <a:off x="365760" y="1325880"/>
            <a:ext cx="1110580" cy="457200"/>
          </a:xfrm>
          <a:prstGeom prst="rect">
            <a:avLst/>
          </a:prstGeom>
          <a:solidFill>
            <a:srgbClr val="23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1" name="TextBox 350"/>
          <p:cNvSpPr txBox="1"/>
          <p:nvPr/>
        </p:nvSpPr>
        <p:spPr>
          <a:xfrm>
            <a:off x="365760" y="1325880"/>
            <a:ext cx="1110580" cy="457200"/>
          </a:xfrm>
          <a:prstGeom prst="rect">
            <a:avLst/>
          </a:prstGeom>
          <a:noFill/>
        </p:spPr>
        <p:txBody>
          <a:bodyPr wrap="square" lIns="0" rIns="0" tIns="0" bIns="0" anchor="ctr">
            <a:spAutoFit/>
          </a:bodyPr>
          <a:lstStyle/>
          <a:p>
            <a:pPr algn="ctr">
              <a:spcAft>
                <a:spcPts val="400"/>
              </a:spcAft>
            </a:pPr>
            <a:r>
              <a:rPr sz="950" b="1" i="0">
                <a:solidFill>
                  <a:srgbClr val="FFFFFF"/>
                </a:solidFill>
                <a:latin typeface="Arial"/>
              </a:rPr>
              <a:t>Slides</a:t>
            </a:r>
          </a:p>
        </p:txBody>
      </p:sp>
      <p:sp>
        <p:nvSpPr>
          <p:cNvPr id="352" name="Rectangle 351"/>
          <p:cNvSpPr/>
          <p:nvPr/>
        </p:nvSpPr>
        <p:spPr>
          <a:xfrm>
            <a:off x="1512916" y="1325880"/>
            <a:ext cx="2257736" cy="457200"/>
          </a:xfrm>
          <a:prstGeom prst="rect">
            <a:avLst/>
          </a:prstGeom>
          <a:solidFill>
            <a:srgbClr val="C8E6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3" name="TextBox 352"/>
          <p:cNvSpPr txBox="1"/>
          <p:nvPr/>
        </p:nvSpPr>
        <p:spPr>
          <a:xfrm>
            <a:off x="1512916" y="1325880"/>
            <a:ext cx="2257736" cy="457200"/>
          </a:xfrm>
          <a:prstGeom prst="rect">
            <a:avLst/>
          </a:prstGeom>
          <a:noFill/>
        </p:spPr>
        <p:txBody>
          <a:bodyPr wrap="square" lIns="0" rIns="0" tIns="0" bIns="0" anchor="ctr">
            <a:spAutoFit/>
          </a:bodyPr>
          <a:lstStyle/>
          <a:p>
            <a:pPr algn="ctr">
              <a:spcAft>
                <a:spcPts val="400"/>
              </a:spcAft>
            </a:pPr>
            <a:r>
              <a:rPr sz="950" b="1" i="0">
                <a:solidFill>
                  <a:srgbClr val="0D0D0D"/>
                </a:solidFill>
                <a:latin typeface="Arial"/>
              </a:rPr>
              <a:t>Demo en vivo</a:t>
            </a:r>
          </a:p>
        </p:txBody>
      </p:sp>
      <p:sp>
        <p:nvSpPr>
          <p:cNvPr id="354" name="Rectangle 353"/>
          <p:cNvSpPr/>
          <p:nvPr/>
        </p:nvSpPr>
        <p:spPr>
          <a:xfrm>
            <a:off x="3807229" y="1325880"/>
            <a:ext cx="345809" cy="457200"/>
          </a:xfrm>
          <a:prstGeom prst="rect">
            <a:avLst/>
          </a:prstGeom>
          <a:solidFill>
            <a:srgbClr val="23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5" name="TextBox 354"/>
          <p:cNvSpPr txBox="1"/>
          <p:nvPr/>
        </p:nvSpPr>
        <p:spPr>
          <a:xfrm>
            <a:off x="3807229" y="1325880"/>
            <a:ext cx="345809" cy="457200"/>
          </a:xfrm>
          <a:prstGeom prst="rect">
            <a:avLst/>
          </a:prstGeom>
          <a:noFill/>
        </p:spPr>
        <p:txBody>
          <a:bodyPr wrap="square" lIns="0" rIns="0" tIns="0" bIns="0" anchor="ctr">
            <a:spAutoFit/>
          </a:bodyPr>
          <a:lstStyle/>
          <a:p>
            <a:pPr algn="ctr">
              <a:spcAft>
                <a:spcPts val="400"/>
              </a:spcAft>
            </a:pPr>
            <a:r>
              <a:rPr sz="950" b="1" i="0">
                <a:solidFill>
                  <a:srgbClr val="FFFFFF"/>
                </a:solidFill>
                <a:latin typeface="Arial"/>
              </a:rPr>
              <a:t>Q&amp;A</a:t>
            </a:r>
          </a:p>
        </p:txBody>
      </p:sp>
      <p:sp>
        <p:nvSpPr>
          <p:cNvPr id="356" name="Rectangle 355"/>
          <p:cNvSpPr/>
          <p:nvPr/>
        </p:nvSpPr>
        <p:spPr>
          <a:xfrm>
            <a:off x="4189614" y="1325880"/>
            <a:ext cx="4552049" cy="4572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7" name="TextBox 356"/>
          <p:cNvSpPr txBox="1"/>
          <p:nvPr/>
        </p:nvSpPr>
        <p:spPr>
          <a:xfrm>
            <a:off x="4189614" y="1325880"/>
            <a:ext cx="4552049" cy="457200"/>
          </a:xfrm>
          <a:prstGeom prst="rect">
            <a:avLst/>
          </a:prstGeom>
          <a:noFill/>
        </p:spPr>
        <p:txBody>
          <a:bodyPr wrap="square" lIns="0" rIns="0" tIns="0" bIns="0" anchor="ctr">
            <a:spAutoFit/>
          </a:bodyPr>
          <a:lstStyle/>
          <a:p>
            <a:pPr algn="ctr">
              <a:spcAft>
                <a:spcPts val="400"/>
              </a:spcAft>
            </a:pPr>
            <a:r>
              <a:rPr sz="950" b="1" i="0">
                <a:solidFill>
                  <a:srgbClr val="A6A6A6"/>
                </a:solidFill>
                <a:latin typeface="Arial"/>
              </a:rPr>
              <a:t>Andrés Bilbao</a:t>
            </a:r>
          </a:p>
        </p:txBody>
      </p:sp>
      <p:sp>
        <p:nvSpPr>
          <p:cNvPr id="358" name="TextBox 357"/>
          <p:cNvSpPr txBox="1"/>
          <p:nvPr/>
        </p:nvSpPr>
        <p:spPr>
          <a:xfrm>
            <a:off x="365760" y="1810512"/>
            <a:ext cx="548640" cy="182880"/>
          </a:xfrm>
          <a:prstGeom prst="rect">
            <a:avLst/>
          </a:prstGeom>
          <a:noFill/>
        </p:spPr>
        <p:txBody>
          <a:bodyPr wrap="square" lIns="0" rIns="0" tIns="0" bIns="0" anchor="t">
            <a:spAutoFit/>
          </a:bodyPr>
          <a:lstStyle/>
          <a:p>
            <a:pPr algn="l">
              <a:spcAft>
                <a:spcPts val="400"/>
              </a:spcAft>
            </a:pPr>
            <a:r>
              <a:rPr sz="800" b="0" i="0">
                <a:solidFill>
                  <a:srgbClr val="A6A6A6"/>
                </a:solidFill>
                <a:latin typeface="Arial"/>
              </a:rPr>
              <a:t>7:00</a:t>
            </a:r>
          </a:p>
        </p:txBody>
      </p:sp>
      <p:sp>
        <p:nvSpPr>
          <p:cNvPr id="359" name="TextBox 358"/>
          <p:cNvSpPr txBox="1"/>
          <p:nvPr/>
        </p:nvSpPr>
        <p:spPr>
          <a:xfrm>
            <a:off x="1512916" y="1810512"/>
            <a:ext cx="548640" cy="182880"/>
          </a:xfrm>
          <a:prstGeom prst="rect">
            <a:avLst/>
          </a:prstGeom>
          <a:noFill/>
        </p:spPr>
        <p:txBody>
          <a:bodyPr wrap="square" lIns="0" rIns="0" tIns="0" bIns="0" anchor="t">
            <a:spAutoFit/>
          </a:bodyPr>
          <a:lstStyle/>
          <a:p>
            <a:pPr algn="l">
              <a:spcAft>
                <a:spcPts val="400"/>
              </a:spcAft>
            </a:pPr>
            <a:r>
              <a:rPr sz="800" b="0" i="0">
                <a:solidFill>
                  <a:srgbClr val="A6A6A6"/>
                </a:solidFill>
                <a:latin typeface="Arial"/>
              </a:rPr>
              <a:t>7:15</a:t>
            </a:r>
          </a:p>
        </p:txBody>
      </p:sp>
      <p:sp>
        <p:nvSpPr>
          <p:cNvPr id="360" name="TextBox 359"/>
          <p:cNvSpPr txBox="1"/>
          <p:nvPr/>
        </p:nvSpPr>
        <p:spPr>
          <a:xfrm>
            <a:off x="3807229" y="1810512"/>
            <a:ext cx="548640" cy="182880"/>
          </a:xfrm>
          <a:prstGeom prst="rect">
            <a:avLst/>
          </a:prstGeom>
          <a:noFill/>
        </p:spPr>
        <p:txBody>
          <a:bodyPr wrap="square" lIns="0" rIns="0" tIns="0" bIns="0" anchor="t">
            <a:spAutoFit/>
          </a:bodyPr>
          <a:lstStyle/>
          <a:p>
            <a:pPr algn="l">
              <a:spcAft>
                <a:spcPts val="400"/>
              </a:spcAft>
            </a:pPr>
            <a:r>
              <a:rPr sz="800" b="0" i="0">
                <a:solidFill>
                  <a:srgbClr val="A6A6A6"/>
                </a:solidFill>
                <a:latin typeface="Arial"/>
              </a:rPr>
              <a:t>7:45</a:t>
            </a:r>
          </a:p>
        </p:txBody>
      </p:sp>
      <p:sp>
        <p:nvSpPr>
          <p:cNvPr id="361" name="TextBox 360"/>
          <p:cNvSpPr txBox="1"/>
          <p:nvPr/>
        </p:nvSpPr>
        <p:spPr>
          <a:xfrm>
            <a:off x="4189614" y="1810512"/>
            <a:ext cx="548640" cy="182880"/>
          </a:xfrm>
          <a:prstGeom prst="rect">
            <a:avLst/>
          </a:prstGeom>
          <a:noFill/>
        </p:spPr>
        <p:txBody>
          <a:bodyPr wrap="square" lIns="0" rIns="0" tIns="0" bIns="0" anchor="t">
            <a:spAutoFit/>
          </a:bodyPr>
          <a:lstStyle/>
          <a:p>
            <a:pPr algn="l">
              <a:spcAft>
                <a:spcPts val="400"/>
              </a:spcAft>
            </a:pPr>
            <a:r>
              <a:rPr sz="800" b="0" i="0">
                <a:solidFill>
                  <a:srgbClr val="A6A6A6"/>
                </a:solidFill>
                <a:latin typeface="Arial"/>
              </a:rPr>
              <a:t>7:50</a:t>
            </a:r>
          </a:p>
        </p:txBody>
      </p:sp>
      <p:sp>
        <p:nvSpPr>
          <p:cNvPr id="362" name="TextBox 361"/>
          <p:cNvSpPr txBox="1"/>
          <p:nvPr/>
        </p:nvSpPr>
        <p:spPr>
          <a:xfrm>
            <a:off x="8412480" y="1810512"/>
            <a:ext cx="548640" cy="182880"/>
          </a:xfrm>
          <a:prstGeom prst="rect">
            <a:avLst/>
          </a:prstGeom>
          <a:noFill/>
        </p:spPr>
        <p:txBody>
          <a:bodyPr wrap="square" lIns="0" rIns="0" tIns="0" bIns="0" anchor="t">
            <a:spAutoFit/>
          </a:bodyPr>
          <a:lstStyle/>
          <a:p>
            <a:pPr algn="l">
              <a:spcAft>
                <a:spcPts val="400"/>
              </a:spcAft>
            </a:pPr>
            <a:r>
              <a:rPr sz="800" b="0" i="0">
                <a:solidFill>
                  <a:srgbClr val="A6A6A6"/>
                </a:solidFill>
                <a:latin typeface="Arial"/>
              </a:rPr>
              <a:t>8:50</a:t>
            </a:r>
          </a:p>
        </p:txBody>
      </p:sp>
      <p:sp>
        <p:nvSpPr>
          <p:cNvPr id="363" name="Rectangle 362"/>
          <p:cNvSpPr/>
          <p:nvPr/>
        </p:nvSpPr>
        <p:spPr>
          <a:xfrm>
            <a:off x="365760" y="2240280"/>
            <a:ext cx="4114800"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4" name="TextBox 363"/>
          <p:cNvSpPr txBox="1"/>
          <p:nvPr/>
        </p:nvSpPr>
        <p:spPr>
          <a:xfrm>
            <a:off x="502920" y="2240280"/>
            <a:ext cx="548640" cy="868680"/>
          </a:xfrm>
          <a:prstGeom prst="rect">
            <a:avLst/>
          </a:prstGeom>
          <a:noFill/>
        </p:spPr>
        <p:txBody>
          <a:bodyPr wrap="square" lIns="0" rIns="0" tIns="0" bIns="0" anchor="ctr">
            <a:spAutoFit/>
          </a:bodyPr>
          <a:lstStyle/>
          <a:p>
            <a:pPr algn="l">
              <a:spcAft>
                <a:spcPts val="400"/>
              </a:spcAft>
            </a:pPr>
            <a:r>
              <a:rPr sz="2000" b="1" i="0">
                <a:solidFill>
                  <a:srgbClr val="C8E64D"/>
                </a:solidFill>
                <a:latin typeface="Arial"/>
              </a:rPr>
              <a:t>01</a:t>
            </a:r>
          </a:p>
        </p:txBody>
      </p:sp>
      <p:sp>
        <p:nvSpPr>
          <p:cNvPr id="365" name="TextBox 364"/>
          <p:cNvSpPr txBox="1"/>
          <p:nvPr/>
        </p:nvSpPr>
        <p:spPr>
          <a:xfrm>
            <a:off x="1097280" y="2395728"/>
            <a:ext cx="2377440" cy="256032"/>
          </a:xfrm>
          <a:prstGeom prst="rect">
            <a:avLst/>
          </a:prstGeom>
          <a:noFill/>
        </p:spPr>
        <p:txBody>
          <a:bodyPr wrap="square" lIns="0" rIns="0" tIns="0" bIns="0" anchor="t">
            <a:spAutoFit/>
          </a:bodyPr>
          <a:lstStyle/>
          <a:p>
            <a:pPr algn="l">
              <a:spcAft>
                <a:spcPts val="400"/>
              </a:spcAft>
            </a:pPr>
            <a:r>
              <a:rPr sz="1150" b="1" i="0">
                <a:solidFill>
                  <a:srgbClr val="FFFFFF"/>
                </a:solidFill>
                <a:latin typeface="Arial"/>
              </a:rPr>
              <a:t>Empieza por el producto</a:t>
            </a:r>
          </a:p>
        </p:txBody>
      </p:sp>
      <p:sp>
        <p:nvSpPr>
          <p:cNvPr id="366" name="TextBox 365"/>
          <p:cNvSpPr txBox="1"/>
          <p:nvPr/>
        </p:nvSpPr>
        <p:spPr>
          <a:xfrm>
            <a:off x="1097280" y="2697480"/>
            <a:ext cx="3246120" cy="274320"/>
          </a:xfrm>
          <a:prstGeom prst="rect">
            <a:avLst/>
          </a:prstGeom>
          <a:noFill/>
        </p:spPr>
        <p:txBody>
          <a:bodyPr wrap="square" lIns="0" rIns="0" tIns="0" bIns="0" anchor="t">
            <a:spAutoFit/>
          </a:bodyPr>
          <a:lstStyle/>
          <a:p>
            <a:pPr algn="l">
              <a:spcAft>
                <a:spcPts val="400"/>
              </a:spcAft>
            </a:pPr>
            <a:r>
              <a:rPr sz="950" b="0" i="0">
                <a:solidFill>
                  <a:srgbClr val="A6A6A6"/>
                </a:solidFill>
                <a:latin typeface="Arial"/>
              </a:rPr>
              <a:t>La ruta, el Product Vision Board y las reglas de la demo</a:t>
            </a:r>
          </a:p>
        </p:txBody>
      </p:sp>
      <p:sp>
        <p:nvSpPr>
          <p:cNvPr id="367" name="TextBox 366"/>
          <p:cNvSpPr txBox="1"/>
          <p:nvPr/>
        </p:nvSpPr>
        <p:spPr>
          <a:xfrm>
            <a:off x="3383279" y="2395728"/>
            <a:ext cx="960120" cy="256032"/>
          </a:xfrm>
          <a:prstGeom prst="rect">
            <a:avLst/>
          </a:prstGeom>
          <a:noFill/>
        </p:spPr>
        <p:txBody>
          <a:bodyPr wrap="square" lIns="0" rIns="0" tIns="0" bIns="0" anchor="t">
            <a:spAutoFit/>
          </a:bodyPr>
          <a:lstStyle/>
          <a:p>
            <a:pPr algn="r">
              <a:spcAft>
                <a:spcPts val="400"/>
              </a:spcAft>
            </a:pPr>
            <a:r>
              <a:rPr sz="950" b="1" i="0">
                <a:solidFill>
                  <a:srgbClr val="C8E64D"/>
                </a:solidFill>
                <a:latin typeface="Arial"/>
              </a:rPr>
              <a:t>7:00 · 15'</a:t>
            </a:r>
          </a:p>
        </p:txBody>
      </p:sp>
      <p:sp>
        <p:nvSpPr>
          <p:cNvPr id="368" name="Rectangle 367"/>
          <p:cNvSpPr/>
          <p:nvPr/>
        </p:nvSpPr>
        <p:spPr>
          <a:xfrm>
            <a:off x="4663440" y="2240280"/>
            <a:ext cx="4114800" cy="868680"/>
          </a:xfrm>
          <a:prstGeom prst="rect">
            <a:avLst/>
          </a:prstGeom>
          <a:solidFill>
            <a:srgbClr val="1A1A1A"/>
          </a:solidFill>
          <a:ln w="12700">
            <a:solidFill>
              <a:srgbClr val="C8E6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9" name="TextBox 368"/>
          <p:cNvSpPr txBox="1"/>
          <p:nvPr/>
        </p:nvSpPr>
        <p:spPr>
          <a:xfrm>
            <a:off x="4800600" y="2240280"/>
            <a:ext cx="548640" cy="868680"/>
          </a:xfrm>
          <a:prstGeom prst="rect">
            <a:avLst/>
          </a:prstGeom>
          <a:noFill/>
        </p:spPr>
        <p:txBody>
          <a:bodyPr wrap="square" lIns="0" rIns="0" tIns="0" bIns="0" anchor="ctr">
            <a:spAutoFit/>
          </a:bodyPr>
          <a:lstStyle/>
          <a:p>
            <a:pPr algn="l">
              <a:spcAft>
                <a:spcPts val="400"/>
              </a:spcAft>
            </a:pPr>
            <a:r>
              <a:rPr sz="2000" b="1" i="0">
                <a:solidFill>
                  <a:srgbClr val="C8E64D"/>
                </a:solidFill>
                <a:latin typeface="Arial"/>
              </a:rPr>
              <a:t>02</a:t>
            </a:r>
          </a:p>
        </p:txBody>
      </p:sp>
      <p:sp>
        <p:nvSpPr>
          <p:cNvPr id="370" name="TextBox 369"/>
          <p:cNvSpPr txBox="1"/>
          <p:nvPr/>
        </p:nvSpPr>
        <p:spPr>
          <a:xfrm>
            <a:off x="5394960" y="2395728"/>
            <a:ext cx="2377440" cy="256032"/>
          </a:xfrm>
          <a:prstGeom prst="rect">
            <a:avLst/>
          </a:prstGeom>
          <a:noFill/>
        </p:spPr>
        <p:txBody>
          <a:bodyPr wrap="square" lIns="0" rIns="0" tIns="0" bIns="0" anchor="t">
            <a:spAutoFit/>
          </a:bodyPr>
          <a:lstStyle/>
          <a:p>
            <a:pPr algn="l">
              <a:spcAft>
                <a:spcPts val="400"/>
              </a:spcAft>
            </a:pPr>
            <a:r>
              <a:rPr sz="1150" b="1" i="0">
                <a:solidFill>
                  <a:srgbClr val="FFFFFF"/>
                </a:solidFill>
                <a:latin typeface="Arial"/>
              </a:rPr>
              <a:t>Demo en vivo</a:t>
            </a:r>
          </a:p>
        </p:txBody>
      </p:sp>
      <p:sp>
        <p:nvSpPr>
          <p:cNvPr id="371" name="TextBox 370"/>
          <p:cNvSpPr txBox="1"/>
          <p:nvPr/>
        </p:nvSpPr>
        <p:spPr>
          <a:xfrm>
            <a:off x="5394960" y="2697480"/>
            <a:ext cx="3246120" cy="274320"/>
          </a:xfrm>
          <a:prstGeom prst="rect">
            <a:avLst/>
          </a:prstGeom>
          <a:noFill/>
        </p:spPr>
        <p:txBody>
          <a:bodyPr wrap="square" lIns="0" rIns="0" tIns="0" bIns="0" anchor="t">
            <a:spAutoFit/>
          </a:bodyPr>
          <a:lstStyle/>
          <a:p>
            <a:pPr algn="l">
              <a:spcAft>
                <a:spcPts val="400"/>
              </a:spcAft>
            </a:pPr>
            <a:r>
              <a:rPr sz="950" b="0" i="0">
                <a:solidFill>
                  <a:srgbClr val="A6A6A6"/>
                </a:solidFill>
                <a:latin typeface="Arial"/>
              </a:rPr>
              <a:t>Del PVB a producción con Claude Code, paso a paso</a:t>
            </a:r>
          </a:p>
        </p:txBody>
      </p:sp>
      <p:sp>
        <p:nvSpPr>
          <p:cNvPr id="372" name="TextBox 371"/>
          <p:cNvSpPr txBox="1"/>
          <p:nvPr/>
        </p:nvSpPr>
        <p:spPr>
          <a:xfrm>
            <a:off x="7680960" y="2395728"/>
            <a:ext cx="960120" cy="256032"/>
          </a:xfrm>
          <a:prstGeom prst="rect">
            <a:avLst/>
          </a:prstGeom>
          <a:noFill/>
        </p:spPr>
        <p:txBody>
          <a:bodyPr wrap="square" lIns="0" rIns="0" tIns="0" bIns="0" anchor="t">
            <a:spAutoFit/>
          </a:bodyPr>
          <a:lstStyle/>
          <a:p>
            <a:pPr algn="r">
              <a:spcAft>
                <a:spcPts val="400"/>
              </a:spcAft>
            </a:pPr>
            <a:r>
              <a:rPr sz="950" b="1" i="0">
                <a:solidFill>
                  <a:srgbClr val="C8E64D"/>
                </a:solidFill>
                <a:latin typeface="Arial"/>
              </a:rPr>
              <a:t>7:15 · 30'</a:t>
            </a:r>
          </a:p>
        </p:txBody>
      </p:sp>
      <p:sp>
        <p:nvSpPr>
          <p:cNvPr id="373" name="Rectangle 372"/>
          <p:cNvSpPr/>
          <p:nvPr/>
        </p:nvSpPr>
        <p:spPr>
          <a:xfrm>
            <a:off x="365760" y="3264408"/>
            <a:ext cx="4114800"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4" name="TextBox 373"/>
          <p:cNvSpPr txBox="1"/>
          <p:nvPr/>
        </p:nvSpPr>
        <p:spPr>
          <a:xfrm>
            <a:off x="502920" y="3264408"/>
            <a:ext cx="548640" cy="868680"/>
          </a:xfrm>
          <a:prstGeom prst="rect">
            <a:avLst/>
          </a:prstGeom>
          <a:noFill/>
        </p:spPr>
        <p:txBody>
          <a:bodyPr wrap="square" lIns="0" rIns="0" tIns="0" bIns="0" anchor="ctr">
            <a:spAutoFit/>
          </a:bodyPr>
          <a:lstStyle/>
          <a:p>
            <a:pPr algn="l">
              <a:spcAft>
                <a:spcPts val="400"/>
              </a:spcAft>
            </a:pPr>
            <a:r>
              <a:rPr sz="2000" b="1" i="0">
                <a:solidFill>
                  <a:srgbClr val="C8E64D"/>
                </a:solidFill>
                <a:latin typeface="Arial"/>
              </a:rPr>
              <a:t>03</a:t>
            </a:r>
          </a:p>
        </p:txBody>
      </p:sp>
      <p:sp>
        <p:nvSpPr>
          <p:cNvPr id="375" name="TextBox 374"/>
          <p:cNvSpPr txBox="1"/>
          <p:nvPr/>
        </p:nvSpPr>
        <p:spPr>
          <a:xfrm>
            <a:off x="1097280" y="3419856"/>
            <a:ext cx="2377440" cy="256032"/>
          </a:xfrm>
          <a:prstGeom prst="rect">
            <a:avLst/>
          </a:prstGeom>
          <a:noFill/>
        </p:spPr>
        <p:txBody>
          <a:bodyPr wrap="square" lIns="0" rIns="0" tIns="0" bIns="0" anchor="t">
            <a:spAutoFit/>
          </a:bodyPr>
          <a:lstStyle/>
          <a:p>
            <a:pPr algn="l">
              <a:spcAft>
                <a:spcPts val="400"/>
              </a:spcAft>
            </a:pPr>
            <a:r>
              <a:rPr sz="1150" b="1" i="0">
                <a:solidFill>
                  <a:srgbClr val="FFFFFF"/>
                </a:solidFill>
                <a:latin typeface="Arial"/>
              </a:rPr>
              <a:t>Qué pasó y preguntas</a:t>
            </a:r>
          </a:p>
        </p:txBody>
      </p:sp>
      <p:sp>
        <p:nvSpPr>
          <p:cNvPr id="376" name="TextBox 375"/>
          <p:cNvSpPr txBox="1"/>
          <p:nvPr/>
        </p:nvSpPr>
        <p:spPr>
          <a:xfrm>
            <a:off x="1097280" y="3721608"/>
            <a:ext cx="3246120" cy="274320"/>
          </a:xfrm>
          <a:prstGeom prst="rect">
            <a:avLst/>
          </a:prstGeom>
          <a:noFill/>
        </p:spPr>
        <p:txBody>
          <a:bodyPr wrap="square" lIns="0" rIns="0" tIns="0" bIns="0" anchor="t">
            <a:spAutoFit/>
          </a:bodyPr>
          <a:lstStyle/>
          <a:p>
            <a:pPr algn="l">
              <a:spcAft>
                <a:spcPts val="400"/>
              </a:spcAft>
            </a:pPr>
            <a:r>
              <a:rPr sz="950" b="0" i="0">
                <a:solidFill>
                  <a:srgbClr val="A6A6A6"/>
                </a:solidFill>
                <a:latin typeface="Arial"/>
              </a:rPr>
              <a:t>Lo que viste, tu entregable y tus dudas</a:t>
            </a:r>
          </a:p>
        </p:txBody>
      </p:sp>
      <p:sp>
        <p:nvSpPr>
          <p:cNvPr id="377" name="TextBox 376"/>
          <p:cNvSpPr txBox="1"/>
          <p:nvPr/>
        </p:nvSpPr>
        <p:spPr>
          <a:xfrm>
            <a:off x="3383279" y="3419856"/>
            <a:ext cx="960120" cy="256032"/>
          </a:xfrm>
          <a:prstGeom prst="rect">
            <a:avLst/>
          </a:prstGeom>
          <a:noFill/>
        </p:spPr>
        <p:txBody>
          <a:bodyPr wrap="square" lIns="0" rIns="0" tIns="0" bIns="0" anchor="t">
            <a:spAutoFit/>
          </a:bodyPr>
          <a:lstStyle/>
          <a:p>
            <a:pPr algn="r">
              <a:spcAft>
                <a:spcPts val="400"/>
              </a:spcAft>
            </a:pPr>
            <a:r>
              <a:rPr sz="950" b="1" i="0">
                <a:solidFill>
                  <a:srgbClr val="C8E64D"/>
                </a:solidFill>
                <a:latin typeface="Arial"/>
              </a:rPr>
              <a:t>7:45 · 5'</a:t>
            </a:r>
          </a:p>
        </p:txBody>
      </p:sp>
      <p:sp>
        <p:nvSpPr>
          <p:cNvPr id="378" name="Rectangle 377"/>
          <p:cNvSpPr/>
          <p:nvPr/>
        </p:nvSpPr>
        <p:spPr>
          <a:xfrm>
            <a:off x="4663440" y="3264408"/>
            <a:ext cx="4114800"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9" name="TextBox 378"/>
          <p:cNvSpPr txBox="1"/>
          <p:nvPr/>
        </p:nvSpPr>
        <p:spPr>
          <a:xfrm>
            <a:off x="4800600" y="3264408"/>
            <a:ext cx="548640" cy="868680"/>
          </a:xfrm>
          <a:prstGeom prst="rect">
            <a:avLst/>
          </a:prstGeom>
          <a:noFill/>
        </p:spPr>
        <p:txBody>
          <a:bodyPr wrap="square" lIns="0" rIns="0" tIns="0" bIns="0" anchor="ctr">
            <a:spAutoFit/>
          </a:bodyPr>
          <a:lstStyle/>
          <a:p>
            <a:pPr algn="l">
              <a:spcAft>
                <a:spcPts val="400"/>
              </a:spcAft>
            </a:pPr>
            <a:r>
              <a:rPr sz="2000" b="1" i="0">
                <a:solidFill>
                  <a:srgbClr val="C8E64D"/>
                </a:solidFill>
                <a:latin typeface="Arial"/>
              </a:rPr>
              <a:t>04</a:t>
            </a:r>
          </a:p>
        </p:txBody>
      </p:sp>
      <p:sp>
        <p:nvSpPr>
          <p:cNvPr id="380" name="TextBox 379"/>
          <p:cNvSpPr txBox="1"/>
          <p:nvPr/>
        </p:nvSpPr>
        <p:spPr>
          <a:xfrm>
            <a:off x="5394960" y="3419856"/>
            <a:ext cx="2377440" cy="256032"/>
          </a:xfrm>
          <a:prstGeom prst="rect">
            <a:avLst/>
          </a:prstGeom>
          <a:noFill/>
        </p:spPr>
        <p:txBody>
          <a:bodyPr wrap="square" lIns="0" rIns="0" tIns="0" bIns="0" anchor="t">
            <a:spAutoFit/>
          </a:bodyPr>
          <a:lstStyle/>
          <a:p>
            <a:pPr algn="l">
              <a:spcAft>
                <a:spcPts val="400"/>
              </a:spcAft>
            </a:pPr>
            <a:r>
              <a:rPr sz="1150" b="1" i="0">
                <a:solidFill>
                  <a:srgbClr val="FFFFFF"/>
                </a:solidFill>
                <a:latin typeface="Arial"/>
              </a:rPr>
              <a:t>Bloque 2 · Andrés Bilbao</a:t>
            </a:r>
          </a:p>
        </p:txBody>
      </p:sp>
      <p:sp>
        <p:nvSpPr>
          <p:cNvPr id="381" name="TextBox 380"/>
          <p:cNvSpPr txBox="1"/>
          <p:nvPr/>
        </p:nvSpPr>
        <p:spPr>
          <a:xfrm>
            <a:off x="5394960" y="3721608"/>
            <a:ext cx="3246120" cy="274320"/>
          </a:xfrm>
          <a:prstGeom prst="rect">
            <a:avLst/>
          </a:prstGeom>
          <a:noFill/>
        </p:spPr>
        <p:txBody>
          <a:bodyPr wrap="square" lIns="0" rIns="0" tIns="0" bIns="0" anchor="t">
            <a:spAutoFit/>
          </a:bodyPr>
          <a:lstStyle/>
          <a:p>
            <a:pPr algn="l">
              <a:spcAft>
                <a:spcPts val="400"/>
              </a:spcAft>
            </a:pPr>
            <a:r>
              <a:rPr sz="950" b="0" i="0">
                <a:solidFill>
                  <a:srgbClr val="A6A6A6"/>
                </a:solidFill>
                <a:latin typeface="Arial"/>
              </a:rPr>
              <a:t>Presentación de Andrés</a:t>
            </a:r>
          </a:p>
        </p:txBody>
      </p:sp>
      <p:sp>
        <p:nvSpPr>
          <p:cNvPr id="382" name="TextBox 381"/>
          <p:cNvSpPr txBox="1"/>
          <p:nvPr/>
        </p:nvSpPr>
        <p:spPr>
          <a:xfrm>
            <a:off x="7680960" y="3419856"/>
            <a:ext cx="960120" cy="256032"/>
          </a:xfrm>
          <a:prstGeom prst="rect">
            <a:avLst/>
          </a:prstGeom>
          <a:noFill/>
        </p:spPr>
        <p:txBody>
          <a:bodyPr wrap="square" lIns="0" rIns="0" tIns="0" bIns="0" anchor="t">
            <a:spAutoFit/>
          </a:bodyPr>
          <a:lstStyle/>
          <a:p>
            <a:pPr algn="r">
              <a:spcAft>
                <a:spcPts val="400"/>
              </a:spcAft>
            </a:pPr>
            <a:r>
              <a:rPr sz="950" b="1" i="0">
                <a:solidFill>
                  <a:srgbClr val="C8E64D"/>
                </a:solidFill>
                <a:latin typeface="Arial"/>
              </a:rPr>
              <a:t>7:50 · 60'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D0D0D"/>
        </a:solidFill>
      </p:bgPr>
    </p:bg>
    <p:spTree>
      <p:nvGrpSpPr>
        <p:cNvPr id="1" name=""/>
        <p:cNvGrpSpPr/>
        <p:nvPr/>
      </p:nvGrpSpPr>
      <p:grpSpPr/>
      <p:sp>
        <p:nvSpPr>
          <p:cNvPr id="335" name="Google Shape;335;p14"/>
          <p:cNvSpPr/>
          <p:nvPr/>
        </p:nvSpPr>
        <p:spPr>
          <a:xfrm>
            <a:off x="4572" y="4514"/>
            <a:ext cx="9143999" cy="64065"/>
          </a:xfrm>
          <a:prstGeom prst="rect">
            <a:avLst/>
          </a:prstGeom>
          <a:solidFill>
            <a:srgbClr val="C8E64D"/>
          </a:solidFill>
          <a:ln cap="flat" cmpd="sng" w="12700">
            <a:solidFill>
              <a:srgbClr val="C8E64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336" name="Google Shape;336;p14"/>
          <p:cNvCxnSpPr/>
          <p:nvPr/>
        </p:nvCxnSpPr>
        <p:spPr>
          <a:xfrm>
            <a:off x="365759" y="759586"/>
            <a:ext cx="4389120" cy="0"/>
          </a:xfrm>
          <a:prstGeom prst="straightConnector1">
            <a:avLst/>
          </a:prstGeom>
          <a:noFill/>
          <a:ln cap="flat" cmpd="sng" w="19050">
            <a:solidFill>
              <a:srgbClr val="C8E64D"/>
            </a:solidFill>
            <a:prstDash val="solid"/>
            <a:round/>
            <a:headEnd len="sm" w="sm" type="none"/>
            <a:tailEnd len="sm" w="sm" type="none"/>
          </a:ln>
          <a:effectLst>
            <a:outerShdw blurRad="40000" rotWithShape="0" dir="5400000" dist="20000">
              <a:srgbClr val="000000">
                <a:alpha val="38039"/>
              </a:srgbClr>
            </a:outerShdw>
          </a:effectLst>
        </p:spPr>
      </p:cxnSp>
      <p:pic>
        <p:nvPicPr>
          <p:cNvPr descr="image.png" id="345" name="Google Shape;345;p14"/>
          <p:cNvPicPr preferRelativeResize="0"/>
          <p:nvPr/>
        </p:nvPicPr>
        <p:blipFill rotWithShape="1">
          <a:blip r:embed="rId2">
            <a:alphaModFix/>
          </a:blip>
          <a:srcRect b="0" l="0" r="0" t="0"/>
          <a:stretch/>
        </p:blipFill>
        <p:spPr>
          <a:xfrm>
            <a:off x="7772400" y="91566"/>
            <a:ext cx="1170432" cy="658368"/>
          </a:xfrm>
          <a:prstGeom prst="rect">
            <a:avLst/>
          </a:prstGeom>
          <a:noFill/>
          <a:ln>
            <a:noFill/>
          </a:ln>
        </p:spPr>
      </p:pic>
      <p:sp>
        <p:nvSpPr>
          <p:cNvPr id="346" name="Google Shape;346;p14"/>
          <p:cNvSpPr txBox="1"/>
          <p:nvPr/>
        </p:nvSpPr>
        <p:spPr>
          <a:xfrm>
            <a:off x="320357" y="4940472"/>
            <a:ext cx="1263005" cy="11250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90">
                <a:solidFill>
                  <a:srgbClr val="666666"/>
                </a:solidFill>
                <a:latin typeface="Arial"/>
                <a:ea typeface="Arial"/>
                <a:cs typeface="Arial"/>
                <a:sym typeface="Arial"/>
              </a:rPr>
              <a:t>AI for Developers | 30X</a:t>
            </a:r>
            <a:endParaRPr/>
          </a:p>
        </p:txBody>
      </p:sp>
      <p:sp>
        <p:nvSpPr>
          <p:cNvPr id="347" name="Google Shape;347;p14"/>
          <p:cNvSpPr txBox="1"/>
          <p:nvPr/>
        </p:nvSpPr>
        <p:spPr>
          <a:xfrm>
            <a:off x="8549640" y="4940472"/>
            <a:ext cx="457200" cy="11250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790">
                <a:solidFill>
                  <a:srgbClr val="666666"/>
                </a:solidFill>
                <a:latin typeface="Arial"/>
                <a:ea typeface="Arial"/>
                <a:cs typeface="Arial"/>
                <a:sym typeface="Arial"/>
              </a:rPr>
              <a:t>4</a:t>
            </a:r>
            <a:endParaRPr/>
          </a:p>
        </p:txBody>
      </p:sp>
      <p:sp>
        <p:nvSpPr>
          <p:cNvPr id="348" name="Google Shape;348;p14"/>
          <p:cNvSpPr txBox="1"/>
          <p:nvPr/>
        </p:nvSpPr>
        <p:spPr>
          <a:xfrm>
            <a:off x="366077" y="236955"/>
            <a:ext cx="7223760" cy="3171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240">
                <a:solidFill>
                  <a:srgbClr val="FFFFFF"/>
                </a:solidFill>
                <a:latin typeface="Arial"/>
                <a:ea typeface="Arial"/>
                <a:cs typeface="Arial"/>
                <a:sym typeface="Arial"/>
              </a:rPr>
              <a:t>Tu ruta: 11 estaciones, un producto</a:t>
            </a:r>
            <a:endParaRPr/>
          </a:p>
        </p:txBody>
      </p:sp>
      <p:sp>
        <p:nvSpPr>
          <p:cNvPr id="349" name="TextBox 348"/>
          <p:cNvSpPr txBox="1"/>
          <p:nvPr/>
        </p:nvSpPr>
        <p:spPr>
          <a:xfrm>
            <a:off x="365760" y="896112"/>
            <a:ext cx="8412480" cy="274320"/>
          </a:xfrm>
          <a:prstGeom prst="rect">
            <a:avLst/>
          </a:prstGeom>
          <a:noFill/>
        </p:spPr>
        <p:txBody>
          <a:bodyPr wrap="square" lIns="0" rIns="0" tIns="0" bIns="0" anchor="t">
            <a:spAutoFit/>
          </a:bodyPr>
          <a:lstStyle/>
          <a:p>
            <a:pPr algn="l">
              <a:spcAft>
                <a:spcPts val="400"/>
              </a:spcAft>
            </a:pPr>
            <a:r>
              <a:rPr sz="1150" b="0" i="0">
                <a:solidFill>
                  <a:srgbClr val="DDDDDD"/>
                </a:solidFill>
                <a:latin typeface="Arial"/>
              </a:rPr>
              <a:t>Siete semanas, un producto real. Cada estación deja un entregable que alimenta a la siguiente.</a:t>
            </a:r>
          </a:p>
        </p:txBody>
      </p:sp>
      <p:sp>
        <p:nvSpPr>
          <p:cNvPr id="350" name="Rectangle 349"/>
          <p:cNvSpPr/>
          <p:nvPr/>
        </p:nvSpPr>
        <p:spPr>
          <a:xfrm>
            <a:off x="365760" y="1371600"/>
            <a:ext cx="1325880" cy="1143000"/>
          </a:xfrm>
          <a:prstGeom prst="rect">
            <a:avLst/>
          </a:prstGeom>
          <a:solidFill>
            <a:srgbClr val="1A1A1A"/>
          </a:solidFill>
          <a:ln w="15875">
            <a:solidFill>
              <a:srgbClr val="C8E6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1" name="TextBox 350"/>
          <p:cNvSpPr txBox="1"/>
          <p:nvPr/>
        </p:nvSpPr>
        <p:spPr>
          <a:xfrm>
            <a:off x="475488" y="1463040"/>
            <a:ext cx="73152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E1</a:t>
            </a:r>
          </a:p>
        </p:txBody>
      </p:sp>
      <p:sp>
        <p:nvSpPr>
          <p:cNvPr id="352" name="TextBox 351"/>
          <p:cNvSpPr txBox="1"/>
          <p:nvPr/>
        </p:nvSpPr>
        <p:spPr>
          <a:xfrm>
            <a:off x="914400" y="1499616"/>
            <a:ext cx="685800" cy="182880"/>
          </a:xfrm>
          <a:prstGeom prst="rect">
            <a:avLst/>
          </a:prstGeom>
          <a:noFill/>
        </p:spPr>
        <p:txBody>
          <a:bodyPr wrap="square" lIns="0" rIns="0" tIns="0" bIns="0" anchor="t">
            <a:spAutoFit/>
          </a:bodyPr>
          <a:lstStyle/>
          <a:p>
            <a:pPr algn="r">
              <a:spcAft>
                <a:spcPts val="400"/>
              </a:spcAft>
            </a:pPr>
            <a:r>
              <a:rPr sz="750" b="1" i="0">
                <a:solidFill>
                  <a:srgbClr val="C8E64D"/>
                </a:solidFill>
                <a:latin typeface="Arial"/>
              </a:rPr>
              <a:t>estás aquí</a:t>
            </a:r>
          </a:p>
        </p:txBody>
      </p:sp>
      <p:sp>
        <p:nvSpPr>
          <p:cNvPr id="353" name="TextBox 352"/>
          <p:cNvSpPr txBox="1"/>
          <p:nvPr/>
        </p:nvSpPr>
        <p:spPr>
          <a:xfrm>
            <a:off x="475488" y="1783080"/>
            <a:ext cx="1124712" cy="365760"/>
          </a:xfrm>
          <a:prstGeom prst="rect">
            <a:avLst/>
          </a:prstGeom>
          <a:noFill/>
        </p:spPr>
        <p:txBody>
          <a:bodyPr wrap="square" lIns="0" rIns="0" tIns="0" bIns="0" anchor="t">
            <a:spAutoFit/>
          </a:bodyPr>
          <a:lstStyle/>
          <a:p>
            <a:pPr algn="l">
              <a:spcAft>
                <a:spcPts val="0"/>
              </a:spcAft>
            </a:pPr>
            <a:r>
              <a:rPr sz="900" b="1" i="0">
                <a:solidFill>
                  <a:srgbClr val="FFFFFF"/>
                </a:solidFill>
                <a:latin typeface="Arial"/>
              </a:rPr>
              <a:t>Introducción y demostración</a:t>
            </a:r>
          </a:p>
        </p:txBody>
      </p:sp>
      <p:sp>
        <p:nvSpPr>
          <p:cNvPr id="354" name="TextBox 353"/>
          <p:cNvSpPr txBox="1"/>
          <p:nvPr/>
        </p:nvSpPr>
        <p:spPr>
          <a:xfrm>
            <a:off x="475488" y="2157984"/>
            <a:ext cx="1124712" cy="320040"/>
          </a:xfrm>
          <a:prstGeom prst="rect">
            <a:avLst/>
          </a:prstGeom>
          <a:noFill/>
        </p:spPr>
        <p:txBody>
          <a:bodyPr wrap="square" lIns="0" rIns="0" tIns="0" bIns="0" anchor="t">
            <a:spAutoFit/>
          </a:bodyPr>
          <a:lstStyle/>
          <a:p>
            <a:pPr algn="l">
              <a:spcAft>
                <a:spcPts val="0"/>
              </a:spcAft>
            </a:pPr>
            <a:r>
              <a:rPr sz="800" b="0" i="0">
                <a:solidFill>
                  <a:srgbClr val="A6A6A6"/>
                </a:solidFill>
                <a:latin typeface="Arial"/>
              </a:rPr>
              <a:t>Product Vision Board</a:t>
            </a:r>
          </a:p>
        </p:txBody>
      </p:sp>
      <p:sp>
        <p:nvSpPr>
          <p:cNvPr id="355" name="Rectangle 354"/>
          <p:cNvSpPr/>
          <p:nvPr/>
        </p:nvSpPr>
        <p:spPr>
          <a:xfrm>
            <a:off x="1783080" y="1371600"/>
            <a:ext cx="1325880" cy="1143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6" name="TextBox 355"/>
          <p:cNvSpPr txBox="1"/>
          <p:nvPr/>
        </p:nvSpPr>
        <p:spPr>
          <a:xfrm>
            <a:off x="1892808" y="1463040"/>
            <a:ext cx="73152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E2</a:t>
            </a:r>
          </a:p>
        </p:txBody>
      </p:sp>
      <p:sp>
        <p:nvSpPr>
          <p:cNvPr id="357" name="TextBox 356"/>
          <p:cNvSpPr txBox="1"/>
          <p:nvPr/>
        </p:nvSpPr>
        <p:spPr>
          <a:xfrm>
            <a:off x="1892808" y="1783080"/>
            <a:ext cx="1124712" cy="365760"/>
          </a:xfrm>
          <a:prstGeom prst="rect">
            <a:avLst/>
          </a:prstGeom>
          <a:noFill/>
        </p:spPr>
        <p:txBody>
          <a:bodyPr wrap="square" lIns="0" rIns="0" tIns="0" bIns="0" anchor="t">
            <a:spAutoFit/>
          </a:bodyPr>
          <a:lstStyle/>
          <a:p>
            <a:pPr algn="l">
              <a:spcAft>
                <a:spcPts val="0"/>
              </a:spcAft>
            </a:pPr>
            <a:r>
              <a:rPr sz="900" b="1" i="0">
                <a:solidFill>
                  <a:srgbClr val="FFFFFF"/>
                </a:solidFill>
                <a:latin typeface="Arial"/>
              </a:rPr>
              <a:t>Descubrimiento y definición</a:t>
            </a:r>
          </a:p>
        </p:txBody>
      </p:sp>
      <p:sp>
        <p:nvSpPr>
          <p:cNvPr id="358" name="TextBox 357"/>
          <p:cNvSpPr txBox="1"/>
          <p:nvPr/>
        </p:nvSpPr>
        <p:spPr>
          <a:xfrm>
            <a:off x="1892808" y="2157984"/>
            <a:ext cx="1124712" cy="320040"/>
          </a:xfrm>
          <a:prstGeom prst="rect">
            <a:avLst/>
          </a:prstGeom>
          <a:noFill/>
        </p:spPr>
        <p:txBody>
          <a:bodyPr wrap="square" lIns="0" rIns="0" tIns="0" bIns="0" anchor="t">
            <a:spAutoFit/>
          </a:bodyPr>
          <a:lstStyle/>
          <a:p>
            <a:pPr algn="l">
              <a:spcAft>
                <a:spcPts val="0"/>
              </a:spcAft>
            </a:pPr>
            <a:r>
              <a:rPr sz="800" b="0" i="0">
                <a:solidFill>
                  <a:srgbClr val="A6A6A6"/>
                </a:solidFill>
                <a:latin typeface="Arial"/>
              </a:rPr>
              <a:t>PRD</a:t>
            </a:r>
          </a:p>
        </p:txBody>
      </p:sp>
      <p:sp>
        <p:nvSpPr>
          <p:cNvPr id="359" name="Rectangle 358"/>
          <p:cNvSpPr/>
          <p:nvPr/>
        </p:nvSpPr>
        <p:spPr>
          <a:xfrm>
            <a:off x="3200400" y="1371600"/>
            <a:ext cx="1325880" cy="1143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0" name="TextBox 359"/>
          <p:cNvSpPr txBox="1"/>
          <p:nvPr/>
        </p:nvSpPr>
        <p:spPr>
          <a:xfrm>
            <a:off x="3310128" y="1463040"/>
            <a:ext cx="73152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E3</a:t>
            </a:r>
          </a:p>
        </p:txBody>
      </p:sp>
      <p:sp>
        <p:nvSpPr>
          <p:cNvPr id="361" name="TextBox 360"/>
          <p:cNvSpPr txBox="1"/>
          <p:nvPr/>
        </p:nvSpPr>
        <p:spPr>
          <a:xfrm>
            <a:off x="3310128" y="1783080"/>
            <a:ext cx="1124712" cy="365760"/>
          </a:xfrm>
          <a:prstGeom prst="rect">
            <a:avLst/>
          </a:prstGeom>
          <a:noFill/>
        </p:spPr>
        <p:txBody>
          <a:bodyPr wrap="square" lIns="0" rIns="0" tIns="0" bIns="0" anchor="t">
            <a:spAutoFit/>
          </a:bodyPr>
          <a:lstStyle/>
          <a:p>
            <a:pPr algn="l">
              <a:spcAft>
                <a:spcPts val="0"/>
              </a:spcAft>
            </a:pPr>
            <a:r>
              <a:rPr sz="900" b="1" i="0">
                <a:solidFill>
                  <a:srgbClr val="FFFFFF"/>
                </a:solidFill>
                <a:latin typeface="Arial"/>
              </a:rPr>
              <a:t>Herramientas agénticas</a:t>
            </a:r>
          </a:p>
        </p:txBody>
      </p:sp>
      <p:sp>
        <p:nvSpPr>
          <p:cNvPr id="362" name="TextBox 361"/>
          <p:cNvSpPr txBox="1"/>
          <p:nvPr/>
        </p:nvSpPr>
        <p:spPr>
          <a:xfrm>
            <a:off x="3310128" y="2157984"/>
            <a:ext cx="1124712" cy="320040"/>
          </a:xfrm>
          <a:prstGeom prst="rect">
            <a:avLst/>
          </a:prstGeom>
          <a:noFill/>
        </p:spPr>
        <p:txBody>
          <a:bodyPr wrap="square" lIns="0" rIns="0" tIns="0" bIns="0" anchor="t">
            <a:spAutoFit/>
          </a:bodyPr>
          <a:lstStyle/>
          <a:p>
            <a:pPr algn="l">
              <a:spcAft>
                <a:spcPts val="0"/>
              </a:spcAft>
            </a:pPr>
            <a:r>
              <a:rPr sz="800" b="0" i="0">
                <a:solidFill>
                  <a:srgbClr val="A6A6A6"/>
                </a:solidFill>
                <a:latin typeface="Arial"/>
              </a:rPr>
              <a:t>Entorno agéntico operativo</a:t>
            </a:r>
          </a:p>
        </p:txBody>
      </p:sp>
      <p:sp>
        <p:nvSpPr>
          <p:cNvPr id="363" name="Rectangle 362"/>
          <p:cNvSpPr/>
          <p:nvPr/>
        </p:nvSpPr>
        <p:spPr>
          <a:xfrm>
            <a:off x="4617720" y="1371600"/>
            <a:ext cx="1325880" cy="1143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4" name="TextBox 363"/>
          <p:cNvSpPr txBox="1"/>
          <p:nvPr/>
        </p:nvSpPr>
        <p:spPr>
          <a:xfrm>
            <a:off x="4727448" y="1463040"/>
            <a:ext cx="73152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E4</a:t>
            </a:r>
          </a:p>
        </p:txBody>
      </p:sp>
      <p:sp>
        <p:nvSpPr>
          <p:cNvPr id="365" name="TextBox 364"/>
          <p:cNvSpPr txBox="1"/>
          <p:nvPr/>
        </p:nvSpPr>
        <p:spPr>
          <a:xfrm>
            <a:off x="4727448" y="1783080"/>
            <a:ext cx="1124712" cy="365760"/>
          </a:xfrm>
          <a:prstGeom prst="rect">
            <a:avLst/>
          </a:prstGeom>
          <a:noFill/>
        </p:spPr>
        <p:txBody>
          <a:bodyPr wrap="square" lIns="0" rIns="0" tIns="0" bIns="0" anchor="t">
            <a:spAutoFit/>
          </a:bodyPr>
          <a:lstStyle/>
          <a:p>
            <a:pPr algn="l">
              <a:spcAft>
                <a:spcPts val="0"/>
              </a:spcAft>
            </a:pPr>
            <a:r>
              <a:rPr sz="900" b="1" i="0">
                <a:solidFill>
                  <a:srgbClr val="FFFFFF"/>
                </a:solidFill>
                <a:latin typeface="Arial"/>
              </a:rPr>
              <a:t>Diseñando el QUÉ</a:t>
            </a:r>
          </a:p>
        </p:txBody>
      </p:sp>
      <p:sp>
        <p:nvSpPr>
          <p:cNvPr id="366" name="TextBox 365"/>
          <p:cNvSpPr txBox="1"/>
          <p:nvPr/>
        </p:nvSpPr>
        <p:spPr>
          <a:xfrm>
            <a:off x="4727448" y="2157984"/>
            <a:ext cx="1124712" cy="320040"/>
          </a:xfrm>
          <a:prstGeom prst="rect">
            <a:avLst/>
          </a:prstGeom>
          <a:noFill/>
        </p:spPr>
        <p:txBody>
          <a:bodyPr wrap="square" lIns="0" rIns="0" tIns="0" bIns="0" anchor="t">
            <a:spAutoFit/>
          </a:bodyPr>
          <a:lstStyle/>
          <a:p>
            <a:pPr algn="l">
              <a:spcAft>
                <a:spcPts val="0"/>
              </a:spcAft>
            </a:pPr>
            <a:r>
              <a:rPr sz="800" b="0" i="0">
                <a:solidFill>
                  <a:srgbClr val="A6A6A6"/>
                </a:solidFill>
                <a:latin typeface="Arial"/>
              </a:rPr>
              <a:t>Especificación técnica</a:t>
            </a:r>
          </a:p>
        </p:txBody>
      </p:sp>
      <p:sp>
        <p:nvSpPr>
          <p:cNvPr id="367" name="Rectangle 366"/>
          <p:cNvSpPr/>
          <p:nvPr/>
        </p:nvSpPr>
        <p:spPr>
          <a:xfrm>
            <a:off x="6035040" y="1371600"/>
            <a:ext cx="1325880" cy="1143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8" name="TextBox 367"/>
          <p:cNvSpPr txBox="1"/>
          <p:nvPr/>
        </p:nvSpPr>
        <p:spPr>
          <a:xfrm>
            <a:off x="6144768" y="1463040"/>
            <a:ext cx="73152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E5</a:t>
            </a:r>
          </a:p>
        </p:txBody>
      </p:sp>
      <p:sp>
        <p:nvSpPr>
          <p:cNvPr id="369" name="TextBox 368"/>
          <p:cNvSpPr txBox="1"/>
          <p:nvPr/>
        </p:nvSpPr>
        <p:spPr>
          <a:xfrm>
            <a:off x="6144768" y="1783080"/>
            <a:ext cx="1124712" cy="365760"/>
          </a:xfrm>
          <a:prstGeom prst="rect">
            <a:avLst/>
          </a:prstGeom>
          <a:noFill/>
        </p:spPr>
        <p:txBody>
          <a:bodyPr wrap="square" lIns="0" rIns="0" tIns="0" bIns="0" anchor="t">
            <a:spAutoFit/>
          </a:bodyPr>
          <a:lstStyle/>
          <a:p>
            <a:pPr algn="l">
              <a:spcAft>
                <a:spcPts val="0"/>
              </a:spcAft>
            </a:pPr>
            <a:r>
              <a:rPr sz="900" b="1" i="0">
                <a:solidFill>
                  <a:srgbClr val="FFFFFF"/>
                </a:solidFill>
                <a:latin typeface="Arial"/>
              </a:rPr>
              <a:t>Diseñando el CÓMO</a:t>
            </a:r>
          </a:p>
        </p:txBody>
      </p:sp>
      <p:sp>
        <p:nvSpPr>
          <p:cNvPr id="370" name="TextBox 369"/>
          <p:cNvSpPr txBox="1"/>
          <p:nvPr/>
        </p:nvSpPr>
        <p:spPr>
          <a:xfrm>
            <a:off x="6144768" y="2157984"/>
            <a:ext cx="1124712" cy="320040"/>
          </a:xfrm>
          <a:prstGeom prst="rect">
            <a:avLst/>
          </a:prstGeom>
          <a:noFill/>
        </p:spPr>
        <p:txBody>
          <a:bodyPr wrap="square" lIns="0" rIns="0" tIns="0" bIns="0" anchor="t">
            <a:spAutoFit/>
          </a:bodyPr>
          <a:lstStyle/>
          <a:p>
            <a:pPr algn="l">
              <a:spcAft>
                <a:spcPts val="0"/>
              </a:spcAft>
            </a:pPr>
            <a:r>
              <a:rPr sz="800" b="0" i="0">
                <a:solidFill>
                  <a:srgbClr val="A6A6A6"/>
                </a:solidFill>
                <a:latin typeface="Arial"/>
              </a:rPr>
              <a:t>MADR + plan técnico</a:t>
            </a:r>
          </a:p>
        </p:txBody>
      </p:sp>
      <p:sp>
        <p:nvSpPr>
          <p:cNvPr id="371" name="Rectangle 370"/>
          <p:cNvSpPr/>
          <p:nvPr/>
        </p:nvSpPr>
        <p:spPr>
          <a:xfrm>
            <a:off x="7452360" y="1371600"/>
            <a:ext cx="1325880" cy="1143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2" name="TextBox 371"/>
          <p:cNvSpPr txBox="1"/>
          <p:nvPr/>
        </p:nvSpPr>
        <p:spPr>
          <a:xfrm>
            <a:off x="7562088" y="1463040"/>
            <a:ext cx="73152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E6</a:t>
            </a:r>
          </a:p>
        </p:txBody>
      </p:sp>
      <p:sp>
        <p:nvSpPr>
          <p:cNvPr id="373" name="TextBox 372"/>
          <p:cNvSpPr txBox="1"/>
          <p:nvPr/>
        </p:nvSpPr>
        <p:spPr>
          <a:xfrm>
            <a:off x="7562088" y="1783080"/>
            <a:ext cx="1124712" cy="365760"/>
          </a:xfrm>
          <a:prstGeom prst="rect">
            <a:avLst/>
          </a:prstGeom>
          <a:noFill/>
        </p:spPr>
        <p:txBody>
          <a:bodyPr wrap="square" lIns="0" rIns="0" tIns="0" bIns="0" anchor="t">
            <a:spAutoFit/>
          </a:bodyPr>
          <a:lstStyle/>
          <a:p>
            <a:pPr algn="l">
              <a:spcAft>
                <a:spcPts val="0"/>
              </a:spcAft>
            </a:pPr>
            <a:r>
              <a:rPr sz="900" b="1" i="0">
                <a:solidFill>
                  <a:srgbClr val="FFFFFF"/>
                </a:solidFill>
                <a:latin typeface="Arial"/>
              </a:rPr>
              <a:t>Orquestación</a:t>
            </a:r>
          </a:p>
        </p:txBody>
      </p:sp>
      <p:sp>
        <p:nvSpPr>
          <p:cNvPr id="374" name="TextBox 373"/>
          <p:cNvSpPr txBox="1"/>
          <p:nvPr/>
        </p:nvSpPr>
        <p:spPr>
          <a:xfrm>
            <a:off x="7562088" y="2157984"/>
            <a:ext cx="1124712" cy="320040"/>
          </a:xfrm>
          <a:prstGeom prst="rect">
            <a:avLst/>
          </a:prstGeom>
          <a:noFill/>
        </p:spPr>
        <p:txBody>
          <a:bodyPr wrap="square" lIns="0" rIns="0" tIns="0" bIns="0" anchor="t">
            <a:spAutoFit/>
          </a:bodyPr>
          <a:lstStyle/>
          <a:p>
            <a:pPr algn="l">
              <a:spcAft>
                <a:spcPts val="0"/>
              </a:spcAft>
            </a:pPr>
            <a:r>
              <a:rPr sz="800" b="0" i="0">
                <a:solidFill>
                  <a:srgbClr val="A6A6A6"/>
                </a:solidFill>
                <a:latin typeface="Arial"/>
              </a:rPr>
              <a:t>Implementación inicial</a:t>
            </a:r>
          </a:p>
        </p:txBody>
      </p:sp>
      <p:sp>
        <p:nvSpPr>
          <p:cNvPr id="375" name="Rectangle 374"/>
          <p:cNvSpPr/>
          <p:nvPr/>
        </p:nvSpPr>
        <p:spPr>
          <a:xfrm>
            <a:off x="365760" y="2670048"/>
            <a:ext cx="1325880" cy="1143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6" name="TextBox 375"/>
          <p:cNvSpPr txBox="1"/>
          <p:nvPr/>
        </p:nvSpPr>
        <p:spPr>
          <a:xfrm>
            <a:off x="475488" y="2761488"/>
            <a:ext cx="73152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E7</a:t>
            </a:r>
          </a:p>
        </p:txBody>
      </p:sp>
      <p:sp>
        <p:nvSpPr>
          <p:cNvPr id="377" name="TextBox 376"/>
          <p:cNvSpPr txBox="1"/>
          <p:nvPr/>
        </p:nvSpPr>
        <p:spPr>
          <a:xfrm>
            <a:off x="475488" y="3081528"/>
            <a:ext cx="1124712" cy="365760"/>
          </a:xfrm>
          <a:prstGeom prst="rect">
            <a:avLst/>
          </a:prstGeom>
          <a:noFill/>
        </p:spPr>
        <p:txBody>
          <a:bodyPr wrap="square" lIns="0" rIns="0" tIns="0" bIns="0" anchor="t">
            <a:spAutoFit/>
          </a:bodyPr>
          <a:lstStyle/>
          <a:p>
            <a:pPr algn="l">
              <a:spcAft>
                <a:spcPts val="0"/>
              </a:spcAft>
            </a:pPr>
            <a:r>
              <a:rPr sz="900" b="1" i="0">
                <a:solidFill>
                  <a:srgbClr val="FFFFFF"/>
                </a:solidFill>
                <a:latin typeface="Arial"/>
              </a:rPr>
              <a:t>Agentes de código</a:t>
            </a:r>
          </a:p>
        </p:txBody>
      </p:sp>
      <p:sp>
        <p:nvSpPr>
          <p:cNvPr id="378" name="TextBox 377"/>
          <p:cNvSpPr txBox="1"/>
          <p:nvPr/>
        </p:nvSpPr>
        <p:spPr>
          <a:xfrm>
            <a:off x="475488" y="3456432"/>
            <a:ext cx="1124712" cy="320040"/>
          </a:xfrm>
          <a:prstGeom prst="rect">
            <a:avLst/>
          </a:prstGeom>
          <a:noFill/>
        </p:spPr>
        <p:txBody>
          <a:bodyPr wrap="square" lIns="0" rIns="0" tIns="0" bIns="0" anchor="t">
            <a:spAutoFit/>
          </a:bodyPr>
          <a:lstStyle/>
          <a:p>
            <a:pPr algn="l">
              <a:spcAft>
                <a:spcPts val="0"/>
              </a:spcAft>
            </a:pPr>
            <a:r>
              <a:rPr sz="800" b="0" i="0">
                <a:solidFill>
                  <a:srgbClr val="A6A6A6"/>
                </a:solidFill>
                <a:latin typeface="Arial"/>
              </a:rPr>
              <a:t>Pipeline de coding agents</a:t>
            </a:r>
          </a:p>
        </p:txBody>
      </p:sp>
      <p:sp>
        <p:nvSpPr>
          <p:cNvPr id="379" name="Rectangle 378"/>
          <p:cNvSpPr/>
          <p:nvPr/>
        </p:nvSpPr>
        <p:spPr>
          <a:xfrm>
            <a:off x="1783080" y="2670048"/>
            <a:ext cx="1325880" cy="1143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0" name="TextBox 379"/>
          <p:cNvSpPr txBox="1"/>
          <p:nvPr/>
        </p:nvSpPr>
        <p:spPr>
          <a:xfrm>
            <a:off x="1892808" y="2761488"/>
            <a:ext cx="73152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E8</a:t>
            </a:r>
          </a:p>
        </p:txBody>
      </p:sp>
      <p:sp>
        <p:nvSpPr>
          <p:cNvPr id="381" name="TextBox 380"/>
          <p:cNvSpPr txBox="1"/>
          <p:nvPr/>
        </p:nvSpPr>
        <p:spPr>
          <a:xfrm>
            <a:off x="1892808" y="3081528"/>
            <a:ext cx="1124712" cy="365760"/>
          </a:xfrm>
          <a:prstGeom prst="rect">
            <a:avLst/>
          </a:prstGeom>
          <a:noFill/>
        </p:spPr>
        <p:txBody>
          <a:bodyPr wrap="square" lIns="0" rIns="0" tIns="0" bIns="0" anchor="t">
            <a:spAutoFit/>
          </a:bodyPr>
          <a:lstStyle/>
          <a:p>
            <a:pPr algn="l">
              <a:spcAft>
                <a:spcPts val="0"/>
              </a:spcAft>
            </a:pPr>
            <a:r>
              <a:rPr sz="900" b="1" i="0">
                <a:solidFill>
                  <a:srgbClr val="FFFFFF"/>
                </a:solidFill>
                <a:latin typeface="Arial"/>
              </a:rPr>
              <a:t>Calidad</a:t>
            </a:r>
          </a:p>
        </p:txBody>
      </p:sp>
      <p:sp>
        <p:nvSpPr>
          <p:cNvPr id="382" name="TextBox 381"/>
          <p:cNvSpPr txBox="1"/>
          <p:nvPr/>
        </p:nvSpPr>
        <p:spPr>
          <a:xfrm>
            <a:off x="1892808" y="3456432"/>
            <a:ext cx="1124712" cy="320040"/>
          </a:xfrm>
          <a:prstGeom prst="rect">
            <a:avLst/>
          </a:prstGeom>
          <a:noFill/>
        </p:spPr>
        <p:txBody>
          <a:bodyPr wrap="square" lIns="0" rIns="0" tIns="0" bIns="0" anchor="t">
            <a:spAutoFit/>
          </a:bodyPr>
          <a:lstStyle/>
          <a:p>
            <a:pPr algn="l">
              <a:spcAft>
                <a:spcPts val="0"/>
              </a:spcAft>
            </a:pPr>
            <a:r>
              <a:rPr sz="800" b="0" i="0">
                <a:solidFill>
                  <a:srgbClr val="A6A6A6"/>
                </a:solidFill>
                <a:latin typeface="Arial"/>
              </a:rPr>
              <a:t>Suite de pruebas E2E</a:t>
            </a:r>
          </a:p>
        </p:txBody>
      </p:sp>
      <p:sp>
        <p:nvSpPr>
          <p:cNvPr id="383" name="Rectangle 382"/>
          <p:cNvSpPr/>
          <p:nvPr/>
        </p:nvSpPr>
        <p:spPr>
          <a:xfrm>
            <a:off x="3200400" y="2670048"/>
            <a:ext cx="1325880" cy="1143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4" name="TextBox 383"/>
          <p:cNvSpPr txBox="1"/>
          <p:nvPr/>
        </p:nvSpPr>
        <p:spPr>
          <a:xfrm>
            <a:off x="3310128" y="2761488"/>
            <a:ext cx="73152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E9</a:t>
            </a:r>
          </a:p>
        </p:txBody>
      </p:sp>
      <p:sp>
        <p:nvSpPr>
          <p:cNvPr id="385" name="TextBox 384"/>
          <p:cNvSpPr txBox="1"/>
          <p:nvPr/>
        </p:nvSpPr>
        <p:spPr>
          <a:xfrm>
            <a:off x="3310128" y="3081528"/>
            <a:ext cx="1124712" cy="365760"/>
          </a:xfrm>
          <a:prstGeom prst="rect">
            <a:avLst/>
          </a:prstGeom>
          <a:noFill/>
        </p:spPr>
        <p:txBody>
          <a:bodyPr wrap="square" lIns="0" rIns="0" tIns="0" bIns="0" anchor="t">
            <a:spAutoFit/>
          </a:bodyPr>
          <a:lstStyle/>
          <a:p>
            <a:pPr algn="l">
              <a:spcAft>
                <a:spcPts val="0"/>
              </a:spcAft>
            </a:pPr>
            <a:r>
              <a:rPr sz="900" b="1" i="0">
                <a:solidFill>
                  <a:srgbClr val="FFFFFF"/>
                </a:solidFill>
                <a:latin typeface="Arial"/>
              </a:rPr>
              <a:t>Despliegue (IaC)</a:t>
            </a:r>
          </a:p>
        </p:txBody>
      </p:sp>
      <p:sp>
        <p:nvSpPr>
          <p:cNvPr id="386" name="TextBox 385"/>
          <p:cNvSpPr txBox="1"/>
          <p:nvPr/>
        </p:nvSpPr>
        <p:spPr>
          <a:xfrm>
            <a:off x="3310128" y="3456432"/>
            <a:ext cx="1124712" cy="320040"/>
          </a:xfrm>
          <a:prstGeom prst="rect">
            <a:avLst/>
          </a:prstGeom>
          <a:noFill/>
        </p:spPr>
        <p:txBody>
          <a:bodyPr wrap="square" lIns="0" rIns="0" tIns="0" bIns="0" anchor="t">
            <a:spAutoFit/>
          </a:bodyPr>
          <a:lstStyle/>
          <a:p>
            <a:pPr algn="l">
              <a:spcAft>
                <a:spcPts val="0"/>
              </a:spcAft>
            </a:pPr>
            <a:r>
              <a:rPr sz="800" b="0" i="0">
                <a:solidFill>
                  <a:srgbClr val="A6A6A6"/>
                </a:solidFill>
                <a:latin typeface="Arial"/>
              </a:rPr>
              <a:t>Producto en la nube</a:t>
            </a:r>
          </a:p>
        </p:txBody>
      </p:sp>
      <p:sp>
        <p:nvSpPr>
          <p:cNvPr id="387" name="Rectangle 386"/>
          <p:cNvSpPr/>
          <p:nvPr/>
        </p:nvSpPr>
        <p:spPr>
          <a:xfrm>
            <a:off x="4617720" y="2670048"/>
            <a:ext cx="1325880" cy="1143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8" name="TextBox 387"/>
          <p:cNvSpPr txBox="1"/>
          <p:nvPr/>
        </p:nvSpPr>
        <p:spPr>
          <a:xfrm>
            <a:off x="4727448" y="2761488"/>
            <a:ext cx="73152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E10</a:t>
            </a:r>
          </a:p>
        </p:txBody>
      </p:sp>
      <p:sp>
        <p:nvSpPr>
          <p:cNvPr id="389" name="TextBox 388"/>
          <p:cNvSpPr txBox="1"/>
          <p:nvPr/>
        </p:nvSpPr>
        <p:spPr>
          <a:xfrm>
            <a:off x="4727448" y="3081528"/>
            <a:ext cx="1124712" cy="365760"/>
          </a:xfrm>
          <a:prstGeom prst="rect">
            <a:avLst/>
          </a:prstGeom>
          <a:noFill/>
        </p:spPr>
        <p:txBody>
          <a:bodyPr wrap="square" lIns="0" rIns="0" tIns="0" bIns="0" anchor="t">
            <a:spAutoFit/>
          </a:bodyPr>
          <a:lstStyle/>
          <a:p>
            <a:pPr algn="l">
              <a:spcAft>
                <a:spcPts val="0"/>
              </a:spcAft>
            </a:pPr>
            <a:r>
              <a:rPr sz="900" b="1" i="0">
                <a:solidFill>
                  <a:srgbClr val="FFFFFF"/>
                </a:solidFill>
                <a:latin typeface="Arial"/>
              </a:rPr>
              <a:t>Seguridad</a:t>
            </a:r>
          </a:p>
        </p:txBody>
      </p:sp>
      <p:sp>
        <p:nvSpPr>
          <p:cNvPr id="390" name="TextBox 389"/>
          <p:cNvSpPr txBox="1"/>
          <p:nvPr/>
        </p:nvSpPr>
        <p:spPr>
          <a:xfrm>
            <a:off x="4727448" y="3456432"/>
            <a:ext cx="1124712" cy="320040"/>
          </a:xfrm>
          <a:prstGeom prst="rect">
            <a:avLst/>
          </a:prstGeom>
          <a:noFill/>
        </p:spPr>
        <p:txBody>
          <a:bodyPr wrap="square" lIns="0" rIns="0" tIns="0" bIns="0" anchor="t">
            <a:spAutoFit/>
          </a:bodyPr>
          <a:lstStyle/>
          <a:p>
            <a:pPr algn="l">
              <a:spcAft>
                <a:spcPts val="0"/>
              </a:spcAft>
            </a:pPr>
            <a:r>
              <a:rPr sz="800" b="0" i="0">
                <a:solidFill>
                  <a:srgbClr val="A6A6A6"/>
                </a:solidFill>
                <a:latin typeface="Arial"/>
              </a:rPr>
              <a:t>Reporte de seguridad</a:t>
            </a:r>
          </a:p>
        </p:txBody>
      </p:sp>
      <p:sp>
        <p:nvSpPr>
          <p:cNvPr id="391" name="Rectangle 390"/>
          <p:cNvSpPr/>
          <p:nvPr/>
        </p:nvSpPr>
        <p:spPr>
          <a:xfrm>
            <a:off x="6035040" y="2670048"/>
            <a:ext cx="1325880" cy="1143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2" name="TextBox 391"/>
          <p:cNvSpPr txBox="1"/>
          <p:nvPr/>
        </p:nvSpPr>
        <p:spPr>
          <a:xfrm>
            <a:off x="6144768" y="2761488"/>
            <a:ext cx="73152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E11</a:t>
            </a:r>
          </a:p>
        </p:txBody>
      </p:sp>
      <p:sp>
        <p:nvSpPr>
          <p:cNvPr id="393" name="TextBox 392"/>
          <p:cNvSpPr txBox="1"/>
          <p:nvPr/>
        </p:nvSpPr>
        <p:spPr>
          <a:xfrm>
            <a:off x="6144768" y="3081528"/>
            <a:ext cx="1124712" cy="365760"/>
          </a:xfrm>
          <a:prstGeom prst="rect">
            <a:avLst/>
          </a:prstGeom>
          <a:noFill/>
        </p:spPr>
        <p:txBody>
          <a:bodyPr wrap="square" lIns="0" rIns="0" tIns="0" bIns="0" anchor="t">
            <a:spAutoFit/>
          </a:bodyPr>
          <a:lstStyle/>
          <a:p>
            <a:pPr algn="l">
              <a:spcAft>
                <a:spcPts val="0"/>
              </a:spcAft>
            </a:pPr>
            <a:r>
              <a:rPr sz="900" b="1" i="0">
                <a:solidFill>
                  <a:srgbClr val="FFFFFF"/>
                </a:solidFill>
                <a:latin typeface="Arial"/>
              </a:rPr>
              <a:t>Observabilidad</a:t>
            </a:r>
          </a:p>
        </p:txBody>
      </p:sp>
      <p:sp>
        <p:nvSpPr>
          <p:cNvPr id="394" name="TextBox 393"/>
          <p:cNvSpPr txBox="1"/>
          <p:nvPr/>
        </p:nvSpPr>
        <p:spPr>
          <a:xfrm>
            <a:off x="6144768" y="3456432"/>
            <a:ext cx="1124712" cy="320040"/>
          </a:xfrm>
          <a:prstGeom prst="rect">
            <a:avLst/>
          </a:prstGeom>
          <a:noFill/>
        </p:spPr>
        <p:txBody>
          <a:bodyPr wrap="square" lIns="0" rIns="0" tIns="0" bIns="0" anchor="t">
            <a:spAutoFit/>
          </a:bodyPr>
          <a:lstStyle/>
          <a:p>
            <a:pPr algn="l">
              <a:spcAft>
                <a:spcPts val="0"/>
              </a:spcAft>
            </a:pPr>
            <a:r>
              <a:rPr sz="800" b="0" i="0">
                <a:solidFill>
                  <a:srgbClr val="A6A6A6"/>
                </a:solidFill>
                <a:latin typeface="Arial"/>
              </a:rPr>
              <a:t>Pitch del Demo Day</a:t>
            </a:r>
          </a:p>
        </p:txBody>
      </p:sp>
      <p:sp>
        <p:nvSpPr>
          <p:cNvPr id="395" name="Rectangle 394"/>
          <p:cNvSpPr/>
          <p:nvPr/>
        </p:nvSpPr>
        <p:spPr>
          <a:xfrm>
            <a:off x="7452360" y="2670048"/>
            <a:ext cx="1325880" cy="1143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6" name="TextBox 395"/>
          <p:cNvSpPr txBox="1"/>
          <p:nvPr/>
        </p:nvSpPr>
        <p:spPr>
          <a:xfrm>
            <a:off x="7562088" y="2761488"/>
            <a:ext cx="73152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a:t>
            </a:r>
          </a:p>
        </p:txBody>
      </p:sp>
      <p:sp>
        <p:nvSpPr>
          <p:cNvPr id="397" name="TextBox 396"/>
          <p:cNvSpPr txBox="1"/>
          <p:nvPr/>
        </p:nvSpPr>
        <p:spPr>
          <a:xfrm>
            <a:off x="7562088" y="3081528"/>
            <a:ext cx="1124712" cy="365760"/>
          </a:xfrm>
          <a:prstGeom prst="rect">
            <a:avLst/>
          </a:prstGeom>
          <a:noFill/>
        </p:spPr>
        <p:txBody>
          <a:bodyPr wrap="square" lIns="0" rIns="0" tIns="0" bIns="0" anchor="t">
            <a:spAutoFit/>
          </a:bodyPr>
          <a:lstStyle/>
          <a:p>
            <a:pPr algn="l">
              <a:spcAft>
                <a:spcPts val="0"/>
              </a:spcAft>
            </a:pPr>
            <a:r>
              <a:rPr sz="900" b="1" i="0">
                <a:solidFill>
                  <a:srgbClr val="FFFFFF"/>
                </a:solidFill>
                <a:latin typeface="Arial"/>
              </a:rPr>
              <a:t>Demo Day</a:t>
            </a:r>
          </a:p>
        </p:txBody>
      </p:sp>
      <p:sp>
        <p:nvSpPr>
          <p:cNvPr id="398" name="TextBox 397"/>
          <p:cNvSpPr txBox="1"/>
          <p:nvPr/>
        </p:nvSpPr>
        <p:spPr>
          <a:xfrm>
            <a:off x="7562088" y="3456432"/>
            <a:ext cx="1124712" cy="320040"/>
          </a:xfrm>
          <a:prstGeom prst="rect">
            <a:avLst/>
          </a:prstGeom>
          <a:noFill/>
        </p:spPr>
        <p:txBody>
          <a:bodyPr wrap="square" lIns="0" rIns="0" tIns="0" bIns="0" anchor="t">
            <a:spAutoFit/>
          </a:bodyPr>
          <a:lstStyle/>
          <a:p>
            <a:pPr algn="l">
              <a:spcAft>
                <a:spcPts val="0"/>
              </a:spcAft>
            </a:pPr>
            <a:r>
              <a:rPr sz="800" b="0" i="0">
                <a:solidFill>
                  <a:srgbClr val="A6A6A6"/>
                </a:solidFill>
                <a:latin typeface="Arial"/>
              </a:rPr>
              <a:t>Presentas tu producto</a:t>
            </a:r>
          </a:p>
        </p:txBody>
      </p:sp>
      <p:sp>
        <p:nvSpPr>
          <p:cNvPr id="399" name="Rectangle 398"/>
          <p:cNvSpPr/>
          <p:nvPr/>
        </p:nvSpPr>
        <p:spPr>
          <a:xfrm>
            <a:off x="365760" y="4041648"/>
            <a:ext cx="8412480" cy="566928"/>
          </a:xfrm>
          <a:prstGeom prst="rect">
            <a:avLst/>
          </a:prstGeom>
          <a:solidFill>
            <a:srgbClr val="23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0" name="TextBox 399"/>
          <p:cNvSpPr txBox="1"/>
          <p:nvPr/>
        </p:nvSpPr>
        <p:spPr>
          <a:xfrm>
            <a:off x="548640" y="4041648"/>
            <a:ext cx="8046720" cy="566928"/>
          </a:xfrm>
          <a:prstGeom prst="rect">
            <a:avLst/>
          </a:prstGeom>
          <a:noFill/>
        </p:spPr>
        <p:txBody>
          <a:bodyPr wrap="square" lIns="0" rIns="0" tIns="0" bIns="0" anchor="ctr">
            <a:spAutoFit/>
          </a:bodyPr>
          <a:lstStyle/>
          <a:p>
            <a:pPr algn="ctr">
              <a:spcAft>
                <a:spcPts val="400"/>
              </a:spcAft>
            </a:pPr>
            <a:r>
              <a:rPr sz="1150" b="0" i="0">
                <a:solidFill>
                  <a:srgbClr val="FFFFFF"/>
                </a:solidFill>
                <a:latin typeface="Arial"/>
              </a:rPr>
              <a:t>Hoy la demo recorre </a:t>
            </a:r>
            <a:r>
              <a:rPr sz="1150" b="1" i="0">
                <a:solidFill>
                  <a:srgbClr val="C8E64D"/>
                </a:solidFill>
                <a:latin typeface="Arial"/>
              </a:rPr>
              <a:t>toda esta ruta en 30 minutos</a:t>
            </a:r>
            <a:r>
              <a:rPr sz="1150" b="0" i="0">
                <a:solidFill>
                  <a:srgbClr val="FFFFFF"/>
                </a:solidFill>
                <a:latin typeface="Arial"/>
              </a:rPr>
              <a:t>. Exprés hoy; con método en cada estación.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D0D0D"/>
        </a:solidFill>
      </p:bgPr>
    </p:bg>
    <p:spTree>
      <p:nvGrpSpPr>
        <p:cNvPr id="1" name=""/>
        <p:cNvGrpSpPr/>
        <p:nvPr/>
      </p:nvGrpSpPr>
      <p:grpSpPr/>
      <p:sp>
        <p:nvSpPr>
          <p:cNvPr id="117" name="Google Shape;117;p3"/>
          <p:cNvSpPr/>
          <p:nvPr/>
        </p:nvSpPr>
        <p:spPr>
          <a:xfrm>
            <a:off x="4572" y="4579"/>
            <a:ext cx="128015" cy="5152644"/>
          </a:xfrm>
          <a:prstGeom prst="rect">
            <a:avLst/>
          </a:prstGeom>
          <a:solidFill>
            <a:srgbClr val="C8E64D"/>
          </a:solidFill>
          <a:ln cap="flat" cmpd="sng" w="12700">
            <a:solidFill>
              <a:srgbClr val="C8E64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3"/>
          <p:cNvSpPr txBox="1"/>
          <p:nvPr/>
        </p:nvSpPr>
        <p:spPr>
          <a:xfrm>
            <a:off x="457834" y="737089"/>
            <a:ext cx="1381971" cy="116545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30">
                <a:solidFill>
                  <a:srgbClr val="C8E64D"/>
                </a:solidFill>
                <a:latin typeface="Arial"/>
                <a:ea typeface="Arial"/>
                <a:cs typeface="Arial"/>
                <a:sym typeface="Arial"/>
              </a:rPr>
              <a:t>01</a:t>
            </a:r>
            <a:endParaRPr/>
          </a:p>
        </p:txBody>
      </p:sp>
      <p:sp>
        <p:nvSpPr>
          <p:cNvPr id="119" name="Google Shape;119;p3"/>
          <p:cNvSpPr txBox="1"/>
          <p:nvPr/>
        </p:nvSpPr>
        <p:spPr>
          <a:xfrm>
            <a:off x="457834" y="2583813"/>
            <a:ext cx="7255061" cy="45000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80">
                <a:solidFill>
                  <a:srgbClr val="FFFFFF"/>
                </a:solidFill>
                <a:latin typeface="Arial"/>
                <a:ea typeface="Arial"/>
                <a:cs typeface="Arial"/>
                <a:sym typeface="Arial"/>
              </a:rPr>
              <a:t>Empieza por el producto</a:t>
            </a:r>
            <a:endParaRPr/>
          </a:p>
        </p:txBody>
      </p:sp>
      <p:sp>
        <p:nvSpPr>
          <p:cNvPr id="120" name="Google Shape;120;p3"/>
          <p:cNvSpPr txBox="1"/>
          <p:nvPr/>
        </p:nvSpPr>
        <p:spPr>
          <a:xfrm>
            <a:off x="457834" y="3723373"/>
            <a:ext cx="7772400" cy="18422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00">
                <a:solidFill>
                  <a:srgbClr val="999999"/>
                </a:solidFill>
                <a:latin typeface="Arial"/>
                <a:ea typeface="Arial"/>
                <a:cs typeface="Arial"/>
                <a:sym typeface="Arial"/>
              </a:rPr>
              <a:t>Product Vision Board · el entregable de hoy</a:t>
            </a:r>
            <a:endParaRPr/>
          </a:p>
        </p:txBody>
      </p:sp>
      <p:sp>
        <p:nvSpPr>
          <p:cNvPr id="121" name="Google Shape;121;p3"/>
          <p:cNvSpPr txBox="1"/>
          <p:nvPr/>
        </p:nvSpPr>
        <p:spPr>
          <a:xfrm>
            <a:off x="320357" y="4941101"/>
            <a:ext cx="1262575" cy="11215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90">
                <a:solidFill>
                  <a:srgbClr val="666666"/>
                </a:solidFill>
                <a:latin typeface="Arial"/>
                <a:ea typeface="Arial"/>
                <a:cs typeface="Arial"/>
                <a:sym typeface="Arial"/>
              </a:rPr>
              <a:t>AI for Developers | 30X</a:t>
            </a:r>
            <a:endParaRPr/>
          </a:p>
        </p:txBody>
      </p:sp>
      <p:sp>
        <p:nvSpPr>
          <p:cNvPr id="122" name="Google Shape;122;p3"/>
          <p:cNvSpPr txBox="1"/>
          <p:nvPr/>
        </p:nvSpPr>
        <p:spPr>
          <a:xfrm>
            <a:off x="8549640" y="4941101"/>
            <a:ext cx="457200" cy="11215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790">
                <a:solidFill>
                  <a:srgbClr val="666666"/>
                </a:solidFill>
                <a:latin typeface="Arial"/>
                <a:ea typeface="Arial"/>
                <a:cs typeface="Arial"/>
                <a:sym typeface="Arial"/>
              </a:rPr>
              <a:t>5</a:t>
            </a:r>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D0D0D"/>
        </a:solidFill>
      </p:bgPr>
    </p:bg>
    <p:spTree>
      <p:nvGrpSpPr>
        <p:cNvPr id="1" name=""/>
        <p:cNvGrpSpPr/>
        <p:nvPr/>
      </p:nvGrpSpPr>
      <p:grpSpPr/>
      <p:sp>
        <p:nvSpPr>
          <p:cNvPr id="335" name="Google Shape;335;p14"/>
          <p:cNvSpPr/>
          <p:nvPr/>
        </p:nvSpPr>
        <p:spPr>
          <a:xfrm>
            <a:off x="4572" y="4514"/>
            <a:ext cx="9143999" cy="64065"/>
          </a:xfrm>
          <a:prstGeom prst="rect">
            <a:avLst/>
          </a:prstGeom>
          <a:solidFill>
            <a:srgbClr val="C8E64D"/>
          </a:solidFill>
          <a:ln cap="flat" cmpd="sng" w="12700">
            <a:solidFill>
              <a:srgbClr val="C8E64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336" name="Google Shape;336;p14"/>
          <p:cNvCxnSpPr/>
          <p:nvPr/>
        </p:nvCxnSpPr>
        <p:spPr>
          <a:xfrm>
            <a:off x="365759" y="759586"/>
            <a:ext cx="4389120" cy="0"/>
          </a:xfrm>
          <a:prstGeom prst="straightConnector1">
            <a:avLst/>
          </a:prstGeom>
          <a:noFill/>
          <a:ln cap="flat" cmpd="sng" w="19050">
            <a:solidFill>
              <a:srgbClr val="C8E64D"/>
            </a:solidFill>
            <a:prstDash val="solid"/>
            <a:round/>
            <a:headEnd len="sm" w="sm" type="none"/>
            <a:tailEnd len="sm" w="sm" type="none"/>
          </a:ln>
          <a:effectLst>
            <a:outerShdw blurRad="40000" rotWithShape="0" dir="5400000" dist="20000">
              <a:srgbClr val="000000">
                <a:alpha val="38039"/>
              </a:srgbClr>
            </a:outerShdw>
          </a:effectLst>
        </p:spPr>
      </p:cxnSp>
      <p:pic>
        <p:nvPicPr>
          <p:cNvPr descr="image.png" id="345" name="Google Shape;345;p14"/>
          <p:cNvPicPr preferRelativeResize="0"/>
          <p:nvPr/>
        </p:nvPicPr>
        <p:blipFill rotWithShape="1">
          <a:blip r:embed="rId2">
            <a:alphaModFix/>
          </a:blip>
          <a:srcRect b="0" l="0" r="0" t="0"/>
          <a:stretch/>
        </p:blipFill>
        <p:spPr>
          <a:xfrm>
            <a:off x="7772400" y="91566"/>
            <a:ext cx="1170432" cy="658368"/>
          </a:xfrm>
          <a:prstGeom prst="rect">
            <a:avLst/>
          </a:prstGeom>
          <a:noFill/>
          <a:ln>
            <a:noFill/>
          </a:ln>
        </p:spPr>
      </p:pic>
      <p:sp>
        <p:nvSpPr>
          <p:cNvPr id="346" name="Google Shape;346;p14"/>
          <p:cNvSpPr txBox="1"/>
          <p:nvPr/>
        </p:nvSpPr>
        <p:spPr>
          <a:xfrm>
            <a:off x="320357" y="4940472"/>
            <a:ext cx="1263005" cy="11250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90">
                <a:solidFill>
                  <a:srgbClr val="666666"/>
                </a:solidFill>
                <a:latin typeface="Arial"/>
                <a:ea typeface="Arial"/>
                <a:cs typeface="Arial"/>
                <a:sym typeface="Arial"/>
              </a:rPr>
              <a:t>AI for Developers | 30X</a:t>
            </a:r>
            <a:endParaRPr/>
          </a:p>
        </p:txBody>
      </p:sp>
      <p:sp>
        <p:nvSpPr>
          <p:cNvPr id="347" name="Google Shape;347;p14"/>
          <p:cNvSpPr txBox="1"/>
          <p:nvPr/>
        </p:nvSpPr>
        <p:spPr>
          <a:xfrm>
            <a:off x="8549640" y="4940472"/>
            <a:ext cx="457200" cy="11250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790">
                <a:solidFill>
                  <a:srgbClr val="666666"/>
                </a:solidFill>
                <a:latin typeface="Arial"/>
                <a:ea typeface="Arial"/>
                <a:cs typeface="Arial"/>
                <a:sym typeface="Arial"/>
              </a:rPr>
              <a:t>6</a:t>
            </a:r>
            <a:endParaRPr/>
          </a:p>
        </p:txBody>
      </p:sp>
      <p:sp>
        <p:nvSpPr>
          <p:cNvPr id="348" name="Google Shape;348;p14"/>
          <p:cNvSpPr txBox="1"/>
          <p:nvPr/>
        </p:nvSpPr>
        <p:spPr>
          <a:xfrm>
            <a:off x="366077" y="236955"/>
            <a:ext cx="7223760" cy="3171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240">
                <a:solidFill>
                  <a:srgbClr val="FFFFFF"/>
                </a:solidFill>
                <a:latin typeface="Arial"/>
                <a:ea typeface="Arial"/>
                <a:cs typeface="Arial"/>
                <a:sym typeface="Arial"/>
              </a:rPr>
              <a:t>El Product Vision Board</a:t>
            </a:r>
            <a:endParaRPr/>
          </a:p>
        </p:txBody>
      </p:sp>
      <p:sp>
        <p:nvSpPr>
          <p:cNvPr id="349" name="Rectangle 348"/>
          <p:cNvSpPr/>
          <p:nvPr/>
        </p:nvSpPr>
        <p:spPr>
          <a:xfrm>
            <a:off x="365760" y="896112"/>
            <a:ext cx="8412480" cy="658368"/>
          </a:xfrm>
          <a:prstGeom prst="rect">
            <a:avLst/>
          </a:prstGeom>
          <a:solidFill>
            <a:srgbClr val="1A1A1A"/>
          </a:solidFill>
          <a:ln w="12700">
            <a:solidFill>
              <a:srgbClr val="C8E6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0" name="TextBox 349"/>
          <p:cNvSpPr txBox="1"/>
          <p:nvPr/>
        </p:nvSpPr>
        <p:spPr>
          <a:xfrm>
            <a:off x="548640" y="950976"/>
            <a:ext cx="1280160" cy="228600"/>
          </a:xfrm>
          <a:prstGeom prst="rect">
            <a:avLst/>
          </a:prstGeom>
          <a:noFill/>
        </p:spPr>
        <p:txBody>
          <a:bodyPr wrap="square" lIns="0" rIns="0" tIns="0" bIns="0" anchor="t">
            <a:spAutoFit/>
          </a:bodyPr>
          <a:lstStyle/>
          <a:p>
            <a:pPr algn="l">
              <a:spcAft>
                <a:spcPts val="400"/>
              </a:spcAft>
            </a:pPr>
            <a:r>
              <a:rPr sz="900" b="1" i="0">
                <a:solidFill>
                  <a:srgbClr val="C8E64D"/>
                </a:solidFill>
                <a:latin typeface="Arial"/>
              </a:rPr>
              <a:t>VISIÓN</a:t>
            </a:r>
          </a:p>
        </p:txBody>
      </p:sp>
      <p:sp>
        <p:nvSpPr>
          <p:cNvPr id="351" name="TextBox 350"/>
          <p:cNvSpPr txBox="1"/>
          <p:nvPr/>
        </p:nvSpPr>
        <p:spPr>
          <a:xfrm>
            <a:off x="548640" y="1170432"/>
            <a:ext cx="8046720" cy="365760"/>
          </a:xfrm>
          <a:prstGeom prst="rect">
            <a:avLst/>
          </a:prstGeom>
          <a:noFill/>
        </p:spPr>
        <p:txBody>
          <a:bodyPr wrap="square" lIns="0" rIns="0" tIns="0" bIns="0" anchor="t">
            <a:spAutoFit/>
          </a:bodyPr>
          <a:lstStyle/>
          <a:p>
            <a:pPr algn="l">
              <a:spcAft>
                <a:spcPts val="400"/>
              </a:spcAft>
            </a:pPr>
            <a:r>
              <a:rPr sz="1100" b="0" i="0">
                <a:solidFill>
                  <a:srgbClr val="FFFFFF"/>
                </a:solidFill>
                <a:latin typeface="Arial"/>
              </a:rPr>
              <a:t>Que cualquier persona en Latinoamérica compre café de especialidad de microtostadores con la misma facilidad que café de supermercado.</a:t>
            </a:r>
          </a:p>
        </p:txBody>
      </p:sp>
      <p:sp>
        <p:nvSpPr>
          <p:cNvPr id="352" name="Rectangle 351"/>
          <p:cNvSpPr/>
          <p:nvPr/>
        </p:nvSpPr>
        <p:spPr>
          <a:xfrm>
            <a:off x="365760" y="1664208"/>
            <a:ext cx="2034540" cy="21579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3" name="TextBox 352"/>
          <p:cNvSpPr txBox="1"/>
          <p:nvPr/>
        </p:nvSpPr>
        <p:spPr>
          <a:xfrm>
            <a:off x="502920" y="1755648"/>
            <a:ext cx="1760220" cy="228600"/>
          </a:xfrm>
          <a:prstGeom prst="rect">
            <a:avLst/>
          </a:prstGeom>
          <a:noFill/>
        </p:spPr>
        <p:txBody>
          <a:bodyPr wrap="square" lIns="0" rIns="0" tIns="0" bIns="0" anchor="t">
            <a:spAutoFit/>
          </a:bodyPr>
          <a:lstStyle/>
          <a:p>
            <a:pPr algn="l">
              <a:spcAft>
                <a:spcPts val="400"/>
              </a:spcAft>
            </a:pPr>
            <a:r>
              <a:rPr sz="900" b="1" i="0">
                <a:solidFill>
                  <a:srgbClr val="C8E64D"/>
                </a:solidFill>
                <a:latin typeface="Arial"/>
              </a:rPr>
              <a:t>USUARIOS</a:t>
            </a:r>
          </a:p>
        </p:txBody>
      </p:sp>
      <p:sp>
        <p:nvSpPr>
          <p:cNvPr id="354" name="TextBox 353"/>
          <p:cNvSpPr txBox="1"/>
          <p:nvPr/>
        </p:nvSpPr>
        <p:spPr>
          <a:xfrm>
            <a:off x="502920" y="1984248"/>
            <a:ext cx="1760220" cy="274320"/>
          </a:xfrm>
          <a:prstGeom prst="rect">
            <a:avLst/>
          </a:prstGeom>
          <a:noFill/>
        </p:spPr>
        <p:txBody>
          <a:bodyPr wrap="square" lIns="0" rIns="0" tIns="0" bIns="0" anchor="t">
            <a:spAutoFit/>
          </a:bodyPr>
          <a:lstStyle/>
          <a:p>
            <a:pPr algn="l">
              <a:spcAft>
                <a:spcPts val="400"/>
              </a:spcAft>
            </a:pPr>
            <a:r>
              <a:rPr sz="950" b="0" i="1">
                <a:solidFill>
                  <a:srgbClr val="A6A6A6"/>
                </a:solidFill>
                <a:latin typeface="Arial"/>
              </a:rPr>
              <a:t>¿Para quién es?</a:t>
            </a:r>
          </a:p>
        </p:txBody>
      </p:sp>
      <p:sp>
        <p:nvSpPr>
          <p:cNvPr id="355" name="TextBox 354"/>
          <p:cNvSpPr txBox="1"/>
          <p:nvPr/>
        </p:nvSpPr>
        <p:spPr>
          <a:xfrm>
            <a:off x="502920" y="2377440"/>
            <a:ext cx="1760220" cy="1371600"/>
          </a:xfrm>
          <a:prstGeom prst="rect">
            <a:avLst/>
          </a:prstGeom>
          <a:noFill/>
        </p:spPr>
        <p:txBody>
          <a:bodyPr wrap="square" lIns="0" rIns="0" tIns="0" bIns="0" anchor="t">
            <a:spAutoFit/>
          </a:bodyPr>
          <a:lstStyle/>
          <a:p>
            <a:pPr algn="l">
              <a:spcAft>
                <a:spcPts val="600"/>
              </a:spcAft>
            </a:pPr>
            <a:r>
              <a:rPr sz="1000" b="0" i="0">
                <a:solidFill>
                  <a:srgbClr val="FFFFFF"/>
                </a:solidFill>
                <a:latin typeface="Arial"/>
              </a:rPr>
              <a:t>· Bebedor curioso, 25–40 años, 1–2 bolsas al mes</a:t>
            </a:r>
          </a:p>
          <a:p>
            <a:pPr algn="l">
              <a:spcAft>
                <a:spcPts val="600"/>
              </a:spcAft>
            </a:pPr>
            <a:r>
              <a:rPr sz="1000" b="0" i="0">
                <a:solidFill>
                  <a:srgbClr val="FFFFFF"/>
                </a:solidFill>
                <a:latin typeface="Arial"/>
              </a:rPr>
              <a:t>· Microtostador sin tienda en línea</a:t>
            </a:r>
          </a:p>
        </p:txBody>
      </p:sp>
      <p:sp>
        <p:nvSpPr>
          <p:cNvPr id="356" name="Rectangle 355"/>
          <p:cNvSpPr/>
          <p:nvPr/>
        </p:nvSpPr>
        <p:spPr>
          <a:xfrm>
            <a:off x="2491740" y="1664208"/>
            <a:ext cx="2034540" cy="21579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7" name="TextBox 356"/>
          <p:cNvSpPr txBox="1"/>
          <p:nvPr/>
        </p:nvSpPr>
        <p:spPr>
          <a:xfrm>
            <a:off x="2628900" y="1755648"/>
            <a:ext cx="1760220" cy="228600"/>
          </a:xfrm>
          <a:prstGeom prst="rect">
            <a:avLst/>
          </a:prstGeom>
          <a:noFill/>
        </p:spPr>
        <p:txBody>
          <a:bodyPr wrap="square" lIns="0" rIns="0" tIns="0" bIns="0" anchor="t">
            <a:spAutoFit/>
          </a:bodyPr>
          <a:lstStyle/>
          <a:p>
            <a:pPr algn="l">
              <a:spcAft>
                <a:spcPts val="400"/>
              </a:spcAft>
            </a:pPr>
            <a:r>
              <a:rPr sz="900" b="1" i="0">
                <a:solidFill>
                  <a:srgbClr val="C8E64D"/>
                </a:solidFill>
                <a:latin typeface="Arial"/>
              </a:rPr>
              <a:t>NECESIDADES</a:t>
            </a:r>
          </a:p>
        </p:txBody>
      </p:sp>
      <p:sp>
        <p:nvSpPr>
          <p:cNvPr id="358" name="TextBox 357"/>
          <p:cNvSpPr txBox="1"/>
          <p:nvPr/>
        </p:nvSpPr>
        <p:spPr>
          <a:xfrm>
            <a:off x="2628900" y="1984248"/>
            <a:ext cx="1760220" cy="274320"/>
          </a:xfrm>
          <a:prstGeom prst="rect">
            <a:avLst/>
          </a:prstGeom>
          <a:noFill/>
        </p:spPr>
        <p:txBody>
          <a:bodyPr wrap="square" lIns="0" rIns="0" tIns="0" bIns="0" anchor="t">
            <a:spAutoFit/>
          </a:bodyPr>
          <a:lstStyle/>
          <a:p>
            <a:pPr algn="l">
              <a:spcAft>
                <a:spcPts val="400"/>
              </a:spcAft>
            </a:pPr>
            <a:r>
              <a:rPr sz="950" b="0" i="1">
                <a:solidFill>
                  <a:srgbClr val="A6A6A6"/>
                </a:solidFill>
                <a:latin typeface="Arial"/>
              </a:rPr>
              <a:t>¿Qué problema le resuelves?</a:t>
            </a:r>
          </a:p>
        </p:txBody>
      </p:sp>
      <p:sp>
        <p:nvSpPr>
          <p:cNvPr id="359" name="TextBox 358"/>
          <p:cNvSpPr txBox="1"/>
          <p:nvPr/>
        </p:nvSpPr>
        <p:spPr>
          <a:xfrm>
            <a:off x="2628900" y="2377440"/>
            <a:ext cx="1760220" cy="1371600"/>
          </a:xfrm>
          <a:prstGeom prst="rect">
            <a:avLst/>
          </a:prstGeom>
          <a:noFill/>
        </p:spPr>
        <p:txBody>
          <a:bodyPr wrap="square" lIns="0" rIns="0" tIns="0" bIns="0" anchor="t">
            <a:spAutoFit/>
          </a:bodyPr>
          <a:lstStyle/>
          <a:p>
            <a:pPr algn="l">
              <a:spcAft>
                <a:spcPts val="600"/>
              </a:spcAft>
            </a:pPr>
            <a:r>
              <a:rPr sz="1000" b="0" i="0">
                <a:solidFill>
                  <a:srgbClr val="FFFFFF"/>
                </a:solidFill>
                <a:latin typeface="Arial"/>
              </a:rPr>
              <a:t>· Entender qué compra, sin jerga</a:t>
            </a:r>
          </a:p>
          <a:p>
            <a:pPr algn="l">
              <a:spcAft>
                <a:spcPts val="600"/>
              </a:spcAft>
            </a:pPr>
            <a:r>
              <a:rPr sz="1000" b="0" i="0">
                <a:solidFill>
                  <a:srgbClr val="FFFFFF"/>
                </a:solidFill>
                <a:latin typeface="Arial"/>
              </a:rPr>
              <a:t>· Saber el total real antes de pagar</a:t>
            </a:r>
          </a:p>
        </p:txBody>
      </p:sp>
      <p:sp>
        <p:nvSpPr>
          <p:cNvPr id="360" name="Rectangle 359"/>
          <p:cNvSpPr/>
          <p:nvPr/>
        </p:nvSpPr>
        <p:spPr>
          <a:xfrm>
            <a:off x="4617720" y="1664208"/>
            <a:ext cx="2034540" cy="21579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1" name="TextBox 360"/>
          <p:cNvSpPr txBox="1"/>
          <p:nvPr/>
        </p:nvSpPr>
        <p:spPr>
          <a:xfrm>
            <a:off x="4754880" y="1755648"/>
            <a:ext cx="1760220" cy="228600"/>
          </a:xfrm>
          <a:prstGeom prst="rect">
            <a:avLst/>
          </a:prstGeom>
          <a:noFill/>
        </p:spPr>
        <p:txBody>
          <a:bodyPr wrap="square" lIns="0" rIns="0" tIns="0" bIns="0" anchor="t">
            <a:spAutoFit/>
          </a:bodyPr>
          <a:lstStyle/>
          <a:p>
            <a:pPr algn="l">
              <a:spcAft>
                <a:spcPts val="400"/>
              </a:spcAft>
            </a:pPr>
            <a:r>
              <a:rPr sz="900" b="1" i="0">
                <a:solidFill>
                  <a:srgbClr val="C8E64D"/>
                </a:solidFill>
                <a:latin typeface="Arial"/>
              </a:rPr>
              <a:t>PRODUCTO</a:t>
            </a:r>
          </a:p>
        </p:txBody>
      </p:sp>
      <p:sp>
        <p:nvSpPr>
          <p:cNvPr id="362" name="TextBox 361"/>
          <p:cNvSpPr txBox="1"/>
          <p:nvPr/>
        </p:nvSpPr>
        <p:spPr>
          <a:xfrm>
            <a:off x="4754880" y="1984248"/>
            <a:ext cx="1760220" cy="274320"/>
          </a:xfrm>
          <a:prstGeom prst="rect">
            <a:avLst/>
          </a:prstGeom>
          <a:noFill/>
        </p:spPr>
        <p:txBody>
          <a:bodyPr wrap="square" lIns="0" rIns="0" tIns="0" bIns="0" anchor="t">
            <a:spAutoFit/>
          </a:bodyPr>
          <a:lstStyle/>
          <a:p>
            <a:pPr algn="l">
              <a:spcAft>
                <a:spcPts val="400"/>
              </a:spcAft>
            </a:pPr>
            <a:r>
              <a:rPr sz="950" b="0" i="1">
                <a:solidFill>
                  <a:srgbClr val="A6A6A6"/>
                </a:solidFill>
                <a:latin typeface="Arial"/>
              </a:rPr>
              <a:t>¿Qué construyes para eso?</a:t>
            </a:r>
          </a:p>
        </p:txBody>
      </p:sp>
      <p:sp>
        <p:nvSpPr>
          <p:cNvPr id="363" name="TextBox 362"/>
          <p:cNvSpPr txBox="1"/>
          <p:nvPr/>
        </p:nvSpPr>
        <p:spPr>
          <a:xfrm>
            <a:off x="4754880" y="2377440"/>
            <a:ext cx="1760220" cy="1371600"/>
          </a:xfrm>
          <a:prstGeom prst="rect">
            <a:avLst/>
          </a:prstGeom>
          <a:noFill/>
        </p:spPr>
        <p:txBody>
          <a:bodyPr wrap="square" lIns="0" rIns="0" tIns="0" bIns="0" anchor="t">
            <a:spAutoFit/>
          </a:bodyPr>
          <a:lstStyle/>
          <a:p>
            <a:pPr algn="l">
              <a:spcAft>
                <a:spcPts val="600"/>
              </a:spcAft>
            </a:pPr>
            <a:r>
              <a:rPr sz="1000" b="0" i="0">
                <a:solidFill>
                  <a:srgbClr val="FFFFFF"/>
                </a:solidFill>
                <a:latin typeface="Arial"/>
              </a:rPr>
              <a:t>· Catálogo con notas de cata</a:t>
            </a:r>
          </a:p>
          <a:p>
            <a:pPr algn="l">
              <a:spcAft>
                <a:spcPts val="600"/>
              </a:spcAft>
            </a:pPr>
            <a:r>
              <a:rPr sz="1000" b="0" i="0">
                <a:solidFill>
                  <a:srgbClr val="FFFFFF"/>
                </a:solidFill>
                <a:latin typeface="Arial"/>
              </a:rPr>
              <a:t>· Carrito con total en vivo</a:t>
            </a:r>
          </a:p>
          <a:p>
            <a:pPr algn="l">
              <a:spcAft>
                <a:spcPts val="600"/>
              </a:spcAft>
            </a:pPr>
            <a:r>
              <a:rPr sz="1000" b="0" i="0">
                <a:solidFill>
                  <a:srgbClr val="FFFFFF"/>
                </a:solidFill>
                <a:latin typeface="Arial"/>
              </a:rPr>
              <a:t>· Cupón de bienvenida</a:t>
            </a:r>
          </a:p>
        </p:txBody>
      </p:sp>
      <p:sp>
        <p:nvSpPr>
          <p:cNvPr id="364" name="Rectangle 363"/>
          <p:cNvSpPr/>
          <p:nvPr/>
        </p:nvSpPr>
        <p:spPr>
          <a:xfrm>
            <a:off x="6743700" y="1664208"/>
            <a:ext cx="2034540" cy="21579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5" name="TextBox 364"/>
          <p:cNvSpPr txBox="1"/>
          <p:nvPr/>
        </p:nvSpPr>
        <p:spPr>
          <a:xfrm>
            <a:off x="6880860" y="1755648"/>
            <a:ext cx="1760220" cy="228600"/>
          </a:xfrm>
          <a:prstGeom prst="rect">
            <a:avLst/>
          </a:prstGeom>
          <a:noFill/>
        </p:spPr>
        <p:txBody>
          <a:bodyPr wrap="square" lIns="0" rIns="0" tIns="0" bIns="0" anchor="t">
            <a:spAutoFit/>
          </a:bodyPr>
          <a:lstStyle/>
          <a:p>
            <a:pPr algn="l">
              <a:spcAft>
                <a:spcPts val="400"/>
              </a:spcAft>
            </a:pPr>
            <a:r>
              <a:rPr sz="900" b="1" i="0">
                <a:solidFill>
                  <a:srgbClr val="C8E64D"/>
                </a:solidFill>
                <a:latin typeface="Arial"/>
              </a:rPr>
              <a:t>OBJETIVOS</a:t>
            </a:r>
          </a:p>
        </p:txBody>
      </p:sp>
      <p:sp>
        <p:nvSpPr>
          <p:cNvPr id="366" name="TextBox 365"/>
          <p:cNvSpPr txBox="1"/>
          <p:nvPr/>
        </p:nvSpPr>
        <p:spPr>
          <a:xfrm>
            <a:off x="6880860" y="1984248"/>
            <a:ext cx="1760220" cy="274320"/>
          </a:xfrm>
          <a:prstGeom prst="rect">
            <a:avLst/>
          </a:prstGeom>
          <a:noFill/>
        </p:spPr>
        <p:txBody>
          <a:bodyPr wrap="square" lIns="0" rIns="0" tIns="0" bIns="0" anchor="t">
            <a:spAutoFit/>
          </a:bodyPr>
          <a:lstStyle/>
          <a:p>
            <a:pPr algn="l">
              <a:spcAft>
                <a:spcPts val="400"/>
              </a:spcAft>
            </a:pPr>
            <a:r>
              <a:rPr sz="950" b="0" i="1">
                <a:solidFill>
                  <a:srgbClr val="A6A6A6"/>
                </a:solidFill>
                <a:latin typeface="Arial"/>
              </a:rPr>
              <a:t>¿Cómo sabrás que funciona?</a:t>
            </a:r>
          </a:p>
        </p:txBody>
      </p:sp>
      <p:sp>
        <p:nvSpPr>
          <p:cNvPr id="367" name="TextBox 366"/>
          <p:cNvSpPr txBox="1"/>
          <p:nvPr/>
        </p:nvSpPr>
        <p:spPr>
          <a:xfrm>
            <a:off x="6880860" y="2377440"/>
            <a:ext cx="1760220" cy="1371600"/>
          </a:xfrm>
          <a:prstGeom prst="rect">
            <a:avLst/>
          </a:prstGeom>
          <a:noFill/>
        </p:spPr>
        <p:txBody>
          <a:bodyPr wrap="square" lIns="0" rIns="0" tIns="0" bIns="0" anchor="t">
            <a:spAutoFit/>
          </a:bodyPr>
          <a:lstStyle/>
          <a:p>
            <a:pPr algn="l">
              <a:spcAft>
                <a:spcPts val="600"/>
              </a:spcAft>
            </a:pPr>
            <a:r>
              <a:rPr sz="1000" b="0" i="0">
                <a:solidFill>
                  <a:srgbClr val="FFFFFF"/>
                </a:solidFill>
                <a:latin typeface="Arial"/>
              </a:rPr>
              <a:t>· 100 pedidos el primer mes</a:t>
            </a:r>
          </a:p>
          <a:p>
            <a:pPr algn="l">
              <a:spcAft>
                <a:spcPts val="600"/>
              </a:spcAft>
            </a:pPr>
            <a:r>
              <a:rPr sz="1000" b="0" i="0">
                <a:solidFill>
                  <a:srgbClr val="FFFFFF"/>
                </a:solidFill>
                <a:latin typeface="Arial"/>
              </a:rPr>
              <a:t>· Ticket promedio ≥ $600</a:t>
            </a:r>
          </a:p>
          <a:p>
            <a:pPr algn="l">
              <a:spcAft>
                <a:spcPts val="600"/>
              </a:spcAft>
            </a:pPr>
            <a:r>
              <a:rPr sz="1000" b="0" i="0">
                <a:solidFill>
                  <a:srgbClr val="FFFFFF"/>
                </a:solidFill>
                <a:latin typeface="Arial"/>
              </a:rPr>
              <a:t>· Conversión ≥ 2 %</a:t>
            </a:r>
          </a:p>
        </p:txBody>
      </p:sp>
      <p:sp>
        <p:nvSpPr>
          <p:cNvPr id="368" name="Rectangle 367"/>
          <p:cNvSpPr/>
          <p:nvPr/>
        </p:nvSpPr>
        <p:spPr>
          <a:xfrm>
            <a:off x="365760" y="3931920"/>
            <a:ext cx="8412480" cy="685800"/>
          </a:xfrm>
          <a:prstGeom prst="rect">
            <a:avLst/>
          </a:prstGeom>
          <a:solidFill>
            <a:srgbClr val="23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9" name="TextBox 368"/>
          <p:cNvSpPr txBox="1"/>
          <p:nvPr/>
        </p:nvSpPr>
        <p:spPr>
          <a:xfrm>
            <a:off x="548640" y="3931920"/>
            <a:ext cx="8046720" cy="685800"/>
          </a:xfrm>
          <a:prstGeom prst="rect">
            <a:avLst/>
          </a:prstGeom>
          <a:noFill/>
        </p:spPr>
        <p:txBody>
          <a:bodyPr wrap="square" lIns="0" rIns="0" tIns="0" bIns="0" anchor="ctr">
            <a:spAutoFit/>
          </a:bodyPr>
          <a:lstStyle/>
          <a:p>
            <a:pPr algn="l">
              <a:spcAft>
                <a:spcPts val="400"/>
              </a:spcAft>
            </a:pPr>
            <a:r>
              <a:rPr sz="1100" b="0" i="0">
                <a:solidFill>
                  <a:srgbClr val="FFFFFF"/>
                </a:solidFill>
                <a:latin typeface="Arial"/>
              </a:rPr>
              <a:t>Para trabajar con un agente, Grano agrega tres campos: </a:t>
            </a:r>
            <a:r>
              <a:rPr sz="1100" b="1" i="0">
                <a:solidFill>
                  <a:srgbClr val="C8E64D"/>
                </a:solidFill>
                <a:latin typeface="Arial"/>
              </a:rPr>
              <a:t>reglas de negocio</a:t>
            </a:r>
            <a:r>
              <a:rPr sz="1100" b="0" i="0">
                <a:solidFill>
                  <a:srgbClr val="FFFFFF"/>
                </a:solidFill>
                <a:latin typeface="Arial"/>
              </a:rPr>
              <a:t> (envío $99, gratis desde $600, cupón 10 %), </a:t>
            </a:r>
            <a:r>
              <a:rPr sz="1100" b="1" i="0">
                <a:solidFill>
                  <a:srgbClr val="C8E64D"/>
                </a:solidFill>
                <a:latin typeface="Arial"/>
              </a:rPr>
              <a:t>métricas</a:t>
            </a:r>
            <a:r>
              <a:rPr sz="1100" b="0" i="0">
                <a:solidFill>
                  <a:srgbClr val="FFFFFF"/>
                </a:solidFill>
                <a:latin typeface="Arial"/>
              </a:rPr>
              <a:t> y </a:t>
            </a:r>
            <a:r>
              <a:rPr sz="1100" b="1" i="0">
                <a:solidFill>
                  <a:srgbClr val="C8E64D"/>
                </a:solidFill>
                <a:latin typeface="Arial"/>
              </a:rPr>
              <a:t>fuera de alcance</a:t>
            </a:r>
            <a:r>
              <a:rPr sz="1100" b="0" i="0">
                <a:solidFill>
                  <a:srgbClr val="FFFFFF"/>
                </a:solidFill>
                <a:latin typeface="Arial"/>
              </a:rPr>
              <a: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D0D0D"/>
        </a:solidFill>
      </p:bgPr>
    </p:bg>
    <p:spTree>
      <p:nvGrpSpPr>
        <p:cNvPr id="1" name=""/>
        <p:cNvGrpSpPr/>
        <p:nvPr/>
      </p:nvGrpSpPr>
      <p:grpSpPr/>
      <p:sp>
        <p:nvSpPr>
          <p:cNvPr id="335" name="Google Shape;335;p14"/>
          <p:cNvSpPr/>
          <p:nvPr/>
        </p:nvSpPr>
        <p:spPr>
          <a:xfrm>
            <a:off x="4572" y="4514"/>
            <a:ext cx="9143999" cy="64065"/>
          </a:xfrm>
          <a:prstGeom prst="rect">
            <a:avLst/>
          </a:prstGeom>
          <a:solidFill>
            <a:srgbClr val="C8E64D"/>
          </a:solidFill>
          <a:ln cap="flat" cmpd="sng" w="12700">
            <a:solidFill>
              <a:srgbClr val="C8E64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336" name="Google Shape;336;p14"/>
          <p:cNvCxnSpPr/>
          <p:nvPr/>
        </p:nvCxnSpPr>
        <p:spPr>
          <a:xfrm>
            <a:off x="365759" y="759586"/>
            <a:ext cx="4389120" cy="0"/>
          </a:xfrm>
          <a:prstGeom prst="straightConnector1">
            <a:avLst/>
          </a:prstGeom>
          <a:noFill/>
          <a:ln cap="flat" cmpd="sng" w="19050">
            <a:solidFill>
              <a:srgbClr val="C8E64D"/>
            </a:solidFill>
            <a:prstDash val="solid"/>
            <a:round/>
            <a:headEnd len="sm" w="sm" type="none"/>
            <a:tailEnd len="sm" w="sm" type="none"/>
          </a:ln>
          <a:effectLst>
            <a:outerShdw blurRad="40000" rotWithShape="0" dir="5400000" dist="20000">
              <a:srgbClr val="000000">
                <a:alpha val="38039"/>
              </a:srgbClr>
            </a:outerShdw>
          </a:effectLst>
        </p:spPr>
      </p:cxnSp>
      <p:pic>
        <p:nvPicPr>
          <p:cNvPr descr="image.png" id="345" name="Google Shape;345;p14"/>
          <p:cNvPicPr preferRelativeResize="0"/>
          <p:nvPr/>
        </p:nvPicPr>
        <p:blipFill rotWithShape="1">
          <a:blip r:embed="rId2">
            <a:alphaModFix/>
          </a:blip>
          <a:srcRect b="0" l="0" r="0" t="0"/>
          <a:stretch/>
        </p:blipFill>
        <p:spPr>
          <a:xfrm>
            <a:off x="7772400" y="91566"/>
            <a:ext cx="1170432" cy="658368"/>
          </a:xfrm>
          <a:prstGeom prst="rect">
            <a:avLst/>
          </a:prstGeom>
          <a:noFill/>
          <a:ln>
            <a:noFill/>
          </a:ln>
        </p:spPr>
      </p:pic>
      <p:sp>
        <p:nvSpPr>
          <p:cNvPr id="346" name="Google Shape;346;p14"/>
          <p:cNvSpPr txBox="1"/>
          <p:nvPr/>
        </p:nvSpPr>
        <p:spPr>
          <a:xfrm>
            <a:off x="320357" y="4940472"/>
            <a:ext cx="1263005" cy="11250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90">
                <a:solidFill>
                  <a:srgbClr val="666666"/>
                </a:solidFill>
                <a:latin typeface="Arial"/>
                <a:ea typeface="Arial"/>
                <a:cs typeface="Arial"/>
                <a:sym typeface="Arial"/>
              </a:rPr>
              <a:t>AI for Developers | 30X</a:t>
            </a:r>
            <a:endParaRPr/>
          </a:p>
        </p:txBody>
      </p:sp>
      <p:sp>
        <p:nvSpPr>
          <p:cNvPr id="347" name="Google Shape;347;p14"/>
          <p:cNvSpPr txBox="1"/>
          <p:nvPr/>
        </p:nvSpPr>
        <p:spPr>
          <a:xfrm>
            <a:off x="8549640" y="4940472"/>
            <a:ext cx="457200" cy="11250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790">
                <a:solidFill>
                  <a:srgbClr val="666666"/>
                </a:solidFill>
                <a:latin typeface="Arial"/>
                <a:ea typeface="Arial"/>
                <a:cs typeface="Arial"/>
                <a:sym typeface="Arial"/>
              </a:rPr>
              <a:t>7</a:t>
            </a:r>
            <a:endParaRPr/>
          </a:p>
        </p:txBody>
      </p:sp>
      <p:sp>
        <p:nvSpPr>
          <p:cNvPr id="348" name="Google Shape;348;p14"/>
          <p:cNvSpPr txBox="1"/>
          <p:nvPr/>
        </p:nvSpPr>
        <p:spPr>
          <a:xfrm>
            <a:off x="366077" y="236955"/>
            <a:ext cx="7223760" cy="3171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240">
                <a:solidFill>
                  <a:srgbClr val="FFFFFF"/>
                </a:solidFill>
                <a:latin typeface="Arial"/>
                <a:ea typeface="Arial"/>
                <a:cs typeface="Arial"/>
                <a:sym typeface="Arial"/>
              </a:rPr>
              <a:t>¿Por qué importa más con un agente?</a:t>
            </a:r>
            <a:endParaRPr/>
          </a:p>
        </p:txBody>
      </p:sp>
      <p:sp>
        <p:nvSpPr>
          <p:cNvPr id="349" name="Rectangle 348"/>
          <p:cNvSpPr/>
          <p:nvPr/>
        </p:nvSpPr>
        <p:spPr>
          <a:xfrm>
            <a:off x="365760" y="896112"/>
            <a:ext cx="4114800" cy="29718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0" name="TextBox 349"/>
          <p:cNvSpPr txBox="1"/>
          <p:nvPr/>
        </p:nvSpPr>
        <p:spPr>
          <a:xfrm>
            <a:off x="548640" y="1005840"/>
            <a:ext cx="3749039" cy="274320"/>
          </a:xfrm>
          <a:prstGeom prst="rect">
            <a:avLst/>
          </a:prstGeom>
          <a:noFill/>
        </p:spPr>
        <p:txBody>
          <a:bodyPr wrap="square" lIns="0" rIns="0" tIns="0" bIns="0" anchor="t">
            <a:spAutoFit/>
          </a:bodyPr>
          <a:lstStyle/>
          <a:p>
            <a:pPr algn="l">
              <a:spcAft>
                <a:spcPts val="400"/>
              </a:spcAft>
            </a:pPr>
            <a:r>
              <a:rPr sz="1300" b="1" i="0">
                <a:solidFill>
                  <a:srgbClr val="FFFFFF"/>
                </a:solidFill>
                <a:latin typeface="Arial"/>
              </a:rPr>
              <a:t>Sin PVB</a:t>
            </a:r>
          </a:p>
        </p:txBody>
      </p:sp>
      <p:sp>
        <p:nvSpPr>
          <p:cNvPr id="351" name="Rectangle 350"/>
          <p:cNvSpPr/>
          <p:nvPr/>
        </p:nvSpPr>
        <p:spPr>
          <a:xfrm>
            <a:off x="548640" y="1417320"/>
            <a:ext cx="3749039" cy="365760"/>
          </a:xfrm>
          <a:prstGeom prst="rect">
            <a:avLst/>
          </a:prstGeom>
          <a:solidFill>
            <a:srgbClr val="12121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2" name="TextBox 351"/>
          <p:cNvSpPr txBox="1"/>
          <p:nvPr/>
        </p:nvSpPr>
        <p:spPr>
          <a:xfrm>
            <a:off x="640080" y="1490472"/>
            <a:ext cx="3566159" cy="219456"/>
          </a:xfrm>
          <a:prstGeom prst="rect">
            <a:avLst/>
          </a:prstGeom>
          <a:noFill/>
        </p:spPr>
        <p:txBody>
          <a:bodyPr wrap="square" lIns="0" rIns="0" tIns="0" bIns="0" anchor="t">
            <a:spAutoFit/>
          </a:bodyPr>
          <a:lstStyle/>
          <a:p>
            <a:pPr algn="l">
              <a:spcAft>
                <a:spcPts val="100"/>
              </a:spcAft>
            </a:pPr>
            <a:r>
              <a:rPr sz="900" b="0" i="0">
                <a:solidFill>
                  <a:srgbClr val="E8E8E8"/>
                </a:solidFill>
                <a:latin typeface="Courier New"/>
              </a:rPr>
              <a:t>&gt; hazme una tienda de café</a:t>
            </a:r>
          </a:p>
        </p:txBody>
      </p:sp>
      <p:sp>
        <p:nvSpPr>
          <p:cNvPr id="353" name="TextBox 352"/>
          <p:cNvSpPr txBox="1"/>
          <p:nvPr/>
        </p:nvSpPr>
        <p:spPr>
          <a:xfrm>
            <a:off x="548640" y="1965960"/>
            <a:ext cx="3749039" cy="228600"/>
          </a:xfrm>
          <a:prstGeom prst="rect">
            <a:avLst/>
          </a:prstGeom>
          <a:noFill/>
        </p:spPr>
        <p:txBody>
          <a:bodyPr wrap="square" lIns="0" rIns="0" tIns="0" bIns="0" anchor="t">
            <a:spAutoFit/>
          </a:bodyPr>
          <a:lstStyle/>
          <a:p>
            <a:pPr algn="l">
              <a:spcAft>
                <a:spcPts val="400"/>
              </a:spcAft>
            </a:pPr>
            <a:r>
              <a:rPr sz="900" b="1" i="0">
                <a:solidFill>
                  <a:srgbClr val="A6A6A6"/>
                </a:solidFill>
                <a:latin typeface="Arial"/>
              </a:rPr>
              <a:t>Resultado</a:t>
            </a:r>
          </a:p>
        </p:txBody>
      </p:sp>
      <p:sp>
        <p:nvSpPr>
          <p:cNvPr id="354" name="TextBox 353"/>
          <p:cNvSpPr txBox="1"/>
          <p:nvPr/>
        </p:nvSpPr>
        <p:spPr>
          <a:xfrm>
            <a:off x="548640" y="2240280"/>
            <a:ext cx="3749039" cy="1554480"/>
          </a:xfrm>
          <a:prstGeom prst="rect">
            <a:avLst/>
          </a:prstGeom>
          <a:noFill/>
        </p:spPr>
        <p:txBody>
          <a:bodyPr wrap="square" lIns="0" rIns="0" tIns="0" bIns="0" anchor="t">
            <a:spAutoFit/>
          </a:bodyPr>
          <a:lstStyle/>
          <a:p>
            <a:pPr algn="l">
              <a:spcAft>
                <a:spcPts val="800"/>
              </a:spcAft>
            </a:pPr>
            <a:r>
              <a:rPr sz="1100" b="0" i="0">
                <a:solidFill>
                  <a:srgbClr val="FFFFFF"/>
                </a:solidFill>
                <a:latin typeface="Arial"/>
              </a:rPr>
              <a:t>✗ Precios, envío y descuentos inventados</a:t>
            </a:r>
          </a:p>
          <a:p>
            <a:pPr algn="l">
              <a:spcAft>
                <a:spcPts val="800"/>
              </a:spcAft>
            </a:pPr>
            <a:r>
              <a:rPr sz="1100" b="0" i="0">
                <a:solidFill>
                  <a:srgbClr val="FFFFFF"/>
                </a:solidFill>
                <a:latin typeface="Arial"/>
              </a:rPr>
              <a:t>✗ Nadie puede decir si quedó bien</a:t>
            </a:r>
          </a:p>
          <a:p>
            <a:pPr algn="l">
              <a:spcAft>
                <a:spcPts val="800"/>
              </a:spcAft>
            </a:pPr>
            <a:r>
              <a:rPr sz="1100" b="0" i="0">
                <a:solidFill>
                  <a:srgbClr val="FFFFFF"/>
                </a:solidFill>
                <a:latin typeface="Arial"/>
              </a:rPr>
              <a:t>✗ Cada iteración cambia las reglas</a:t>
            </a:r>
          </a:p>
        </p:txBody>
      </p:sp>
      <p:sp>
        <p:nvSpPr>
          <p:cNvPr id="355" name="Rectangle 354"/>
          <p:cNvSpPr/>
          <p:nvPr/>
        </p:nvSpPr>
        <p:spPr>
          <a:xfrm>
            <a:off x="4663440" y="896112"/>
            <a:ext cx="4114800" cy="2971800"/>
          </a:xfrm>
          <a:prstGeom prst="rect">
            <a:avLst/>
          </a:prstGeom>
          <a:solidFill>
            <a:srgbClr val="1A1A1A"/>
          </a:solidFill>
          <a:ln w="12700">
            <a:solidFill>
              <a:srgbClr val="C8E6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6" name="TextBox 355"/>
          <p:cNvSpPr txBox="1"/>
          <p:nvPr/>
        </p:nvSpPr>
        <p:spPr>
          <a:xfrm>
            <a:off x="4846320" y="1005840"/>
            <a:ext cx="3749039" cy="274320"/>
          </a:xfrm>
          <a:prstGeom prst="rect">
            <a:avLst/>
          </a:prstGeom>
          <a:noFill/>
        </p:spPr>
        <p:txBody>
          <a:bodyPr wrap="square" lIns="0" rIns="0" tIns="0" bIns="0" anchor="t">
            <a:spAutoFit/>
          </a:bodyPr>
          <a:lstStyle/>
          <a:p>
            <a:pPr algn="l">
              <a:spcAft>
                <a:spcPts val="400"/>
              </a:spcAft>
            </a:pPr>
            <a:r>
              <a:rPr sz="1300" b="1" i="0">
                <a:solidFill>
                  <a:srgbClr val="C8E64D"/>
                </a:solidFill>
                <a:latin typeface="Arial"/>
              </a:rPr>
              <a:t>Con PVB</a:t>
            </a:r>
          </a:p>
        </p:txBody>
      </p:sp>
      <p:sp>
        <p:nvSpPr>
          <p:cNvPr id="357" name="Rectangle 356"/>
          <p:cNvSpPr/>
          <p:nvPr/>
        </p:nvSpPr>
        <p:spPr>
          <a:xfrm>
            <a:off x="4846320" y="1417320"/>
            <a:ext cx="3749039" cy="365760"/>
          </a:xfrm>
          <a:prstGeom prst="rect">
            <a:avLst/>
          </a:prstGeom>
          <a:solidFill>
            <a:srgbClr val="12121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8" name="TextBox 357"/>
          <p:cNvSpPr txBox="1"/>
          <p:nvPr/>
        </p:nvSpPr>
        <p:spPr>
          <a:xfrm>
            <a:off x="4937760" y="1490472"/>
            <a:ext cx="3566159" cy="219456"/>
          </a:xfrm>
          <a:prstGeom prst="rect">
            <a:avLst/>
          </a:prstGeom>
          <a:noFill/>
        </p:spPr>
        <p:txBody>
          <a:bodyPr wrap="square" lIns="0" rIns="0" tIns="0" bIns="0" anchor="t">
            <a:spAutoFit/>
          </a:bodyPr>
          <a:lstStyle/>
          <a:p>
            <a:pPr algn="l">
              <a:spcAft>
                <a:spcPts val="100"/>
              </a:spcAft>
            </a:pPr>
            <a:r>
              <a:rPr sz="900" b="0" i="0">
                <a:solidFill>
                  <a:srgbClr val="E8E8E8"/>
                </a:solidFill>
                <a:latin typeface="Courier New"/>
              </a:rPr>
              <a:t>&gt; lee docs/pvb.md y escribe el PRD</a:t>
            </a:r>
          </a:p>
        </p:txBody>
      </p:sp>
      <p:sp>
        <p:nvSpPr>
          <p:cNvPr id="359" name="TextBox 358"/>
          <p:cNvSpPr txBox="1"/>
          <p:nvPr/>
        </p:nvSpPr>
        <p:spPr>
          <a:xfrm>
            <a:off x="4846320" y="1965960"/>
            <a:ext cx="3749039" cy="228600"/>
          </a:xfrm>
          <a:prstGeom prst="rect">
            <a:avLst/>
          </a:prstGeom>
          <a:noFill/>
        </p:spPr>
        <p:txBody>
          <a:bodyPr wrap="square" lIns="0" rIns="0" tIns="0" bIns="0" anchor="t">
            <a:spAutoFit/>
          </a:bodyPr>
          <a:lstStyle/>
          <a:p>
            <a:pPr algn="l">
              <a:spcAft>
                <a:spcPts val="400"/>
              </a:spcAft>
            </a:pPr>
            <a:r>
              <a:rPr sz="900" b="1" i="0">
                <a:solidFill>
                  <a:srgbClr val="A6A6A6"/>
                </a:solidFill>
                <a:latin typeface="Arial"/>
              </a:rPr>
              <a:t>Resultado</a:t>
            </a:r>
          </a:p>
        </p:txBody>
      </p:sp>
      <p:sp>
        <p:nvSpPr>
          <p:cNvPr id="360" name="TextBox 359"/>
          <p:cNvSpPr txBox="1"/>
          <p:nvPr/>
        </p:nvSpPr>
        <p:spPr>
          <a:xfrm>
            <a:off x="4846320" y="2240280"/>
            <a:ext cx="3749039" cy="1554480"/>
          </a:xfrm>
          <a:prstGeom prst="rect">
            <a:avLst/>
          </a:prstGeom>
          <a:noFill/>
        </p:spPr>
        <p:txBody>
          <a:bodyPr wrap="square" lIns="0" rIns="0" tIns="0" bIns="0" anchor="t">
            <a:spAutoFit/>
          </a:bodyPr>
          <a:lstStyle/>
          <a:p>
            <a:pPr algn="l">
              <a:spcAft>
                <a:spcPts val="800"/>
              </a:spcAft>
            </a:pPr>
            <a:r>
              <a:rPr sz="1100" b="0" i="0">
                <a:solidFill>
                  <a:srgbClr val="FFFFFF"/>
                </a:solidFill>
                <a:latin typeface="Arial"/>
              </a:rPr>
              <a:t>✓ Reglas explícitas: $99, gratis desde $600, 10 %</a:t>
            </a:r>
          </a:p>
          <a:p>
            <a:pPr algn="l">
              <a:spcAft>
                <a:spcPts val="800"/>
              </a:spcAft>
            </a:pPr>
            <a:r>
              <a:rPr sz="1100" b="0" i="0">
                <a:solidFill>
                  <a:srgbClr val="FFFFFF"/>
                </a:solidFill>
                <a:latin typeface="Arial"/>
              </a:rPr>
              <a:t>✓ Un caso verificable: Huila + Chiapas = $837</a:t>
            </a:r>
          </a:p>
          <a:p>
            <a:pPr algn="l">
              <a:spcAft>
                <a:spcPts val="800"/>
              </a:spcAft>
            </a:pPr>
            <a:r>
              <a:rPr sz="1100" b="0" i="0">
                <a:solidFill>
                  <a:srgbClr val="FFFFFF"/>
                </a:solidFill>
                <a:latin typeface="Arial"/>
              </a:rPr>
              <a:t>✓ Cada paso hereda el mismo contexto</a:t>
            </a:r>
          </a:p>
        </p:txBody>
      </p:sp>
      <p:sp>
        <p:nvSpPr>
          <p:cNvPr id="361" name="Rectangle 360"/>
          <p:cNvSpPr/>
          <p:nvPr/>
        </p:nvSpPr>
        <p:spPr>
          <a:xfrm>
            <a:off x="365760" y="4005072"/>
            <a:ext cx="8412480" cy="621792"/>
          </a:xfrm>
          <a:prstGeom prst="rect">
            <a:avLst/>
          </a:prstGeom>
          <a:solidFill>
            <a:srgbClr val="23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2" name="TextBox 361"/>
          <p:cNvSpPr txBox="1"/>
          <p:nvPr/>
        </p:nvSpPr>
        <p:spPr>
          <a:xfrm>
            <a:off x="548640" y="4005072"/>
            <a:ext cx="8046720" cy="621792"/>
          </a:xfrm>
          <a:prstGeom prst="rect">
            <a:avLst/>
          </a:prstGeom>
          <a:noFill/>
        </p:spPr>
        <p:txBody>
          <a:bodyPr wrap="square" lIns="0" rIns="0" tIns="0" bIns="0" anchor="ctr">
            <a:spAutoFit/>
          </a:bodyPr>
          <a:lstStyle/>
          <a:p>
            <a:pPr algn="ctr">
              <a:spcAft>
                <a:spcPts val="400"/>
              </a:spcAft>
            </a:pPr>
            <a:r>
              <a:rPr sz="1200" b="0" i="0">
                <a:solidFill>
                  <a:srgbClr val="FFFFFF"/>
                </a:solidFill>
                <a:latin typeface="Arial"/>
              </a:rPr>
              <a:t>El agente amplifica lo que le das: </a:t>
            </a:r>
            <a:r>
              <a:rPr sz="1200" b="1" i="0">
                <a:solidFill>
                  <a:srgbClr val="C8E64D"/>
                </a:solidFill>
                <a:latin typeface="Arial"/>
              </a:rPr>
              <a:t>contexto vago, producto vago</a:t>
            </a:r>
            <a:r>
              <a:rPr sz="1200" b="0" i="0">
                <a:solidFill>
                  <a:srgbClr val="FFFFFF"/>
                </a:solidFill>
                <a:latin typeface="Arial"/>
              </a:rPr>
              <a:t>. El PVB es el primer contexto que le das.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D0D0D"/>
        </a:solidFill>
      </p:bgPr>
    </p:bg>
    <p:spTree>
      <p:nvGrpSpPr>
        <p:cNvPr id="1" name=""/>
        <p:cNvGrpSpPr/>
        <p:nvPr/>
      </p:nvGrpSpPr>
      <p:grpSpPr/>
      <p:sp>
        <p:nvSpPr>
          <p:cNvPr id="117" name="Google Shape;117;p3"/>
          <p:cNvSpPr/>
          <p:nvPr/>
        </p:nvSpPr>
        <p:spPr>
          <a:xfrm>
            <a:off x="4572" y="4579"/>
            <a:ext cx="128015" cy="5152644"/>
          </a:xfrm>
          <a:prstGeom prst="rect">
            <a:avLst/>
          </a:prstGeom>
          <a:solidFill>
            <a:srgbClr val="C8E64D"/>
          </a:solidFill>
          <a:ln cap="flat" cmpd="sng" w="12700">
            <a:solidFill>
              <a:srgbClr val="C8E64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3"/>
          <p:cNvSpPr txBox="1"/>
          <p:nvPr/>
        </p:nvSpPr>
        <p:spPr>
          <a:xfrm>
            <a:off x="457834" y="737089"/>
            <a:ext cx="1381971" cy="116545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30">
                <a:solidFill>
                  <a:srgbClr val="C8E64D"/>
                </a:solidFill>
                <a:latin typeface="Arial"/>
                <a:ea typeface="Arial"/>
                <a:cs typeface="Arial"/>
                <a:sym typeface="Arial"/>
              </a:rPr>
              <a:t>02</a:t>
            </a:r>
            <a:endParaRPr/>
          </a:p>
        </p:txBody>
      </p:sp>
      <p:sp>
        <p:nvSpPr>
          <p:cNvPr id="119" name="Google Shape;119;p3"/>
          <p:cNvSpPr txBox="1"/>
          <p:nvPr/>
        </p:nvSpPr>
        <p:spPr>
          <a:xfrm>
            <a:off x="457834" y="2583813"/>
            <a:ext cx="7255061" cy="45000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80">
                <a:solidFill>
                  <a:srgbClr val="FFFFFF"/>
                </a:solidFill>
                <a:latin typeface="Arial"/>
                <a:ea typeface="Arial"/>
                <a:cs typeface="Arial"/>
                <a:sym typeface="Arial"/>
              </a:rPr>
              <a:t>Demo en vivo</a:t>
            </a:r>
            <a:endParaRPr/>
          </a:p>
        </p:txBody>
      </p:sp>
      <p:sp>
        <p:nvSpPr>
          <p:cNvPr id="120" name="Google Shape;120;p3"/>
          <p:cNvSpPr txBox="1"/>
          <p:nvPr/>
        </p:nvSpPr>
        <p:spPr>
          <a:xfrm>
            <a:off x="457834" y="3723373"/>
            <a:ext cx="7772400" cy="18422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00">
                <a:solidFill>
                  <a:srgbClr val="999999"/>
                </a:solidFill>
                <a:latin typeface="Arial"/>
                <a:ea typeface="Arial"/>
                <a:cs typeface="Arial"/>
                <a:sym typeface="Arial"/>
              </a:rPr>
              <a:t>Del PVB a producción en 30 minutos, con Claude Code</a:t>
            </a:r>
            <a:endParaRPr/>
          </a:p>
        </p:txBody>
      </p:sp>
      <p:sp>
        <p:nvSpPr>
          <p:cNvPr id="121" name="Google Shape;121;p3"/>
          <p:cNvSpPr txBox="1"/>
          <p:nvPr/>
        </p:nvSpPr>
        <p:spPr>
          <a:xfrm>
            <a:off x="320357" y="4941101"/>
            <a:ext cx="1262575" cy="11215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90">
                <a:solidFill>
                  <a:srgbClr val="666666"/>
                </a:solidFill>
                <a:latin typeface="Arial"/>
                <a:ea typeface="Arial"/>
                <a:cs typeface="Arial"/>
                <a:sym typeface="Arial"/>
              </a:rPr>
              <a:t>AI for Developers | 30X</a:t>
            </a:r>
            <a:endParaRPr/>
          </a:p>
        </p:txBody>
      </p:sp>
      <p:sp>
        <p:nvSpPr>
          <p:cNvPr id="122" name="Google Shape;122;p3"/>
          <p:cNvSpPr txBox="1"/>
          <p:nvPr/>
        </p:nvSpPr>
        <p:spPr>
          <a:xfrm>
            <a:off x="8549640" y="4941101"/>
            <a:ext cx="457200" cy="11215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790">
                <a:solidFill>
                  <a:srgbClr val="666666"/>
                </a:solidFill>
                <a:latin typeface="Arial"/>
                <a:ea typeface="Arial"/>
                <a:cs typeface="Arial"/>
                <a:sym typeface="Arial"/>
              </a:rPr>
              <a:t>8</a:t>
            </a:r>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D0D0D"/>
        </a:solidFill>
      </p:bgPr>
    </p:bg>
    <p:spTree>
      <p:nvGrpSpPr>
        <p:cNvPr id="1" name=""/>
        <p:cNvGrpSpPr/>
        <p:nvPr/>
      </p:nvGrpSpPr>
      <p:grpSpPr/>
      <p:sp>
        <p:nvSpPr>
          <p:cNvPr id="335" name="Google Shape;335;p14"/>
          <p:cNvSpPr/>
          <p:nvPr/>
        </p:nvSpPr>
        <p:spPr>
          <a:xfrm>
            <a:off x="4572" y="4514"/>
            <a:ext cx="9143999" cy="64065"/>
          </a:xfrm>
          <a:prstGeom prst="rect">
            <a:avLst/>
          </a:prstGeom>
          <a:solidFill>
            <a:srgbClr val="C8E64D"/>
          </a:solidFill>
          <a:ln cap="flat" cmpd="sng" w="12700">
            <a:solidFill>
              <a:srgbClr val="C8E64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336" name="Google Shape;336;p14"/>
          <p:cNvCxnSpPr/>
          <p:nvPr/>
        </p:nvCxnSpPr>
        <p:spPr>
          <a:xfrm>
            <a:off x="365759" y="759586"/>
            <a:ext cx="4389120" cy="0"/>
          </a:xfrm>
          <a:prstGeom prst="straightConnector1">
            <a:avLst/>
          </a:prstGeom>
          <a:noFill/>
          <a:ln cap="flat" cmpd="sng" w="19050">
            <a:solidFill>
              <a:srgbClr val="C8E64D"/>
            </a:solidFill>
            <a:prstDash val="solid"/>
            <a:round/>
            <a:headEnd len="sm" w="sm" type="none"/>
            <a:tailEnd len="sm" w="sm" type="none"/>
          </a:ln>
          <a:effectLst>
            <a:outerShdw blurRad="40000" rotWithShape="0" dir="5400000" dist="20000">
              <a:srgbClr val="000000">
                <a:alpha val="38039"/>
              </a:srgbClr>
            </a:outerShdw>
          </a:effectLst>
        </p:spPr>
      </p:cxnSp>
      <p:pic>
        <p:nvPicPr>
          <p:cNvPr descr="image.png" id="345" name="Google Shape;345;p14"/>
          <p:cNvPicPr preferRelativeResize="0"/>
          <p:nvPr/>
        </p:nvPicPr>
        <p:blipFill rotWithShape="1">
          <a:blip r:embed="rId2">
            <a:alphaModFix/>
          </a:blip>
          <a:srcRect b="0" l="0" r="0" t="0"/>
          <a:stretch/>
        </p:blipFill>
        <p:spPr>
          <a:xfrm>
            <a:off x="7772400" y="91566"/>
            <a:ext cx="1170432" cy="658368"/>
          </a:xfrm>
          <a:prstGeom prst="rect">
            <a:avLst/>
          </a:prstGeom>
          <a:noFill/>
          <a:ln>
            <a:noFill/>
          </a:ln>
        </p:spPr>
      </p:pic>
      <p:sp>
        <p:nvSpPr>
          <p:cNvPr id="346" name="Google Shape;346;p14"/>
          <p:cNvSpPr txBox="1"/>
          <p:nvPr/>
        </p:nvSpPr>
        <p:spPr>
          <a:xfrm>
            <a:off x="320357" y="4940472"/>
            <a:ext cx="1263005" cy="11250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90">
                <a:solidFill>
                  <a:srgbClr val="666666"/>
                </a:solidFill>
                <a:latin typeface="Arial"/>
                <a:ea typeface="Arial"/>
                <a:cs typeface="Arial"/>
                <a:sym typeface="Arial"/>
              </a:rPr>
              <a:t>AI for Developers | 30X</a:t>
            </a:r>
            <a:endParaRPr/>
          </a:p>
        </p:txBody>
      </p:sp>
      <p:sp>
        <p:nvSpPr>
          <p:cNvPr id="347" name="Google Shape;347;p14"/>
          <p:cNvSpPr txBox="1"/>
          <p:nvPr/>
        </p:nvSpPr>
        <p:spPr>
          <a:xfrm>
            <a:off x="8549640" y="4940472"/>
            <a:ext cx="457200" cy="11250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790">
                <a:solidFill>
                  <a:srgbClr val="666666"/>
                </a:solidFill>
                <a:latin typeface="Arial"/>
                <a:ea typeface="Arial"/>
                <a:cs typeface="Arial"/>
                <a:sym typeface="Arial"/>
              </a:rPr>
              <a:t>9</a:t>
            </a:r>
            <a:endParaRPr/>
          </a:p>
        </p:txBody>
      </p:sp>
      <p:sp>
        <p:nvSpPr>
          <p:cNvPr id="348" name="Google Shape;348;p14"/>
          <p:cNvSpPr txBox="1"/>
          <p:nvPr/>
        </p:nvSpPr>
        <p:spPr>
          <a:xfrm>
            <a:off x="366077" y="236955"/>
            <a:ext cx="7223760" cy="3171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240">
                <a:solidFill>
                  <a:srgbClr val="FFFFFF"/>
                </a:solidFill>
                <a:latin typeface="Arial"/>
                <a:ea typeface="Arial"/>
                <a:cs typeface="Arial"/>
                <a:sym typeface="Arial"/>
              </a:rPr>
              <a:t>Lo que van a ver</a:t>
            </a:r>
            <a:endParaRPr/>
          </a:p>
        </p:txBody>
      </p:sp>
      <p:sp>
        <p:nvSpPr>
          <p:cNvPr id="349" name="Rectangle 348"/>
          <p:cNvSpPr/>
          <p:nvPr/>
        </p:nvSpPr>
        <p:spPr>
          <a:xfrm>
            <a:off x="365760" y="914400"/>
            <a:ext cx="1883664" cy="11887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0" name="TextBox 349"/>
          <p:cNvSpPr txBox="1"/>
          <p:nvPr/>
        </p:nvSpPr>
        <p:spPr>
          <a:xfrm>
            <a:off x="493776" y="1024128"/>
            <a:ext cx="54864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D0</a:t>
            </a:r>
          </a:p>
        </p:txBody>
      </p:sp>
      <p:sp>
        <p:nvSpPr>
          <p:cNvPr id="351" name="TextBox 350"/>
          <p:cNvSpPr txBox="1"/>
          <p:nvPr/>
        </p:nvSpPr>
        <p:spPr>
          <a:xfrm>
            <a:off x="1188720" y="1051560"/>
            <a:ext cx="932688" cy="228600"/>
          </a:xfrm>
          <a:prstGeom prst="rect">
            <a:avLst/>
          </a:prstGeom>
          <a:noFill/>
        </p:spPr>
        <p:txBody>
          <a:bodyPr wrap="square" lIns="0" rIns="0" tIns="0" bIns="0" anchor="t">
            <a:spAutoFit/>
          </a:bodyPr>
          <a:lstStyle/>
          <a:p>
            <a:pPr algn="r">
              <a:spcAft>
                <a:spcPts val="400"/>
              </a:spcAft>
            </a:pPr>
            <a:r>
              <a:rPr sz="950" b="1" i="0">
                <a:solidFill>
                  <a:srgbClr val="A6A6A6"/>
                </a:solidFill>
                <a:latin typeface="Arial"/>
              </a:rPr>
              <a:t>1'</a:t>
            </a:r>
          </a:p>
        </p:txBody>
      </p:sp>
      <p:sp>
        <p:nvSpPr>
          <p:cNvPr id="352" name="TextBox 351"/>
          <p:cNvSpPr txBox="1"/>
          <p:nvPr/>
        </p:nvSpPr>
        <p:spPr>
          <a:xfrm>
            <a:off x="493776" y="1371600"/>
            <a:ext cx="1627632" cy="274320"/>
          </a:xfrm>
          <a:prstGeom prst="rect">
            <a:avLst/>
          </a:prstGeom>
          <a:noFill/>
        </p:spPr>
        <p:txBody>
          <a:bodyPr wrap="square" lIns="0" rIns="0" tIns="0" bIns="0" anchor="t">
            <a:spAutoFit/>
          </a:bodyPr>
          <a:lstStyle/>
          <a:p>
            <a:pPr algn="l">
              <a:spcAft>
                <a:spcPts val="400"/>
              </a:spcAft>
            </a:pPr>
            <a:r>
              <a:rPr sz="1150" b="1" i="0">
                <a:solidFill>
                  <a:srgbClr val="FFFFFF"/>
                </a:solidFill>
                <a:latin typeface="Arial"/>
              </a:rPr>
              <a:t>Contexto</a:t>
            </a:r>
          </a:p>
        </p:txBody>
      </p:sp>
      <p:sp>
        <p:nvSpPr>
          <p:cNvPr id="353" name="TextBox 352"/>
          <p:cNvSpPr txBox="1"/>
          <p:nvPr/>
        </p:nvSpPr>
        <p:spPr>
          <a:xfrm>
            <a:off x="493776" y="1645920"/>
            <a:ext cx="1627632" cy="201168"/>
          </a:xfrm>
          <a:prstGeom prst="rect">
            <a:avLst/>
          </a:prstGeom>
          <a:noFill/>
        </p:spPr>
        <p:txBody>
          <a:bodyPr wrap="square" lIns="0" rIns="0" tIns="0" bIns="0" anchor="t">
            <a:spAutoFit/>
          </a:bodyPr>
          <a:lstStyle/>
          <a:p>
            <a:pPr algn="l">
              <a:spcAft>
                <a:spcPts val="400"/>
              </a:spcAft>
            </a:pPr>
            <a:r>
              <a:rPr sz="900" b="0" i="0">
                <a:solidFill>
                  <a:srgbClr val="DDDDDD"/>
                </a:solidFill>
                <a:latin typeface="Courier New"/>
              </a:rPr>
              <a:t>pvb.md + CLAUDE.md</a:t>
            </a:r>
          </a:p>
        </p:txBody>
      </p:sp>
      <p:sp>
        <p:nvSpPr>
          <p:cNvPr id="354" name="TextBox 353"/>
          <p:cNvSpPr txBox="1"/>
          <p:nvPr/>
        </p:nvSpPr>
        <p:spPr>
          <a:xfrm>
            <a:off x="493776" y="1847088"/>
            <a:ext cx="1627632" cy="201168"/>
          </a:xfrm>
          <a:prstGeom prst="rect">
            <a:avLst/>
          </a:prstGeom>
          <a:noFill/>
        </p:spPr>
        <p:txBody>
          <a:bodyPr wrap="square" lIns="0" rIns="0" tIns="0" bIns="0" anchor="t">
            <a:spAutoFit/>
          </a:bodyPr>
          <a:lstStyle/>
          <a:p>
            <a:pPr algn="l">
              <a:spcAft>
                <a:spcPts val="400"/>
              </a:spcAft>
            </a:pPr>
            <a:r>
              <a:rPr sz="800" b="0" i="0">
                <a:solidFill>
                  <a:srgbClr val="A6A6A6"/>
                </a:solidFill>
                <a:latin typeface="Arial"/>
              </a:rPr>
              <a:t>local · E1</a:t>
            </a:r>
          </a:p>
        </p:txBody>
      </p:sp>
      <p:cxnSp>
        <p:nvCxnSpPr>
          <p:cNvPr id="355" name="Connector 354"/>
          <p:cNvCxnSpPr/>
          <p:nvPr/>
        </p:nvCxnSpPr>
        <p:spPr>
          <a:xfrm>
            <a:off x="2286000" y="1508760"/>
            <a:ext cx="219456" cy="0"/>
          </a:xfrm>
          <a:prstGeom prst="line">
            <a:avLst/>
          </a:prstGeom>
          <a:ln w="15875">
            <a:solidFill>
              <a:srgbClr val="A6A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6" name="Rectangle 355"/>
          <p:cNvSpPr/>
          <p:nvPr/>
        </p:nvSpPr>
        <p:spPr>
          <a:xfrm>
            <a:off x="2542032" y="914400"/>
            <a:ext cx="1883664" cy="11887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7" name="TextBox 356"/>
          <p:cNvSpPr txBox="1"/>
          <p:nvPr/>
        </p:nvSpPr>
        <p:spPr>
          <a:xfrm>
            <a:off x="2670048" y="1024128"/>
            <a:ext cx="54864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D1</a:t>
            </a:r>
          </a:p>
        </p:txBody>
      </p:sp>
      <p:sp>
        <p:nvSpPr>
          <p:cNvPr id="358" name="TextBox 357"/>
          <p:cNvSpPr txBox="1"/>
          <p:nvPr/>
        </p:nvSpPr>
        <p:spPr>
          <a:xfrm>
            <a:off x="3364991" y="1051560"/>
            <a:ext cx="932688" cy="228600"/>
          </a:xfrm>
          <a:prstGeom prst="rect">
            <a:avLst/>
          </a:prstGeom>
          <a:noFill/>
        </p:spPr>
        <p:txBody>
          <a:bodyPr wrap="square" lIns="0" rIns="0" tIns="0" bIns="0" anchor="t">
            <a:spAutoFit/>
          </a:bodyPr>
          <a:lstStyle/>
          <a:p>
            <a:pPr algn="r">
              <a:spcAft>
                <a:spcPts val="400"/>
              </a:spcAft>
            </a:pPr>
            <a:r>
              <a:rPr sz="950" b="1" i="0">
                <a:solidFill>
                  <a:srgbClr val="A6A6A6"/>
                </a:solidFill>
                <a:latin typeface="Arial"/>
              </a:rPr>
              <a:t>3'</a:t>
            </a:r>
          </a:p>
        </p:txBody>
      </p:sp>
      <p:sp>
        <p:nvSpPr>
          <p:cNvPr id="359" name="TextBox 358"/>
          <p:cNvSpPr txBox="1"/>
          <p:nvPr/>
        </p:nvSpPr>
        <p:spPr>
          <a:xfrm>
            <a:off x="2670048" y="1371600"/>
            <a:ext cx="1627632" cy="274320"/>
          </a:xfrm>
          <a:prstGeom prst="rect">
            <a:avLst/>
          </a:prstGeom>
          <a:noFill/>
        </p:spPr>
        <p:txBody>
          <a:bodyPr wrap="square" lIns="0" rIns="0" tIns="0" bIns="0" anchor="t">
            <a:spAutoFit/>
          </a:bodyPr>
          <a:lstStyle/>
          <a:p>
            <a:pPr algn="l">
              <a:spcAft>
                <a:spcPts val="400"/>
              </a:spcAft>
            </a:pPr>
            <a:r>
              <a:rPr sz="1150" b="1" i="0">
                <a:solidFill>
                  <a:srgbClr val="FFFFFF"/>
                </a:solidFill>
                <a:latin typeface="Arial"/>
              </a:rPr>
              <a:t>PRD</a:t>
            </a:r>
          </a:p>
        </p:txBody>
      </p:sp>
      <p:sp>
        <p:nvSpPr>
          <p:cNvPr id="360" name="TextBox 359"/>
          <p:cNvSpPr txBox="1"/>
          <p:nvPr/>
        </p:nvSpPr>
        <p:spPr>
          <a:xfrm>
            <a:off x="2670048" y="1645920"/>
            <a:ext cx="1627632" cy="201168"/>
          </a:xfrm>
          <a:prstGeom prst="rect">
            <a:avLst/>
          </a:prstGeom>
          <a:noFill/>
        </p:spPr>
        <p:txBody>
          <a:bodyPr wrap="square" lIns="0" rIns="0" tIns="0" bIns="0" anchor="t">
            <a:spAutoFit/>
          </a:bodyPr>
          <a:lstStyle/>
          <a:p>
            <a:pPr algn="l">
              <a:spcAft>
                <a:spcPts val="400"/>
              </a:spcAft>
            </a:pPr>
            <a:r>
              <a:rPr sz="900" b="0" i="0">
                <a:solidFill>
                  <a:srgbClr val="DDDDDD"/>
                </a:solidFill>
                <a:latin typeface="Courier New"/>
              </a:rPr>
              <a:t>docs/prd.md</a:t>
            </a:r>
          </a:p>
        </p:txBody>
      </p:sp>
      <p:sp>
        <p:nvSpPr>
          <p:cNvPr id="361" name="TextBox 360"/>
          <p:cNvSpPr txBox="1"/>
          <p:nvPr/>
        </p:nvSpPr>
        <p:spPr>
          <a:xfrm>
            <a:off x="2670048" y="1847088"/>
            <a:ext cx="1627632" cy="201168"/>
          </a:xfrm>
          <a:prstGeom prst="rect">
            <a:avLst/>
          </a:prstGeom>
          <a:noFill/>
        </p:spPr>
        <p:txBody>
          <a:bodyPr wrap="square" lIns="0" rIns="0" tIns="0" bIns="0" anchor="t">
            <a:spAutoFit/>
          </a:bodyPr>
          <a:lstStyle/>
          <a:p>
            <a:pPr algn="l">
              <a:spcAft>
                <a:spcPts val="400"/>
              </a:spcAft>
            </a:pPr>
            <a:r>
              <a:rPr sz="800" b="0" i="0">
                <a:solidFill>
                  <a:srgbClr val="A6A6A6"/>
                </a:solidFill>
                <a:latin typeface="Arial"/>
              </a:rPr>
              <a:t>local · E2</a:t>
            </a:r>
          </a:p>
        </p:txBody>
      </p:sp>
      <p:cxnSp>
        <p:nvCxnSpPr>
          <p:cNvPr id="362" name="Connector 361"/>
          <p:cNvCxnSpPr/>
          <p:nvPr/>
        </p:nvCxnSpPr>
        <p:spPr>
          <a:xfrm>
            <a:off x="4462272" y="1508760"/>
            <a:ext cx="219456" cy="0"/>
          </a:xfrm>
          <a:prstGeom prst="line">
            <a:avLst/>
          </a:prstGeom>
          <a:ln w="15875">
            <a:solidFill>
              <a:srgbClr val="A6A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3" name="Rectangle 362"/>
          <p:cNvSpPr/>
          <p:nvPr/>
        </p:nvSpPr>
        <p:spPr>
          <a:xfrm>
            <a:off x="4718304" y="914400"/>
            <a:ext cx="1883664" cy="11887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4" name="TextBox 363"/>
          <p:cNvSpPr txBox="1"/>
          <p:nvPr/>
        </p:nvSpPr>
        <p:spPr>
          <a:xfrm>
            <a:off x="4846320" y="1024128"/>
            <a:ext cx="54864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D2</a:t>
            </a:r>
          </a:p>
        </p:txBody>
      </p:sp>
      <p:sp>
        <p:nvSpPr>
          <p:cNvPr id="365" name="TextBox 364"/>
          <p:cNvSpPr txBox="1"/>
          <p:nvPr/>
        </p:nvSpPr>
        <p:spPr>
          <a:xfrm>
            <a:off x="5541264" y="1051560"/>
            <a:ext cx="932688" cy="228600"/>
          </a:xfrm>
          <a:prstGeom prst="rect">
            <a:avLst/>
          </a:prstGeom>
          <a:noFill/>
        </p:spPr>
        <p:txBody>
          <a:bodyPr wrap="square" lIns="0" rIns="0" tIns="0" bIns="0" anchor="t">
            <a:spAutoFit/>
          </a:bodyPr>
          <a:lstStyle/>
          <a:p>
            <a:pPr algn="r">
              <a:spcAft>
                <a:spcPts val="400"/>
              </a:spcAft>
            </a:pPr>
            <a:r>
              <a:rPr sz="950" b="1" i="0">
                <a:solidFill>
                  <a:srgbClr val="A6A6A6"/>
                </a:solidFill>
                <a:latin typeface="Arial"/>
              </a:rPr>
              <a:t>3'</a:t>
            </a:r>
          </a:p>
        </p:txBody>
      </p:sp>
      <p:sp>
        <p:nvSpPr>
          <p:cNvPr id="366" name="TextBox 365"/>
          <p:cNvSpPr txBox="1"/>
          <p:nvPr/>
        </p:nvSpPr>
        <p:spPr>
          <a:xfrm>
            <a:off x="4846320" y="1371600"/>
            <a:ext cx="1627632" cy="274320"/>
          </a:xfrm>
          <a:prstGeom prst="rect">
            <a:avLst/>
          </a:prstGeom>
          <a:noFill/>
        </p:spPr>
        <p:txBody>
          <a:bodyPr wrap="square" lIns="0" rIns="0" tIns="0" bIns="0" anchor="t">
            <a:spAutoFit/>
          </a:bodyPr>
          <a:lstStyle/>
          <a:p>
            <a:pPr algn="l">
              <a:spcAft>
                <a:spcPts val="400"/>
              </a:spcAft>
            </a:pPr>
            <a:r>
              <a:rPr sz="1150" b="1" i="0">
                <a:solidFill>
                  <a:srgbClr val="FFFFFF"/>
                </a:solidFill>
                <a:latin typeface="Arial"/>
              </a:rPr>
              <a:t>Plan técnico</a:t>
            </a:r>
          </a:p>
        </p:txBody>
      </p:sp>
      <p:sp>
        <p:nvSpPr>
          <p:cNvPr id="367" name="TextBox 366"/>
          <p:cNvSpPr txBox="1"/>
          <p:nvPr/>
        </p:nvSpPr>
        <p:spPr>
          <a:xfrm>
            <a:off x="4846320" y="1645920"/>
            <a:ext cx="1627632" cy="201168"/>
          </a:xfrm>
          <a:prstGeom prst="rect">
            <a:avLst/>
          </a:prstGeom>
          <a:noFill/>
        </p:spPr>
        <p:txBody>
          <a:bodyPr wrap="square" lIns="0" rIns="0" tIns="0" bIns="0" anchor="t">
            <a:spAutoFit/>
          </a:bodyPr>
          <a:lstStyle/>
          <a:p>
            <a:pPr algn="l">
              <a:spcAft>
                <a:spcPts val="400"/>
              </a:spcAft>
            </a:pPr>
            <a:r>
              <a:rPr sz="900" b="0" i="0">
                <a:solidFill>
                  <a:srgbClr val="DDDDDD"/>
                </a:solidFill>
                <a:latin typeface="Courier New"/>
              </a:rPr>
              <a:t>docs/plan.md</a:t>
            </a:r>
          </a:p>
        </p:txBody>
      </p:sp>
      <p:sp>
        <p:nvSpPr>
          <p:cNvPr id="368" name="TextBox 367"/>
          <p:cNvSpPr txBox="1"/>
          <p:nvPr/>
        </p:nvSpPr>
        <p:spPr>
          <a:xfrm>
            <a:off x="4846320" y="1847088"/>
            <a:ext cx="1627632" cy="201168"/>
          </a:xfrm>
          <a:prstGeom prst="rect">
            <a:avLst/>
          </a:prstGeom>
          <a:noFill/>
        </p:spPr>
        <p:txBody>
          <a:bodyPr wrap="square" lIns="0" rIns="0" tIns="0" bIns="0" anchor="t">
            <a:spAutoFit/>
          </a:bodyPr>
          <a:lstStyle/>
          <a:p>
            <a:pPr algn="l">
              <a:spcAft>
                <a:spcPts val="400"/>
              </a:spcAft>
            </a:pPr>
            <a:r>
              <a:rPr sz="800" b="0" i="0">
                <a:solidFill>
                  <a:srgbClr val="A6A6A6"/>
                </a:solidFill>
                <a:latin typeface="Arial"/>
              </a:rPr>
              <a:t>local · E4–E5</a:t>
            </a:r>
          </a:p>
        </p:txBody>
      </p:sp>
      <p:cxnSp>
        <p:nvCxnSpPr>
          <p:cNvPr id="369" name="Connector 368"/>
          <p:cNvCxnSpPr/>
          <p:nvPr/>
        </p:nvCxnSpPr>
        <p:spPr>
          <a:xfrm>
            <a:off x="6638544" y="1508760"/>
            <a:ext cx="219456" cy="0"/>
          </a:xfrm>
          <a:prstGeom prst="line">
            <a:avLst/>
          </a:prstGeom>
          <a:ln w="15875">
            <a:solidFill>
              <a:srgbClr val="A6A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0" name="Rectangle 369"/>
          <p:cNvSpPr/>
          <p:nvPr/>
        </p:nvSpPr>
        <p:spPr>
          <a:xfrm>
            <a:off x="6894576" y="914400"/>
            <a:ext cx="1883664" cy="11887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1" name="TextBox 370"/>
          <p:cNvSpPr txBox="1"/>
          <p:nvPr/>
        </p:nvSpPr>
        <p:spPr>
          <a:xfrm>
            <a:off x="7022592" y="1024128"/>
            <a:ext cx="54864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D3</a:t>
            </a:r>
          </a:p>
        </p:txBody>
      </p:sp>
      <p:sp>
        <p:nvSpPr>
          <p:cNvPr id="372" name="TextBox 371"/>
          <p:cNvSpPr txBox="1"/>
          <p:nvPr/>
        </p:nvSpPr>
        <p:spPr>
          <a:xfrm>
            <a:off x="7717536" y="1051560"/>
            <a:ext cx="932688" cy="228600"/>
          </a:xfrm>
          <a:prstGeom prst="rect">
            <a:avLst/>
          </a:prstGeom>
          <a:noFill/>
        </p:spPr>
        <p:txBody>
          <a:bodyPr wrap="square" lIns="0" rIns="0" tIns="0" bIns="0" anchor="t">
            <a:spAutoFit/>
          </a:bodyPr>
          <a:lstStyle/>
          <a:p>
            <a:pPr algn="r">
              <a:spcAft>
                <a:spcPts val="400"/>
              </a:spcAft>
            </a:pPr>
            <a:r>
              <a:rPr sz="950" b="1" i="0">
                <a:solidFill>
                  <a:srgbClr val="A6A6A6"/>
                </a:solidFill>
                <a:latin typeface="Arial"/>
              </a:rPr>
              <a:t>6'</a:t>
            </a:r>
          </a:p>
        </p:txBody>
      </p:sp>
      <p:sp>
        <p:nvSpPr>
          <p:cNvPr id="373" name="TextBox 372"/>
          <p:cNvSpPr txBox="1"/>
          <p:nvPr/>
        </p:nvSpPr>
        <p:spPr>
          <a:xfrm>
            <a:off x="7022592" y="1371600"/>
            <a:ext cx="1627632" cy="274320"/>
          </a:xfrm>
          <a:prstGeom prst="rect">
            <a:avLst/>
          </a:prstGeom>
          <a:noFill/>
        </p:spPr>
        <p:txBody>
          <a:bodyPr wrap="square" lIns="0" rIns="0" tIns="0" bIns="0" anchor="t">
            <a:spAutoFit/>
          </a:bodyPr>
          <a:lstStyle/>
          <a:p>
            <a:pPr algn="l">
              <a:spcAft>
                <a:spcPts val="400"/>
              </a:spcAft>
            </a:pPr>
            <a:r>
              <a:rPr sz="1150" b="1" i="0">
                <a:solidFill>
                  <a:srgbClr val="FFFFFF"/>
                </a:solidFill>
                <a:latin typeface="Arial"/>
              </a:rPr>
              <a:t>Backend</a:t>
            </a:r>
          </a:p>
        </p:txBody>
      </p:sp>
      <p:sp>
        <p:nvSpPr>
          <p:cNvPr id="374" name="TextBox 373"/>
          <p:cNvSpPr txBox="1"/>
          <p:nvPr/>
        </p:nvSpPr>
        <p:spPr>
          <a:xfrm>
            <a:off x="7022592" y="1645920"/>
            <a:ext cx="1627632" cy="201168"/>
          </a:xfrm>
          <a:prstGeom prst="rect">
            <a:avLst/>
          </a:prstGeom>
          <a:noFill/>
        </p:spPr>
        <p:txBody>
          <a:bodyPr wrap="square" lIns="0" rIns="0" tIns="0" bIns="0" anchor="t">
            <a:spAutoFit/>
          </a:bodyPr>
          <a:lstStyle/>
          <a:p>
            <a:pPr algn="l">
              <a:spcAft>
                <a:spcPts val="400"/>
              </a:spcAft>
            </a:pPr>
            <a:r>
              <a:rPr sz="900" b="0" i="0">
                <a:solidFill>
                  <a:srgbClr val="DDDDDD"/>
                </a:solidFill>
                <a:latin typeface="Courier New"/>
              </a:rPr>
              <a:t>Express + tests</a:t>
            </a:r>
          </a:p>
        </p:txBody>
      </p:sp>
      <p:sp>
        <p:nvSpPr>
          <p:cNvPr id="375" name="TextBox 374"/>
          <p:cNvSpPr txBox="1"/>
          <p:nvPr/>
        </p:nvSpPr>
        <p:spPr>
          <a:xfrm>
            <a:off x="7022592" y="1847088"/>
            <a:ext cx="1627632" cy="201168"/>
          </a:xfrm>
          <a:prstGeom prst="rect">
            <a:avLst/>
          </a:prstGeom>
          <a:noFill/>
        </p:spPr>
        <p:txBody>
          <a:bodyPr wrap="square" lIns="0" rIns="0" tIns="0" bIns="0" anchor="t">
            <a:spAutoFit/>
          </a:bodyPr>
          <a:lstStyle/>
          <a:p>
            <a:pPr algn="l">
              <a:spcAft>
                <a:spcPts val="400"/>
              </a:spcAft>
            </a:pPr>
            <a:r>
              <a:rPr sz="800" b="0" i="0">
                <a:solidFill>
                  <a:srgbClr val="A6A6A6"/>
                </a:solidFill>
                <a:latin typeface="Arial"/>
              </a:rPr>
              <a:t>local · E6–E7</a:t>
            </a:r>
          </a:p>
        </p:txBody>
      </p:sp>
      <p:sp>
        <p:nvSpPr>
          <p:cNvPr id="376" name="Rectangle 375"/>
          <p:cNvSpPr/>
          <p:nvPr/>
        </p:nvSpPr>
        <p:spPr>
          <a:xfrm>
            <a:off x="365760" y="2331720"/>
            <a:ext cx="1883664" cy="11887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7" name="TextBox 376"/>
          <p:cNvSpPr txBox="1"/>
          <p:nvPr/>
        </p:nvSpPr>
        <p:spPr>
          <a:xfrm>
            <a:off x="493776" y="2441448"/>
            <a:ext cx="54864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D4</a:t>
            </a:r>
          </a:p>
        </p:txBody>
      </p:sp>
      <p:sp>
        <p:nvSpPr>
          <p:cNvPr id="378" name="TextBox 377"/>
          <p:cNvSpPr txBox="1"/>
          <p:nvPr/>
        </p:nvSpPr>
        <p:spPr>
          <a:xfrm>
            <a:off x="1188720" y="2468879"/>
            <a:ext cx="932688" cy="228600"/>
          </a:xfrm>
          <a:prstGeom prst="rect">
            <a:avLst/>
          </a:prstGeom>
          <a:noFill/>
        </p:spPr>
        <p:txBody>
          <a:bodyPr wrap="square" lIns="0" rIns="0" tIns="0" bIns="0" anchor="t">
            <a:spAutoFit/>
          </a:bodyPr>
          <a:lstStyle/>
          <a:p>
            <a:pPr algn="r">
              <a:spcAft>
                <a:spcPts val="400"/>
              </a:spcAft>
            </a:pPr>
            <a:r>
              <a:rPr sz="950" b="1" i="0">
                <a:solidFill>
                  <a:srgbClr val="A6A6A6"/>
                </a:solidFill>
                <a:latin typeface="Arial"/>
              </a:rPr>
              <a:t>6'</a:t>
            </a:r>
          </a:p>
        </p:txBody>
      </p:sp>
      <p:sp>
        <p:nvSpPr>
          <p:cNvPr id="379" name="TextBox 378"/>
          <p:cNvSpPr txBox="1"/>
          <p:nvPr/>
        </p:nvSpPr>
        <p:spPr>
          <a:xfrm>
            <a:off x="493776" y="2788920"/>
            <a:ext cx="1627632" cy="274320"/>
          </a:xfrm>
          <a:prstGeom prst="rect">
            <a:avLst/>
          </a:prstGeom>
          <a:noFill/>
        </p:spPr>
        <p:txBody>
          <a:bodyPr wrap="square" lIns="0" rIns="0" tIns="0" bIns="0" anchor="t">
            <a:spAutoFit/>
          </a:bodyPr>
          <a:lstStyle/>
          <a:p>
            <a:pPr algn="l">
              <a:spcAft>
                <a:spcPts val="400"/>
              </a:spcAft>
            </a:pPr>
            <a:r>
              <a:rPr sz="1150" b="1" i="0">
                <a:solidFill>
                  <a:srgbClr val="FFFFFF"/>
                </a:solidFill>
                <a:latin typeface="Arial"/>
              </a:rPr>
              <a:t>Tienda</a:t>
            </a:r>
          </a:p>
        </p:txBody>
      </p:sp>
      <p:sp>
        <p:nvSpPr>
          <p:cNvPr id="380" name="TextBox 379"/>
          <p:cNvSpPr txBox="1"/>
          <p:nvPr/>
        </p:nvSpPr>
        <p:spPr>
          <a:xfrm>
            <a:off x="493776" y="3063239"/>
            <a:ext cx="1627632" cy="201168"/>
          </a:xfrm>
          <a:prstGeom prst="rect">
            <a:avLst/>
          </a:prstGeom>
          <a:noFill/>
        </p:spPr>
        <p:txBody>
          <a:bodyPr wrap="square" lIns="0" rIns="0" tIns="0" bIns="0" anchor="t">
            <a:spAutoFit/>
          </a:bodyPr>
          <a:lstStyle/>
          <a:p>
            <a:pPr algn="l">
              <a:spcAft>
                <a:spcPts val="400"/>
              </a:spcAft>
            </a:pPr>
            <a:r>
              <a:rPr sz="900" b="0" i="0">
                <a:solidFill>
                  <a:srgbClr val="DDDDDD"/>
                </a:solidFill>
                <a:latin typeface="Courier New"/>
              </a:rPr>
              <a:t>React + Vite</a:t>
            </a:r>
          </a:p>
        </p:txBody>
      </p:sp>
      <p:sp>
        <p:nvSpPr>
          <p:cNvPr id="381" name="TextBox 380"/>
          <p:cNvSpPr txBox="1"/>
          <p:nvPr/>
        </p:nvSpPr>
        <p:spPr>
          <a:xfrm>
            <a:off x="493776" y="3264408"/>
            <a:ext cx="1627632" cy="201168"/>
          </a:xfrm>
          <a:prstGeom prst="rect">
            <a:avLst/>
          </a:prstGeom>
          <a:noFill/>
        </p:spPr>
        <p:txBody>
          <a:bodyPr wrap="square" lIns="0" rIns="0" tIns="0" bIns="0" anchor="t">
            <a:spAutoFit/>
          </a:bodyPr>
          <a:lstStyle/>
          <a:p>
            <a:pPr algn="l">
              <a:spcAft>
                <a:spcPts val="400"/>
              </a:spcAft>
            </a:pPr>
            <a:r>
              <a:rPr sz="800" b="0" i="0">
                <a:solidFill>
                  <a:srgbClr val="A6A6A6"/>
                </a:solidFill>
                <a:latin typeface="Arial"/>
              </a:rPr>
              <a:t>local · E6–E7</a:t>
            </a:r>
          </a:p>
        </p:txBody>
      </p:sp>
      <p:cxnSp>
        <p:nvCxnSpPr>
          <p:cNvPr id="382" name="Connector 381"/>
          <p:cNvCxnSpPr/>
          <p:nvPr/>
        </p:nvCxnSpPr>
        <p:spPr>
          <a:xfrm>
            <a:off x="2286000" y="2926079"/>
            <a:ext cx="219456" cy="0"/>
          </a:xfrm>
          <a:prstGeom prst="line">
            <a:avLst/>
          </a:prstGeom>
          <a:ln w="15875">
            <a:solidFill>
              <a:srgbClr val="A6A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3" name="Rectangle 382"/>
          <p:cNvSpPr/>
          <p:nvPr/>
        </p:nvSpPr>
        <p:spPr>
          <a:xfrm>
            <a:off x="2542032" y="2331720"/>
            <a:ext cx="1883664" cy="11887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4" name="TextBox 383"/>
          <p:cNvSpPr txBox="1"/>
          <p:nvPr/>
        </p:nvSpPr>
        <p:spPr>
          <a:xfrm>
            <a:off x="2670048" y="2441448"/>
            <a:ext cx="54864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D5</a:t>
            </a:r>
          </a:p>
        </p:txBody>
      </p:sp>
      <p:sp>
        <p:nvSpPr>
          <p:cNvPr id="385" name="TextBox 384"/>
          <p:cNvSpPr txBox="1"/>
          <p:nvPr/>
        </p:nvSpPr>
        <p:spPr>
          <a:xfrm>
            <a:off x="3364991" y="2468879"/>
            <a:ext cx="932688" cy="228600"/>
          </a:xfrm>
          <a:prstGeom prst="rect">
            <a:avLst/>
          </a:prstGeom>
          <a:noFill/>
        </p:spPr>
        <p:txBody>
          <a:bodyPr wrap="square" lIns="0" rIns="0" tIns="0" bIns="0" anchor="t">
            <a:spAutoFit/>
          </a:bodyPr>
          <a:lstStyle/>
          <a:p>
            <a:pPr algn="r">
              <a:spcAft>
                <a:spcPts val="400"/>
              </a:spcAft>
            </a:pPr>
            <a:r>
              <a:rPr sz="950" b="1" i="0">
                <a:solidFill>
                  <a:srgbClr val="A6A6A6"/>
                </a:solidFill>
                <a:latin typeface="Arial"/>
              </a:rPr>
              <a:t>2'</a:t>
            </a:r>
          </a:p>
        </p:txBody>
      </p:sp>
      <p:sp>
        <p:nvSpPr>
          <p:cNvPr id="386" name="TextBox 385"/>
          <p:cNvSpPr txBox="1"/>
          <p:nvPr/>
        </p:nvSpPr>
        <p:spPr>
          <a:xfrm>
            <a:off x="2670048" y="2788920"/>
            <a:ext cx="1627632" cy="274320"/>
          </a:xfrm>
          <a:prstGeom prst="rect">
            <a:avLst/>
          </a:prstGeom>
          <a:noFill/>
        </p:spPr>
        <p:txBody>
          <a:bodyPr wrap="square" lIns="0" rIns="0" tIns="0" bIns="0" anchor="t">
            <a:spAutoFit/>
          </a:bodyPr>
          <a:lstStyle/>
          <a:p>
            <a:pPr algn="l">
              <a:spcAft>
                <a:spcPts val="400"/>
              </a:spcAft>
            </a:pPr>
            <a:r>
              <a:rPr sz="1150" b="1" i="0">
                <a:solidFill>
                  <a:srgbClr val="FFFFFF"/>
                </a:solidFill>
                <a:latin typeface="Arial"/>
              </a:rPr>
              <a:t>Producción</a:t>
            </a:r>
          </a:p>
        </p:txBody>
      </p:sp>
      <p:sp>
        <p:nvSpPr>
          <p:cNvPr id="387" name="TextBox 386"/>
          <p:cNvSpPr txBox="1"/>
          <p:nvPr/>
        </p:nvSpPr>
        <p:spPr>
          <a:xfrm>
            <a:off x="2670048" y="3063239"/>
            <a:ext cx="1627632" cy="201168"/>
          </a:xfrm>
          <a:prstGeom prst="rect">
            <a:avLst/>
          </a:prstGeom>
          <a:noFill/>
        </p:spPr>
        <p:txBody>
          <a:bodyPr wrap="square" lIns="0" rIns="0" tIns="0" bIns="0" anchor="t">
            <a:spAutoFit/>
          </a:bodyPr>
          <a:lstStyle/>
          <a:p>
            <a:pPr algn="l">
              <a:spcAft>
                <a:spcPts val="400"/>
              </a:spcAft>
            </a:pPr>
            <a:r>
              <a:rPr sz="900" b="0" i="0">
                <a:solidFill>
                  <a:srgbClr val="DDDDDD"/>
                </a:solidFill>
                <a:latin typeface="Courier New"/>
              </a:rPr>
              <a:t>Render + Vercel</a:t>
            </a:r>
          </a:p>
        </p:txBody>
      </p:sp>
      <p:sp>
        <p:nvSpPr>
          <p:cNvPr id="388" name="TextBox 387"/>
          <p:cNvSpPr txBox="1"/>
          <p:nvPr/>
        </p:nvSpPr>
        <p:spPr>
          <a:xfrm>
            <a:off x="2670048" y="3264408"/>
            <a:ext cx="1627632" cy="201168"/>
          </a:xfrm>
          <a:prstGeom prst="rect">
            <a:avLst/>
          </a:prstGeom>
          <a:noFill/>
        </p:spPr>
        <p:txBody>
          <a:bodyPr wrap="square" lIns="0" rIns="0" tIns="0" bIns="0" anchor="t">
            <a:spAutoFit/>
          </a:bodyPr>
          <a:lstStyle/>
          <a:p>
            <a:pPr algn="l">
              <a:spcAft>
                <a:spcPts val="400"/>
              </a:spcAft>
            </a:pPr>
            <a:r>
              <a:rPr sz="800" b="0" i="0">
                <a:solidFill>
                  <a:srgbClr val="A6A6A6"/>
                </a:solidFill>
                <a:latin typeface="Arial"/>
              </a:rPr>
              <a:t>producción · E9</a:t>
            </a:r>
          </a:p>
        </p:txBody>
      </p:sp>
      <p:cxnSp>
        <p:nvCxnSpPr>
          <p:cNvPr id="389" name="Connector 388"/>
          <p:cNvCxnSpPr/>
          <p:nvPr/>
        </p:nvCxnSpPr>
        <p:spPr>
          <a:xfrm>
            <a:off x="4462272" y="2926079"/>
            <a:ext cx="219456" cy="0"/>
          </a:xfrm>
          <a:prstGeom prst="line">
            <a:avLst/>
          </a:prstGeom>
          <a:ln w="15875">
            <a:solidFill>
              <a:srgbClr val="A6A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0" name="Rectangle 389"/>
          <p:cNvSpPr/>
          <p:nvPr/>
        </p:nvSpPr>
        <p:spPr>
          <a:xfrm>
            <a:off x="4718304" y="2331720"/>
            <a:ext cx="1883664" cy="11887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1" name="TextBox 390"/>
          <p:cNvSpPr txBox="1"/>
          <p:nvPr/>
        </p:nvSpPr>
        <p:spPr>
          <a:xfrm>
            <a:off x="4846320" y="2441448"/>
            <a:ext cx="54864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D6</a:t>
            </a:r>
          </a:p>
        </p:txBody>
      </p:sp>
      <p:sp>
        <p:nvSpPr>
          <p:cNvPr id="392" name="TextBox 391"/>
          <p:cNvSpPr txBox="1"/>
          <p:nvPr/>
        </p:nvSpPr>
        <p:spPr>
          <a:xfrm>
            <a:off x="5541264" y="2468879"/>
            <a:ext cx="932688" cy="228600"/>
          </a:xfrm>
          <a:prstGeom prst="rect">
            <a:avLst/>
          </a:prstGeom>
          <a:noFill/>
        </p:spPr>
        <p:txBody>
          <a:bodyPr wrap="square" lIns="0" rIns="0" tIns="0" bIns="0" anchor="t">
            <a:spAutoFit/>
          </a:bodyPr>
          <a:lstStyle/>
          <a:p>
            <a:pPr algn="r">
              <a:spcAft>
                <a:spcPts val="400"/>
              </a:spcAft>
            </a:pPr>
            <a:r>
              <a:rPr sz="950" b="1" i="0">
                <a:solidFill>
                  <a:srgbClr val="A6A6A6"/>
                </a:solidFill>
                <a:latin typeface="Arial"/>
              </a:rPr>
              <a:t>5'</a:t>
            </a:r>
          </a:p>
        </p:txBody>
      </p:sp>
      <p:sp>
        <p:nvSpPr>
          <p:cNvPr id="393" name="TextBox 392"/>
          <p:cNvSpPr txBox="1"/>
          <p:nvPr/>
        </p:nvSpPr>
        <p:spPr>
          <a:xfrm>
            <a:off x="4846320" y="2788920"/>
            <a:ext cx="1627632" cy="274320"/>
          </a:xfrm>
          <a:prstGeom prst="rect">
            <a:avLst/>
          </a:prstGeom>
          <a:noFill/>
        </p:spPr>
        <p:txBody>
          <a:bodyPr wrap="square" lIns="0" rIns="0" tIns="0" bIns="0" anchor="t">
            <a:spAutoFit/>
          </a:bodyPr>
          <a:lstStyle/>
          <a:p>
            <a:pPr algn="l">
              <a:spcAft>
                <a:spcPts val="400"/>
              </a:spcAft>
            </a:pPr>
            <a:r>
              <a:rPr sz="1150" b="1" i="0">
                <a:solidFill>
                  <a:srgbClr val="FFFFFF"/>
                </a:solidFill>
                <a:latin typeface="Arial"/>
              </a:rPr>
              <a:t>Cambio en vivo</a:t>
            </a:r>
          </a:p>
        </p:txBody>
      </p:sp>
      <p:sp>
        <p:nvSpPr>
          <p:cNvPr id="394" name="TextBox 393"/>
          <p:cNvSpPr txBox="1"/>
          <p:nvPr/>
        </p:nvSpPr>
        <p:spPr>
          <a:xfrm>
            <a:off x="4846320" y="3063239"/>
            <a:ext cx="1627632" cy="201168"/>
          </a:xfrm>
          <a:prstGeom prst="rect">
            <a:avLst/>
          </a:prstGeom>
          <a:noFill/>
        </p:spPr>
        <p:txBody>
          <a:bodyPr wrap="square" lIns="0" rIns="0" tIns="0" bIns="0" anchor="t">
            <a:spAutoFit/>
          </a:bodyPr>
          <a:lstStyle/>
          <a:p>
            <a:pPr algn="l">
              <a:spcAft>
                <a:spcPts val="400"/>
              </a:spcAft>
            </a:pPr>
            <a:r>
              <a:rPr sz="900" b="0" i="0">
                <a:solidFill>
                  <a:srgbClr val="DDDDDD"/>
                </a:solidFill>
                <a:latin typeface="Courier New"/>
              </a:rPr>
              <a:t>Inventario v1.1</a:t>
            </a:r>
          </a:p>
        </p:txBody>
      </p:sp>
      <p:sp>
        <p:nvSpPr>
          <p:cNvPr id="395" name="TextBox 394"/>
          <p:cNvSpPr txBox="1"/>
          <p:nvPr/>
        </p:nvSpPr>
        <p:spPr>
          <a:xfrm>
            <a:off x="4846320" y="3264408"/>
            <a:ext cx="1627632" cy="201168"/>
          </a:xfrm>
          <a:prstGeom prst="rect">
            <a:avLst/>
          </a:prstGeom>
          <a:noFill/>
        </p:spPr>
        <p:txBody>
          <a:bodyPr wrap="square" lIns="0" rIns="0" tIns="0" bIns="0" anchor="t">
            <a:spAutoFit/>
          </a:bodyPr>
          <a:lstStyle/>
          <a:p>
            <a:pPr algn="l">
              <a:spcAft>
                <a:spcPts val="400"/>
              </a:spcAft>
            </a:pPr>
            <a:r>
              <a:rPr sz="800" b="0" i="0">
                <a:solidFill>
                  <a:srgbClr val="A6A6A6"/>
                </a:solidFill>
                <a:latin typeface="Arial"/>
              </a:rPr>
              <a:t>producción · E7</a:t>
            </a:r>
          </a:p>
        </p:txBody>
      </p:sp>
      <p:cxnSp>
        <p:nvCxnSpPr>
          <p:cNvPr id="396" name="Connector 395"/>
          <p:cNvCxnSpPr/>
          <p:nvPr/>
        </p:nvCxnSpPr>
        <p:spPr>
          <a:xfrm>
            <a:off x="6638544" y="2926079"/>
            <a:ext cx="219456" cy="0"/>
          </a:xfrm>
          <a:prstGeom prst="line">
            <a:avLst/>
          </a:prstGeom>
          <a:ln w="15875">
            <a:solidFill>
              <a:srgbClr val="A6A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7" name="Rectangle 396"/>
          <p:cNvSpPr/>
          <p:nvPr/>
        </p:nvSpPr>
        <p:spPr>
          <a:xfrm>
            <a:off x="6894576" y="2331720"/>
            <a:ext cx="1883664" cy="1188720"/>
          </a:xfrm>
          <a:prstGeom prst="rect">
            <a:avLst/>
          </a:prstGeom>
          <a:solidFill>
            <a:srgbClr val="1A1A1A"/>
          </a:solidFill>
          <a:ln w="12700">
            <a:solidFill>
              <a:srgbClr val="C8E6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8" name="TextBox 397"/>
          <p:cNvSpPr txBox="1"/>
          <p:nvPr/>
        </p:nvSpPr>
        <p:spPr>
          <a:xfrm>
            <a:off x="7022592" y="2441448"/>
            <a:ext cx="548640" cy="274320"/>
          </a:xfrm>
          <a:prstGeom prst="rect">
            <a:avLst/>
          </a:prstGeom>
          <a:noFill/>
        </p:spPr>
        <p:txBody>
          <a:bodyPr wrap="square" lIns="0" rIns="0" tIns="0" bIns="0" anchor="t">
            <a:spAutoFit/>
          </a:bodyPr>
          <a:lstStyle/>
          <a:p>
            <a:pPr algn="l">
              <a:spcAft>
                <a:spcPts val="400"/>
              </a:spcAft>
            </a:pPr>
            <a:r>
              <a:rPr sz="1400" b="1" i="0">
                <a:solidFill>
                  <a:srgbClr val="C8E64D"/>
                </a:solidFill>
                <a:latin typeface="Arial"/>
              </a:rPr>
              <a:t>D7</a:t>
            </a:r>
          </a:p>
        </p:txBody>
      </p:sp>
      <p:sp>
        <p:nvSpPr>
          <p:cNvPr id="399" name="TextBox 398"/>
          <p:cNvSpPr txBox="1"/>
          <p:nvPr/>
        </p:nvSpPr>
        <p:spPr>
          <a:xfrm>
            <a:off x="7717536" y="2468879"/>
            <a:ext cx="932688" cy="228600"/>
          </a:xfrm>
          <a:prstGeom prst="rect">
            <a:avLst/>
          </a:prstGeom>
          <a:noFill/>
        </p:spPr>
        <p:txBody>
          <a:bodyPr wrap="square" lIns="0" rIns="0" tIns="0" bIns="0" anchor="t">
            <a:spAutoFit/>
          </a:bodyPr>
          <a:lstStyle/>
          <a:p>
            <a:pPr algn="r">
              <a:spcAft>
                <a:spcPts val="400"/>
              </a:spcAft>
            </a:pPr>
            <a:r>
              <a:rPr sz="950" b="1" i="0">
                <a:solidFill>
                  <a:srgbClr val="A6A6A6"/>
                </a:solidFill>
                <a:latin typeface="Arial"/>
              </a:rPr>
              <a:t>4'</a:t>
            </a:r>
          </a:p>
        </p:txBody>
      </p:sp>
      <p:sp>
        <p:nvSpPr>
          <p:cNvPr id="400" name="TextBox 399"/>
          <p:cNvSpPr txBox="1"/>
          <p:nvPr/>
        </p:nvSpPr>
        <p:spPr>
          <a:xfrm>
            <a:off x="7022592" y="2788920"/>
            <a:ext cx="1627632" cy="274320"/>
          </a:xfrm>
          <a:prstGeom prst="rect">
            <a:avLst/>
          </a:prstGeom>
          <a:noFill/>
        </p:spPr>
        <p:txBody>
          <a:bodyPr wrap="square" lIns="0" rIns="0" tIns="0" bIns="0" anchor="t">
            <a:spAutoFit/>
          </a:bodyPr>
          <a:lstStyle/>
          <a:p>
            <a:pPr algn="l">
              <a:spcAft>
                <a:spcPts val="400"/>
              </a:spcAft>
            </a:pPr>
            <a:r>
              <a:rPr sz="1150" b="1" i="0">
                <a:solidFill>
                  <a:srgbClr val="FFFFFF"/>
                </a:solidFill>
                <a:latin typeface="Arial"/>
              </a:rPr>
              <a:t>QA</a:t>
            </a:r>
          </a:p>
        </p:txBody>
      </p:sp>
      <p:sp>
        <p:nvSpPr>
          <p:cNvPr id="401" name="TextBox 400"/>
          <p:cNvSpPr txBox="1"/>
          <p:nvPr/>
        </p:nvSpPr>
        <p:spPr>
          <a:xfrm>
            <a:off x="7022592" y="3063239"/>
            <a:ext cx="1627632" cy="201168"/>
          </a:xfrm>
          <a:prstGeom prst="rect">
            <a:avLst/>
          </a:prstGeom>
          <a:noFill/>
        </p:spPr>
        <p:txBody>
          <a:bodyPr wrap="square" lIns="0" rIns="0" tIns="0" bIns="0" anchor="t">
            <a:spAutoFit/>
          </a:bodyPr>
          <a:lstStyle/>
          <a:p>
            <a:pPr algn="l">
              <a:spcAft>
                <a:spcPts val="400"/>
              </a:spcAft>
            </a:pPr>
            <a:r>
              <a:rPr sz="900" b="0" i="0">
                <a:solidFill>
                  <a:srgbClr val="DDDDDD"/>
                </a:solidFill>
                <a:latin typeface="Courier New"/>
              </a:rPr>
              <a:t>MCP de Playwright</a:t>
            </a:r>
          </a:p>
        </p:txBody>
      </p:sp>
      <p:sp>
        <p:nvSpPr>
          <p:cNvPr id="402" name="TextBox 401"/>
          <p:cNvSpPr txBox="1"/>
          <p:nvPr/>
        </p:nvSpPr>
        <p:spPr>
          <a:xfrm>
            <a:off x="7022592" y="3264408"/>
            <a:ext cx="1627632" cy="201168"/>
          </a:xfrm>
          <a:prstGeom prst="rect">
            <a:avLst/>
          </a:prstGeom>
          <a:noFill/>
        </p:spPr>
        <p:txBody>
          <a:bodyPr wrap="square" lIns="0" rIns="0" tIns="0" bIns="0" anchor="t">
            <a:spAutoFit/>
          </a:bodyPr>
          <a:lstStyle/>
          <a:p>
            <a:pPr algn="l">
              <a:spcAft>
                <a:spcPts val="400"/>
              </a:spcAft>
            </a:pPr>
            <a:r>
              <a:rPr sz="800" b="0" i="0">
                <a:solidFill>
                  <a:srgbClr val="A6A6A6"/>
                </a:solidFill>
                <a:latin typeface="Arial"/>
              </a:rPr>
              <a:t>producción · E8</a:t>
            </a:r>
          </a:p>
        </p:txBody>
      </p:sp>
      <p:sp>
        <p:nvSpPr>
          <p:cNvPr id="403" name="Rectangle 402"/>
          <p:cNvSpPr/>
          <p:nvPr/>
        </p:nvSpPr>
        <p:spPr>
          <a:xfrm>
            <a:off x="365760" y="3886200"/>
            <a:ext cx="8412480" cy="731520"/>
          </a:xfrm>
          <a:prstGeom prst="rect">
            <a:avLst/>
          </a:prstGeom>
          <a:solidFill>
            <a:srgbClr val="23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4" name="TextBox 403"/>
          <p:cNvSpPr txBox="1"/>
          <p:nvPr/>
        </p:nvSpPr>
        <p:spPr>
          <a:xfrm>
            <a:off x="548640" y="3886200"/>
            <a:ext cx="8046720" cy="731520"/>
          </a:xfrm>
          <a:prstGeom prst="rect">
            <a:avLst/>
          </a:prstGeom>
          <a:noFill/>
        </p:spPr>
        <p:txBody>
          <a:bodyPr wrap="square" lIns="0" rIns="0" tIns="0" bIns="0" anchor="ctr">
            <a:spAutoFit/>
          </a:bodyPr>
          <a:lstStyle/>
          <a:p>
            <a:pPr algn="l">
              <a:spcAft>
                <a:spcPts val="400"/>
              </a:spcAft>
            </a:pPr>
            <a:r>
              <a:rPr sz="1050" b="0" i="0">
                <a:solidFill>
                  <a:srgbClr val="FFFFFF"/>
                </a:solidFill>
                <a:latin typeface="Arial"/>
              </a:rPr>
              <a:t>Prueba de fuego al final: </a:t>
            </a:r>
            <a:r>
              <a:rPr sz="1050" b="1" i="0">
                <a:solidFill>
                  <a:srgbClr val="C8E64D"/>
                </a:solidFill>
                <a:latin typeface="Arial"/>
              </a:rPr>
              <a:t>2 Huila + 1 Chiapas + BIENVENIDA10 = $837</a:t>
            </a:r>
            <a:r>
              <a:rPr sz="1050" b="0" i="0">
                <a:solidFill>
                  <a:srgbClr val="FFFFFF"/>
                </a:solidFill>
                <a:latin typeface="Arial"/>
              </a:rPr>
              <a:t>, con envío gratis, en producción.</a:t>
            </a:r>
          </a:p>
          <a:p>
            <a:pPr algn="l">
              <a:spcAft>
                <a:spcPts val="400"/>
              </a:spcAft>
            </a:pPr>
            <a:r>
              <a:rPr sz="1050" b="0" i="0">
                <a:solidFill>
                  <a:srgbClr val="FFFFFF"/>
                </a:solidFill>
                <a:latin typeface="Arial"/>
              </a:rPr>
              <a:t>Cada paso tiene un respaldo en git: si algo falla en vivo, salto al siguiente tag y seguimos.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D0D0D"/>
        </a:solidFill>
      </p:bgPr>
    </p:bg>
    <p:spTree>
      <p:nvGrpSpPr>
        <p:cNvPr id="1" name=""/>
        <p:cNvGrpSpPr/>
        <p:nvPr/>
      </p:nvGrpSpPr>
      <p:grpSpPr/>
      <p:sp>
        <p:nvSpPr>
          <p:cNvPr id="335" name="Google Shape;335;p14"/>
          <p:cNvSpPr/>
          <p:nvPr/>
        </p:nvSpPr>
        <p:spPr>
          <a:xfrm>
            <a:off x="4572" y="4514"/>
            <a:ext cx="9143999" cy="64065"/>
          </a:xfrm>
          <a:prstGeom prst="rect">
            <a:avLst/>
          </a:prstGeom>
          <a:solidFill>
            <a:srgbClr val="C8E64D"/>
          </a:solidFill>
          <a:ln cap="flat" cmpd="sng" w="12700">
            <a:solidFill>
              <a:srgbClr val="C8E64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336" name="Google Shape;336;p14"/>
          <p:cNvCxnSpPr/>
          <p:nvPr/>
        </p:nvCxnSpPr>
        <p:spPr>
          <a:xfrm>
            <a:off x="365759" y="759586"/>
            <a:ext cx="4389120" cy="0"/>
          </a:xfrm>
          <a:prstGeom prst="straightConnector1">
            <a:avLst/>
          </a:prstGeom>
          <a:noFill/>
          <a:ln cap="flat" cmpd="sng" w="19050">
            <a:solidFill>
              <a:srgbClr val="C8E64D"/>
            </a:solidFill>
            <a:prstDash val="solid"/>
            <a:round/>
            <a:headEnd len="sm" w="sm" type="none"/>
            <a:tailEnd len="sm" w="sm" type="none"/>
          </a:ln>
          <a:effectLst>
            <a:outerShdw blurRad="40000" rotWithShape="0" dir="5400000" dist="20000">
              <a:srgbClr val="000000">
                <a:alpha val="38039"/>
              </a:srgbClr>
            </a:outerShdw>
          </a:effectLst>
        </p:spPr>
      </p:cxnSp>
      <p:pic>
        <p:nvPicPr>
          <p:cNvPr descr="image.png" id="345" name="Google Shape;345;p14"/>
          <p:cNvPicPr preferRelativeResize="0"/>
          <p:nvPr/>
        </p:nvPicPr>
        <p:blipFill rotWithShape="1">
          <a:blip r:embed="rId2">
            <a:alphaModFix/>
          </a:blip>
          <a:srcRect b="0" l="0" r="0" t="0"/>
          <a:stretch/>
        </p:blipFill>
        <p:spPr>
          <a:xfrm>
            <a:off x="7772400" y="91566"/>
            <a:ext cx="1170432" cy="658368"/>
          </a:xfrm>
          <a:prstGeom prst="rect">
            <a:avLst/>
          </a:prstGeom>
          <a:noFill/>
          <a:ln>
            <a:noFill/>
          </a:ln>
        </p:spPr>
      </p:pic>
      <p:sp>
        <p:nvSpPr>
          <p:cNvPr id="346" name="Google Shape;346;p14"/>
          <p:cNvSpPr txBox="1"/>
          <p:nvPr/>
        </p:nvSpPr>
        <p:spPr>
          <a:xfrm>
            <a:off x="320357" y="4940472"/>
            <a:ext cx="1263005" cy="11250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90">
                <a:solidFill>
                  <a:srgbClr val="666666"/>
                </a:solidFill>
                <a:latin typeface="Arial"/>
                <a:ea typeface="Arial"/>
                <a:cs typeface="Arial"/>
                <a:sym typeface="Arial"/>
              </a:rPr>
              <a:t>AI for Developers | 30X</a:t>
            </a:r>
            <a:endParaRPr/>
          </a:p>
        </p:txBody>
      </p:sp>
      <p:sp>
        <p:nvSpPr>
          <p:cNvPr id="347" name="Google Shape;347;p14"/>
          <p:cNvSpPr txBox="1"/>
          <p:nvPr/>
        </p:nvSpPr>
        <p:spPr>
          <a:xfrm>
            <a:off x="8549640" y="4940472"/>
            <a:ext cx="457200" cy="11250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790">
                <a:solidFill>
                  <a:srgbClr val="666666"/>
                </a:solidFill>
                <a:latin typeface="Arial"/>
                <a:ea typeface="Arial"/>
                <a:cs typeface="Arial"/>
                <a:sym typeface="Arial"/>
              </a:rPr>
              <a:t>10</a:t>
            </a:r>
            <a:endParaRPr/>
          </a:p>
        </p:txBody>
      </p:sp>
      <p:sp>
        <p:nvSpPr>
          <p:cNvPr id="348" name="Google Shape;348;p14"/>
          <p:cNvSpPr txBox="1"/>
          <p:nvPr/>
        </p:nvSpPr>
        <p:spPr>
          <a:xfrm>
            <a:off x="366077" y="236955"/>
            <a:ext cx="7223760" cy="3171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240">
                <a:solidFill>
                  <a:srgbClr val="FFFFFF"/>
                </a:solidFill>
                <a:latin typeface="Arial"/>
                <a:ea typeface="Arial"/>
                <a:cs typeface="Arial"/>
                <a:sym typeface="Arial"/>
              </a:rPr>
              <a:t>Las reglas del juego</a:t>
            </a:r>
            <a:endParaRPr/>
          </a:p>
        </p:txBody>
      </p:sp>
      <p:sp>
        <p:nvSpPr>
          <p:cNvPr id="349" name="Rectangle 348"/>
          <p:cNvSpPr/>
          <p:nvPr/>
        </p:nvSpPr>
        <p:spPr>
          <a:xfrm>
            <a:off x="365760" y="896112"/>
            <a:ext cx="2697480" cy="260604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0" name="TextBox 349"/>
          <p:cNvSpPr txBox="1"/>
          <p:nvPr/>
        </p:nvSpPr>
        <p:spPr>
          <a:xfrm>
            <a:off x="502920" y="987552"/>
            <a:ext cx="2423160" cy="256032"/>
          </a:xfrm>
          <a:prstGeom prst="rect">
            <a:avLst/>
          </a:prstGeom>
          <a:noFill/>
        </p:spPr>
        <p:txBody>
          <a:bodyPr wrap="square" lIns="0" rIns="0" tIns="0" bIns="0" anchor="t">
            <a:spAutoFit/>
          </a:bodyPr>
          <a:lstStyle/>
          <a:p>
            <a:pPr algn="l">
              <a:spcAft>
                <a:spcPts val="400"/>
              </a:spcAft>
            </a:pPr>
            <a:r>
              <a:rPr sz="1150" b="1" i="0">
                <a:solidFill>
                  <a:srgbClr val="C8E64D"/>
                </a:solidFill>
                <a:latin typeface="Courier New"/>
              </a:rPr>
              <a:t>CLAUDE.md</a:t>
            </a:r>
          </a:p>
        </p:txBody>
      </p:sp>
      <p:sp>
        <p:nvSpPr>
          <p:cNvPr id="351" name="TextBox 350"/>
          <p:cNvSpPr txBox="1"/>
          <p:nvPr/>
        </p:nvSpPr>
        <p:spPr>
          <a:xfrm>
            <a:off x="502920" y="1261872"/>
            <a:ext cx="2423160" cy="274320"/>
          </a:xfrm>
          <a:prstGeom prst="rect">
            <a:avLst/>
          </a:prstGeom>
          <a:noFill/>
        </p:spPr>
        <p:txBody>
          <a:bodyPr wrap="square" lIns="0" rIns="0" tIns="0" bIns="0" anchor="t">
            <a:spAutoFit/>
          </a:bodyPr>
          <a:lstStyle/>
          <a:p>
            <a:pPr algn="l">
              <a:spcAft>
                <a:spcPts val="400"/>
              </a:spcAft>
            </a:pPr>
            <a:r>
              <a:rPr sz="950" b="0" i="0">
                <a:solidFill>
                  <a:srgbClr val="A6A6A6"/>
                </a:solidFill>
                <a:latin typeface="Arial"/>
              </a:rPr>
              <a:t>El contexto que lee en cada sesión</a:t>
            </a:r>
          </a:p>
        </p:txBody>
      </p:sp>
      <p:sp>
        <p:nvSpPr>
          <p:cNvPr id="352" name="Rectangle 351"/>
          <p:cNvSpPr/>
          <p:nvPr/>
        </p:nvSpPr>
        <p:spPr>
          <a:xfrm>
            <a:off x="502920" y="1600200"/>
            <a:ext cx="2423160" cy="1737360"/>
          </a:xfrm>
          <a:prstGeom prst="rect">
            <a:avLst/>
          </a:prstGeom>
          <a:solidFill>
            <a:srgbClr val="12121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3" name="TextBox 352"/>
          <p:cNvSpPr txBox="1"/>
          <p:nvPr/>
        </p:nvSpPr>
        <p:spPr>
          <a:xfrm>
            <a:off x="594360" y="1673352"/>
            <a:ext cx="2240279" cy="1591056"/>
          </a:xfrm>
          <a:prstGeom prst="rect">
            <a:avLst/>
          </a:prstGeom>
          <a:noFill/>
        </p:spPr>
        <p:txBody>
          <a:bodyPr wrap="square" lIns="0" rIns="0" tIns="0" bIns="0" anchor="t">
            <a:spAutoFit/>
          </a:bodyPr>
          <a:lstStyle/>
          <a:p>
            <a:pPr algn="l">
              <a:spcAft>
                <a:spcPts val="100"/>
              </a:spcAft>
            </a:pPr>
            <a:r>
              <a:rPr sz="850" b="0" i="0">
                <a:solidFill>
                  <a:srgbClr val="E8E8E8"/>
                </a:solidFill>
                <a:latin typeface="Courier New"/>
              </a:rPr>
              <a:t>Fuente de verdad: docs/pvb.md</a:t>
            </a:r>
          </a:p>
          <a:p>
            <a:pPr algn="l">
              <a:spcAft>
                <a:spcPts val="100"/>
              </a:spcAft>
            </a:pPr>
            <a:r>
              <a:rPr sz="850" b="0" i="0">
                <a:solidFill>
                  <a:srgbClr val="E8E8E8"/>
                </a:solidFill>
                <a:latin typeface="Courier New"/>
              </a:rPr>
              <a:t>Stack: Express + TS / React + Vite</a:t>
            </a:r>
          </a:p>
          <a:p>
            <a:pPr algn="l">
              <a:spcAft>
                <a:spcPts val="100"/>
              </a:spcAft>
            </a:pPr>
            <a:r>
              <a:rPr sz="850" b="0" i="0">
                <a:solidFill>
                  <a:srgbClr val="E8E8E8"/>
                </a:solidFill>
                <a:latin typeface="Courier New"/>
              </a:rPr>
              <a:t>Precios solo en la API</a:t>
            </a:r>
          </a:p>
          <a:p>
            <a:pPr algn="l">
              <a:spcAft>
                <a:spcPts val="100"/>
              </a:spcAft>
            </a:pPr>
            <a:r>
              <a:rPr sz="850" b="0" i="0">
                <a:solidFill>
                  <a:srgbClr val="E8E8E8"/>
                </a:solidFill>
                <a:latin typeface="Courier New"/>
              </a:rPr>
              <a:t>'Listo' = tests y build en verde</a:t>
            </a:r>
          </a:p>
        </p:txBody>
      </p:sp>
      <p:sp>
        <p:nvSpPr>
          <p:cNvPr id="354" name="Rectangle 353"/>
          <p:cNvSpPr/>
          <p:nvPr/>
        </p:nvSpPr>
        <p:spPr>
          <a:xfrm>
            <a:off x="3200400" y="896112"/>
            <a:ext cx="2697480" cy="260604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5" name="TextBox 354"/>
          <p:cNvSpPr txBox="1"/>
          <p:nvPr/>
        </p:nvSpPr>
        <p:spPr>
          <a:xfrm>
            <a:off x="3337560" y="987552"/>
            <a:ext cx="2423160" cy="256032"/>
          </a:xfrm>
          <a:prstGeom prst="rect">
            <a:avLst/>
          </a:prstGeom>
          <a:noFill/>
        </p:spPr>
        <p:txBody>
          <a:bodyPr wrap="square" lIns="0" rIns="0" tIns="0" bIns="0" anchor="t">
            <a:spAutoFit/>
          </a:bodyPr>
          <a:lstStyle/>
          <a:p>
            <a:pPr algn="l">
              <a:spcAft>
                <a:spcPts val="400"/>
              </a:spcAft>
            </a:pPr>
            <a:r>
              <a:rPr sz="1150" b="1" i="0">
                <a:solidFill>
                  <a:srgbClr val="C8E64D"/>
                </a:solidFill>
                <a:latin typeface="Courier New"/>
              </a:rPr>
              <a:t>.claude/settings.json</a:t>
            </a:r>
          </a:p>
        </p:txBody>
      </p:sp>
      <p:sp>
        <p:nvSpPr>
          <p:cNvPr id="356" name="TextBox 355"/>
          <p:cNvSpPr txBox="1"/>
          <p:nvPr/>
        </p:nvSpPr>
        <p:spPr>
          <a:xfrm>
            <a:off x="3337560" y="1261872"/>
            <a:ext cx="2423160" cy="274320"/>
          </a:xfrm>
          <a:prstGeom prst="rect">
            <a:avLst/>
          </a:prstGeom>
          <a:noFill/>
        </p:spPr>
        <p:txBody>
          <a:bodyPr wrap="square" lIns="0" rIns="0" tIns="0" bIns="0" anchor="t">
            <a:spAutoFit/>
          </a:bodyPr>
          <a:lstStyle/>
          <a:p>
            <a:pPr algn="l">
              <a:spcAft>
                <a:spcPts val="400"/>
              </a:spcAft>
            </a:pPr>
            <a:r>
              <a:rPr sz="950" b="0" i="0">
                <a:solidFill>
                  <a:srgbClr val="A6A6A6"/>
                </a:solidFill>
                <a:latin typeface="Arial"/>
              </a:rPr>
              <a:t>Lo que puede hacer sin preguntar</a:t>
            </a:r>
          </a:p>
        </p:txBody>
      </p:sp>
      <p:sp>
        <p:nvSpPr>
          <p:cNvPr id="357" name="Rectangle 356"/>
          <p:cNvSpPr/>
          <p:nvPr/>
        </p:nvSpPr>
        <p:spPr>
          <a:xfrm>
            <a:off x="3337560" y="1600200"/>
            <a:ext cx="2423160" cy="1737360"/>
          </a:xfrm>
          <a:prstGeom prst="rect">
            <a:avLst/>
          </a:prstGeom>
          <a:solidFill>
            <a:srgbClr val="12121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8" name="TextBox 357"/>
          <p:cNvSpPr txBox="1"/>
          <p:nvPr/>
        </p:nvSpPr>
        <p:spPr>
          <a:xfrm>
            <a:off x="3429000" y="1673352"/>
            <a:ext cx="2240279" cy="1591056"/>
          </a:xfrm>
          <a:prstGeom prst="rect">
            <a:avLst/>
          </a:prstGeom>
          <a:noFill/>
        </p:spPr>
        <p:txBody>
          <a:bodyPr wrap="square" lIns="0" rIns="0" tIns="0" bIns="0" anchor="t">
            <a:spAutoFit/>
          </a:bodyPr>
          <a:lstStyle/>
          <a:p>
            <a:pPr algn="l">
              <a:spcAft>
                <a:spcPts val="100"/>
              </a:spcAft>
            </a:pPr>
            <a:r>
              <a:rPr sz="850" b="0" i="0">
                <a:solidFill>
                  <a:srgbClr val="E8E8E8"/>
                </a:solidFill>
                <a:latin typeface="Courier New"/>
              </a:rPr>
              <a:t>allow: npm install, npm test,</a:t>
            </a:r>
          </a:p>
          <a:p>
            <a:pPr algn="l">
              <a:spcAft>
                <a:spcPts val="100"/>
              </a:spcAft>
            </a:pPr>
            <a:r>
              <a:rPr sz="850" b="0" i="0">
                <a:solidFill>
                  <a:srgbClr val="E8E8E8"/>
                </a:solidFill>
                <a:latin typeface="Courier New"/>
              </a:rPr>
              <a:t>       npm run, curl</a:t>
            </a:r>
          </a:p>
          <a:p>
            <a:pPr algn="l">
              <a:spcAft>
                <a:spcPts val="100"/>
              </a:spcAft>
            </a:pPr>
            <a:r>
              <a:rPr sz="850" b="0" i="0">
                <a:solidFill>
                  <a:srgbClr val="E8E8E8"/>
                </a:solidFill>
                <a:latin typeface="Courier New"/>
              </a:rPr>
              <a:t>deny:  git commit, git push,</a:t>
            </a:r>
          </a:p>
          <a:p>
            <a:pPr algn="l">
              <a:spcAft>
                <a:spcPts val="100"/>
              </a:spcAft>
            </a:pPr>
            <a:r>
              <a:rPr sz="850" b="0" i="0">
                <a:solidFill>
                  <a:srgbClr val="E8E8E8"/>
                </a:solidFill>
                <a:latin typeface="Courier New"/>
              </a:rPr>
              <a:t>       git reset, leer .env</a:t>
            </a:r>
          </a:p>
        </p:txBody>
      </p:sp>
      <p:sp>
        <p:nvSpPr>
          <p:cNvPr id="359" name="Rectangle 358"/>
          <p:cNvSpPr/>
          <p:nvPr/>
        </p:nvSpPr>
        <p:spPr>
          <a:xfrm>
            <a:off x="6035040" y="896112"/>
            <a:ext cx="2743200" cy="260604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0" name="TextBox 359"/>
          <p:cNvSpPr txBox="1"/>
          <p:nvPr/>
        </p:nvSpPr>
        <p:spPr>
          <a:xfrm>
            <a:off x="6172200" y="987552"/>
            <a:ext cx="2468880" cy="256032"/>
          </a:xfrm>
          <a:prstGeom prst="rect">
            <a:avLst/>
          </a:prstGeom>
          <a:noFill/>
        </p:spPr>
        <p:txBody>
          <a:bodyPr wrap="square" lIns="0" rIns="0" tIns="0" bIns="0" anchor="t">
            <a:spAutoFit/>
          </a:bodyPr>
          <a:lstStyle/>
          <a:p>
            <a:pPr algn="l">
              <a:spcAft>
                <a:spcPts val="400"/>
              </a:spcAft>
            </a:pPr>
            <a:r>
              <a:rPr sz="1150" b="1" i="0">
                <a:solidFill>
                  <a:srgbClr val="C8E64D"/>
                </a:solidFill>
                <a:latin typeface="Arial"/>
              </a:rPr>
              <a:t>Arquitectura</a:t>
            </a:r>
          </a:p>
        </p:txBody>
      </p:sp>
      <p:sp>
        <p:nvSpPr>
          <p:cNvPr id="361" name="TextBox 360"/>
          <p:cNvSpPr txBox="1"/>
          <p:nvPr/>
        </p:nvSpPr>
        <p:spPr>
          <a:xfrm>
            <a:off x="6172200" y="1261872"/>
            <a:ext cx="2468880" cy="274320"/>
          </a:xfrm>
          <a:prstGeom prst="rect">
            <a:avLst/>
          </a:prstGeom>
          <a:noFill/>
        </p:spPr>
        <p:txBody>
          <a:bodyPr wrap="square" lIns="0" rIns="0" tIns="0" bIns="0" anchor="t">
            <a:spAutoFit/>
          </a:bodyPr>
          <a:lstStyle/>
          <a:p>
            <a:pPr algn="l">
              <a:spcAft>
                <a:spcPts val="400"/>
              </a:spcAft>
            </a:pPr>
            <a:r>
              <a:rPr sz="950" b="0" i="0">
                <a:solidFill>
                  <a:srgbClr val="A6A6A6"/>
                </a:solidFill>
                <a:latin typeface="Arial"/>
              </a:rPr>
              <a:t>Cada push a main despliega solo</a:t>
            </a:r>
          </a:p>
        </p:txBody>
      </p:sp>
      <p:sp>
        <p:nvSpPr>
          <p:cNvPr id="362" name="Rectangle 361"/>
          <p:cNvSpPr/>
          <p:nvPr/>
        </p:nvSpPr>
        <p:spPr>
          <a:xfrm>
            <a:off x="6172200" y="1645920"/>
            <a:ext cx="2468880" cy="457200"/>
          </a:xfrm>
          <a:prstGeom prst="rect">
            <a:avLst/>
          </a:prstGeom>
          <a:solidFill>
            <a:srgbClr val="23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3" name="TextBox 362"/>
          <p:cNvSpPr txBox="1"/>
          <p:nvPr/>
        </p:nvSpPr>
        <p:spPr>
          <a:xfrm>
            <a:off x="6281927" y="1700784"/>
            <a:ext cx="822960" cy="347472"/>
          </a:xfrm>
          <a:prstGeom prst="rect">
            <a:avLst/>
          </a:prstGeom>
          <a:noFill/>
        </p:spPr>
        <p:txBody>
          <a:bodyPr wrap="square" lIns="0" rIns="0" tIns="0" bIns="0" anchor="ctr">
            <a:spAutoFit/>
          </a:bodyPr>
          <a:lstStyle/>
          <a:p>
            <a:pPr algn="l">
              <a:spcAft>
                <a:spcPts val="400"/>
              </a:spcAft>
            </a:pPr>
            <a:r>
              <a:rPr sz="1000" b="1" i="0">
                <a:solidFill>
                  <a:srgbClr val="FFFFFF"/>
                </a:solidFill>
                <a:latin typeface="Arial"/>
              </a:rPr>
              <a:t>GitHub</a:t>
            </a:r>
          </a:p>
        </p:txBody>
      </p:sp>
      <p:sp>
        <p:nvSpPr>
          <p:cNvPr id="364" name="TextBox 363"/>
          <p:cNvSpPr txBox="1"/>
          <p:nvPr/>
        </p:nvSpPr>
        <p:spPr>
          <a:xfrm>
            <a:off x="7040879" y="1700784"/>
            <a:ext cx="1554480" cy="347472"/>
          </a:xfrm>
          <a:prstGeom prst="rect">
            <a:avLst/>
          </a:prstGeom>
          <a:noFill/>
        </p:spPr>
        <p:txBody>
          <a:bodyPr wrap="square" lIns="0" rIns="0" tIns="0" bIns="0" anchor="ctr">
            <a:spAutoFit/>
          </a:bodyPr>
          <a:lstStyle/>
          <a:p>
            <a:pPr algn="l">
              <a:spcAft>
                <a:spcPts val="400"/>
              </a:spcAft>
            </a:pPr>
            <a:r>
              <a:rPr sz="850" b="0" i="0">
                <a:solidFill>
                  <a:srgbClr val="A6A6A6"/>
                </a:solidFill>
                <a:latin typeface="Arial"/>
              </a:rPr>
              <a:t>main</a:t>
            </a:r>
          </a:p>
        </p:txBody>
      </p:sp>
      <p:sp>
        <p:nvSpPr>
          <p:cNvPr id="365" name="Rectangle 364"/>
          <p:cNvSpPr/>
          <p:nvPr/>
        </p:nvSpPr>
        <p:spPr>
          <a:xfrm>
            <a:off x="6172200" y="2240280"/>
            <a:ext cx="2468880" cy="457200"/>
          </a:xfrm>
          <a:prstGeom prst="rect">
            <a:avLst/>
          </a:prstGeom>
          <a:solidFill>
            <a:srgbClr val="23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6" name="TextBox 365"/>
          <p:cNvSpPr txBox="1"/>
          <p:nvPr/>
        </p:nvSpPr>
        <p:spPr>
          <a:xfrm>
            <a:off x="6281927" y="2295144"/>
            <a:ext cx="822960" cy="347472"/>
          </a:xfrm>
          <a:prstGeom prst="rect">
            <a:avLst/>
          </a:prstGeom>
          <a:noFill/>
        </p:spPr>
        <p:txBody>
          <a:bodyPr wrap="square" lIns="0" rIns="0" tIns="0" bIns="0" anchor="ctr">
            <a:spAutoFit/>
          </a:bodyPr>
          <a:lstStyle/>
          <a:p>
            <a:pPr algn="l">
              <a:spcAft>
                <a:spcPts val="400"/>
              </a:spcAft>
            </a:pPr>
            <a:r>
              <a:rPr sz="1000" b="1" i="0">
                <a:solidFill>
                  <a:srgbClr val="FFFFFF"/>
                </a:solidFill>
                <a:latin typeface="Arial"/>
              </a:rPr>
              <a:t>Vercel</a:t>
            </a:r>
          </a:p>
        </p:txBody>
      </p:sp>
      <p:sp>
        <p:nvSpPr>
          <p:cNvPr id="367" name="TextBox 366"/>
          <p:cNvSpPr txBox="1"/>
          <p:nvPr/>
        </p:nvSpPr>
        <p:spPr>
          <a:xfrm>
            <a:off x="7040879" y="2295144"/>
            <a:ext cx="1554480" cy="347472"/>
          </a:xfrm>
          <a:prstGeom prst="rect">
            <a:avLst/>
          </a:prstGeom>
          <a:noFill/>
        </p:spPr>
        <p:txBody>
          <a:bodyPr wrap="square" lIns="0" rIns="0" tIns="0" bIns="0" anchor="ctr">
            <a:spAutoFit/>
          </a:bodyPr>
          <a:lstStyle/>
          <a:p>
            <a:pPr algn="l">
              <a:spcAft>
                <a:spcPts val="400"/>
              </a:spcAft>
            </a:pPr>
            <a:r>
              <a:rPr sz="850" b="0" i="0">
                <a:solidFill>
                  <a:srgbClr val="A6A6A6"/>
                </a:solidFill>
                <a:latin typeface="Arial"/>
              </a:rPr>
              <a:t>web/ · la tienda</a:t>
            </a:r>
          </a:p>
        </p:txBody>
      </p:sp>
      <p:sp>
        <p:nvSpPr>
          <p:cNvPr id="368" name="Rectangle 367"/>
          <p:cNvSpPr/>
          <p:nvPr/>
        </p:nvSpPr>
        <p:spPr>
          <a:xfrm>
            <a:off x="6172200" y="2834640"/>
            <a:ext cx="2468880" cy="457200"/>
          </a:xfrm>
          <a:prstGeom prst="rect">
            <a:avLst/>
          </a:prstGeom>
          <a:solidFill>
            <a:srgbClr val="23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9" name="TextBox 368"/>
          <p:cNvSpPr txBox="1"/>
          <p:nvPr/>
        </p:nvSpPr>
        <p:spPr>
          <a:xfrm>
            <a:off x="6281927" y="2889504"/>
            <a:ext cx="822960" cy="347472"/>
          </a:xfrm>
          <a:prstGeom prst="rect">
            <a:avLst/>
          </a:prstGeom>
          <a:noFill/>
        </p:spPr>
        <p:txBody>
          <a:bodyPr wrap="square" lIns="0" rIns="0" tIns="0" bIns="0" anchor="ctr">
            <a:spAutoFit/>
          </a:bodyPr>
          <a:lstStyle/>
          <a:p>
            <a:pPr algn="l">
              <a:spcAft>
                <a:spcPts val="400"/>
              </a:spcAft>
            </a:pPr>
            <a:r>
              <a:rPr sz="1000" b="1" i="0">
                <a:solidFill>
                  <a:srgbClr val="FFFFFF"/>
                </a:solidFill>
                <a:latin typeface="Arial"/>
              </a:rPr>
              <a:t>Render</a:t>
            </a:r>
          </a:p>
        </p:txBody>
      </p:sp>
      <p:sp>
        <p:nvSpPr>
          <p:cNvPr id="370" name="TextBox 369"/>
          <p:cNvSpPr txBox="1"/>
          <p:nvPr/>
        </p:nvSpPr>
        <p:spPr>
          <a:xfrm>
            <a:off x="7040879" y="2889504"/>
            <a:ext cx="1554480" cy="347472"/>
          </a:xfrm>
          <a:prstGeom prst="rect">
            <a:avLst/>
          </a:prstGeom>
          <a:noFill/>
        </p:spPr>
        <p:txBody>
          <a:bodyPr wrap="square" lIns="0" rIns="0" tIns="0" bIns="0" anchor="ctr">
            <a:spAutoFit/>
          </a:bodyPr>
          <a:lstStyle/>
          <a:p>
            <a:pPr algn="l">
              <a:spcAft>
                <a:spcPts val="400"/>
              </a:spcAft>
            </a:pPr>
            <a:r>
              <a:rPr sz="850" b="0" i="0">
                <a:solidFill>
                  <a:srgbClr val="A6A6A6"/>
                </a:solidFill>
                <a:latin typeface="Arial"/>
              </a:rPr>
              <a:t>api/ · precios y pedidos</a:t>
            </a:r>
          </a:p>
        </p:txBody>
      </p:sp>
      <p:cxnSp>
        <p:nvCxnSpPr>
          <p:cNvPr id="371" name="Connector 370"/>
          <p:cNvCxnSpPr/>
          <p:nvPr/>
        </p:nvCxnSpPr>
        <p:spPr>
          <a:xfrm>
            <a:off x="7406640" y="2103120"/>
            <a:ext cx="0" cy="137160"/>
          </a:xfrm>
          <a:prstGeom prst="line">
            <a:avLst/>
          </a:prstGeom>
          <a:ln w="15875">
            <a:solidFill>
              <a:srgbClr val="A6A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7406640" y="2697480"/>
            <a:ext cx="0" cy="137160"/>
          </a:xfrm>
          <a:prstGeom prst="line">
            <a:avLst/>
          </a:prstGeom>
          <a:ln w="15875">
            <a:solidFill>
              <a:srgbClr val="A6A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3" name="Rectangle 372"/>
          <p:cNvSpPr/>
          <p:nvPr/>
        </p:nvSpPr>
        <p:spPr>
          <a:xfrm>
            <a:off x="365760" y="3657600"/>
            <a:ext cx="8412480" cy="960120"/>
          </a:xfrm>
          <a:prstGeom prst="rect">
            <a:avLst/>
          </a:prstGeom>
          <a:solidFill>
            <a:srgbClr val="23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4" name="TextBox 373"/>
          <p:cNvSpPr txBox="1"/>
          <p:nvPr/>
        </p:nvSpPr>
        <p:spPr>
          <a:xfrm>
            <a:off x="548640" y="3657600"/>
            <a:ext cx="8046720" cy="960120"/>
          </a:xfrm>
          <a:prstGeom prst="rect">
            <a:avLst/>
          </a:prstGeom>
          <a:noFill/>
        </p:spPr>
        <p:txBody>
          <a:bodyPr wrap="square" lIns="0" rIns="0" tIns="0" bIns="0" anchor="ctr">
            <a:spAutoFit/>
          </a:bodyPr>
          <a:lstStyle/>
          <a:p>
            <a:pPr algn="ctr">
              <a:spcAft>
                <a:spcPts val="600"/>
              </a:spcAft>
            </a:pPr>
            <a:r>
              <a:rPr sz="1150" b="1" i="0">
                <a:solidFill>
                  <a:srgbClr val="C8E64D"/>
                </a:solidFill>
                <a:latin typeface="Arial"/>
              </a:rPr>
              <a:t>El agente propone y ejecuta. Commit, push y producción los decido yo.</a:t>
            </a:r>
          </a:p>
          <a:p>
            <a:pPr algn="ctr">
              <a:spcAft>
                <a:spcPts val="600"/>
              </a:spcAft>
            </a:pPr>
            <a:r>
              <a:rPr sz="1150" b="0" i="0">
                <a:solidFill>
                  <a:srgbClr val="FFFFFF"/>
                </a:solidFill>
                <a:latin typeface="Arial"/>
              </a:rPr>
              <a:t>Ustedes van a configurar lo mismo en la E3: contexto, permisos y herramientas.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D0D0D"/>
        </a:solidFill>
      </p:bgPr>
    </p:bg>
    <p:spTree>
      <p:nvGrpSpPr>
        <p:cNvPr id="1" name=""/>
        <p:cNvGrpSpPr/>
        <p:nvPr/>
      </p:nvGrpSpPr>
      <p:grpSpPr/>
      <p:sp>
        <p:nvSpPr>
          <p:cNvPr id="335" name="Google Shape;335;p14"/>
          <p:cNvSpPr/>
          <p:nvPr/>
        </p:nvSpPr>
        <p:spPr>
          <a:xfrm>
            <a:off x="4572" y="4514"/>
            <a:ext cx="9143999" cy="64065"/>
          </a:xfrm>
          <a:prstGeom prst="rect">
            <a:avLst/>
          </a:prstGeom>
          <a:solidFill>
            <a:srgbClr val="C8E64D"/>
          </a:solidFill>
          <a:ln cap="flat" cmpd="sng" w="12700">
            <a:solidFill>
              <a:srgbClr val="C8E64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336" name="Google Shape;336;p14"/>
          <p:cNvCxnSpPr/>
          <p:nvPr/>
        </p:nvCxnSpPr>
        <p:spPr>
          <a:xfrm>
            <a:off x="365759" y="759586"/>
            <a:ext cx="4389120" cy="0"/>
          </a:xfrm>
          <a:prstGeom prst="straightConnector1">
            <a:avLst/>
          </a:prstGeom>
          <a:noFill/>
          <a:ln cap="flat" cmpd="sng" w="19050">
            <a:solidFill>
              <a:srgbClr val="C8E64D"/>
            </a:solidFill>
            <a:prstDash val="solid"/>
            <a:round/>
            <a:headEnd len="sm" w="sm" type="none"/>
            <a:tailEnd len="sm" w="sm" type="none"/>
          </a:ln>
          <a:effectLst>
            <a:outerShdw blurRad="40000" rotWithShape="0" dir="5400000" dist="20000">
              <a:srgbClr val="000000">
                <a:alpha val="38039"/>
              </a:srgbClr>
            </a:outerShdw>
          </a:effectLst>
        </p:spPr>
      </p:cxnSp>
      <p:pic>
        <p:nvPicPr>
          <p:cNvPr descr="image.png" id="345" name="Google Shape;345;p14"/>
          <p:cNvPicPr preferRelativeResize="0"/>
          <p:nvPr/>
        </p:nvPicPr>
        <p:blipFill rotWithShape="1">
          <a:blip r:embed="rId2">
            <a:alphaModFix/>
          </a:blip>
          <a:srcRect b="0" l="0" r="0" t="0"/>
          <a:stretch/>
        </p:blipFill>
        <p:spPr>
          <a:xfrm>
            <a:off x="7772400" y="91566"/>
            <a:ext cx="1170432" cy="658368"/>
          </a:xfrm>
          <a:prstGeom prst="rect">
            <a:avLst/>
          </a:prstGeom>
          <a:noFill/>
          <a:ln>
            <a:noFill/>
          </a:ln>
        </p:spPr>
      </p:pic>
      <p:sp>
        <p:nvSpPr>
          <p:cNvPr id="346" name="Google Shape;346;p14"/>
          <p:cNvSpPr txBox="1"/>
          <p:nvPr/>
        </p:nvSpPr>
        <p:spPr>
          <a:xfrm>
            <a:off x="320357" y="4940472"/>
            <a:ext cx="1263005" cy="11250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90">
                <a:solidFill>
                  <a:srgbClr val="666666"/>
                </a:solidFill>
                <a:latin typeface="Arial"/>
                <a:ea typeface="Arial"/>
                <a:cs typeface="Arial"/>
                <a:sym typeface="Arial"/>
              </a:rPr>
              <a:t>AI for Developers | 30X</a:t>
            </a:r>
            <a:endParaRPr/>
          </a:p>
        </p:txBody>
      </p:sp>
      <p:sp>
        <p:nvSpPr>
          <p:cNvPr id="347" name="Google Shape;347;p14"/>
          <p:cNvSpPr txBox="1"/>
          <p:nvPr/>
        </p:nvSpPr>
        <p:spPr>
          <a:xfrm>
            <a:off x="8549640" y="4940472"/>
            <a:ext cx="457200" cy="11250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790">
                <a:solidFill>
                  <a:srgbClr val="666666"/>
                </a:solidFill>
                <a:latin typeface="Arial"/>
                <a:ea typeface="Arial"/>
                <a:cs typeface="Arial"/>
                <a:sym typeface="Arial"/>
              </a:rPr>
              <a:t>11</a:t>
            </a:r>
            <a:endParaRPr/>
          </a:p>
        </p:txBody>
      </p:sp>
      <p:sp>
        <p:nvSpPr>
          <p:cNvPr id="348" name="Google Shape;348;p14"/>
          <p:cNvSpPr txBox="1"/>
          <p:nvPr/>
        </p:nvSpPr>
        <p:spPr>
          <a:xfrm>
            <a:off x="366077" y="236955"/>
            <a:ext cx="7223760" cy="3171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240">
                <a:solidFill>
                  <a:srgbClr val="FFFFFF"/>
                </a:solidFill>
                <a:latin typeface="Arial"/>
                <a:ea typeface="Arial"/>
                <a:cs typeface="Arial"/>
                <a:sym typeface="Arial"/>
              </a:rPr>
              <a:t>¿Qué acaba de pasar?</a:t>
            </a:r>
            <a:endParaRPr/>
          </a:p>
        </p:txBody>
      </p:sp>
      <p:sp>
        <p:nvSpPr>
          <p:cNvPr id="349" name="Rectangle 348"/>
          <p:cNvSpPr/>
          <p:nvPr/>
        </p:nvSpPr>
        <p:spPr>
          <a:xfrm>
            <a:off x="365760" y="896112"/>
            <a:ext cx="2697480" cy="13716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0" name="Oval 349"/>
          <p:cNvSpPr/>
          <p:nvPr/>
        </p:nvSpPr>
        <p:spPr>
          <a:xfrm>
            <a:off x="530352" y="1051560"/>
            <a:ext cx="310896" cy="310896"/>
          </a:xfrm>
          <a:prstGeom prst="ellipse">
            <a:avLst/>
          </a:prstGeom>
          <a:solidFill>
            <a:srgbClr val="C8E6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0D0D0D"/>
                </a:solidFill>
                <a:latin typeface="Arial"/>
              </a:rPr>
              <a:t>1</a:t>
            </a:r>
          </a:p>
        </p:txBody>
      </p:sp>
      <p:sp>
        <p:nvSpPr>
          <p:cNvPr id="351" name="TextBox 350"/>
          <p:cNvSpPr txBox="1"/>
          <p:nvPr/>
        </p:nvSpPr>
        <p:spPr>
          <a:xfrm>
            <a:off x="932688" y="1051560"/>
            <a:ext cx="2011680" cy="310896"/>
          </a:xfrm>
          <a:prstGeom prst="rect">
            <a:avLst/>
          </a:prstGeom>
          <a:noFill/>
        </p:spPr>
        <p:txBody>
          <a:bodyPr wrap="square" lIns="0" rIns="0" tIns="0" bIns="0" anchor="ctr">
            <a:spAutoFit/>
          </a:bodyPr>
          <a:lstStyle/>
          <a:p>
            <a:pPr algn="l">
              <a:spcAft>
                <a:spcPts val="400"/>
              </a:spcAft>
            </a:pPr>
            <a:r>
              <a:rPr sz="1100" b="1" i="0">
                <a:solidFill>
                  <a:srgbClr val="C8E64D"/>
                </a:solidFill>
                <a:latin typeface="Arial"/>
              </a:rPr>
              <a:t>Contexto antes que código</a:t>
            </a:r>
          </a:p>
        </p:txBody>
      </p:sp>
      <p:sp>
        <p:nvSpPr>
          <p:cNvPr id="352" name="TextBox 351"/>
          <p:cNvSpPr txBox="1"/>
          <p:nvPr/>
        </p:nvSpPr>
        <p:spPr>
          <a:xfrm>
            <a:off x="548640" y="1490472"/>
            <a:ext cx="2331720" cy="731520"/>
          </a:xfrm>
          <a:prstGeom prst="rect">
            <a:avLst/>
          </a:prstGeom>
          <a:noFill/>
        </p:spPr>
        <p:txBody>
          <a:bodyPr wrap="square" lIns="0" rIns="0" tIns="0" bIns="0" anchor="t">
            <a:spAutoFit/>
          </a:bodyPr>
          <a:lstStyle/>
          <a:p>
            <a:pPr algn="l">
              <a:spcAft>
                <a:spcPts val="400"/>
              </a:spcAft>
            </a:pPr>
            <a:r>
              <a:rPr sz="950" b="0" i="0">
                <a:solidFill>
                  <a:srgbClr val="DDDDDD"/>
                </a:solidFill>
                <a:latin typeface="Arial"/>
              </a:rPr>
              <a:t>PVB → PRD → plan. El agente no escribió una línea hasta tener reglas y contrato.</a:t>
            </a:r>
          </a:p>
        </p:txBody>
      </p:sp>
      <p:sp>
        <p:nvSpPr>
          <p:cNvPr id="353" name="Rectangle 352"/>
          <p:cNvSpPr/>
          <p:nvPr/>
        </p:nvSpPr>
        <p:spPr>
          <a:xfrm>
            <a:off x="3223260" y="896112"/>
            <a:ext cx="2697480" cy="13716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4" name="Oval 353"/>
          <p:cNvSpPr/>
          <p:nvPr/>
        </p:nvSpPr>
        <p:spPr>
          <a:xfrm>
            <a:off x="3387852" y="1051560"/>
            <a:ext cx="310896" cy="310896"/>
          </a:xfrm>
          <a:prstGeom prst="ellipse">
            <a:avLst/>
          </a:prstGeom>
          <a:solidFill>
            <a:srgbClr val="C8E6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0D0D0D"/>
                </a:solidFill>
                <a:latin typeface="Arial"/>
              </a:rPr>
              <a:t>2</a:t>
            </a:r>
          </a:p>
        </p:txBody>
      </p:sp>
      <p:sp>
        <p:nvSpPr>
          <p:cNvPr id="355" name="TextBox 354"/>
          <p:cNvSpPr txBox="1"/>
          <p:nvPr/>
        </p:nvSpPr>
        <p:spPr>
          <a:xfrm>
            <a:off x="3790187" y="1051560"/>
            <a:ext cx="2011680" cy="310896"/>
          </a:xfrm>
          <a:prstGeom prst="rect">
            <a:avLst/>
          </a:prstGeom>
          <a:noFill/>
        </p:spPr>
        <p:txBody>
          <a:bodyPr wrap="square" lIns="0" rIns="0" tIns="0" bIns="0" anchor="ctr">
            <a:spAutoFit/>
          </a:bodyPr>
          <a:lstStyle/>
          <a:p>
            <a:pPr algn="l">
              <a:spcAft>
                <a:spcPts val="400"/>
              </a:spcAft>
            </a:pPr>
            <a:r>
              <a:rPr sz="1100" b="1" i="0">
                <a:solidFill>
                  <a:srgbClr val="C8E64D"/>
                </a:solidFill>
                <a:latin typeface="Arial"/>
              </a:rPr>
              <a:t>El contrato manda</a:t>
            </a:r>
          </a:p>
        </p:txBody>
      </p:sp>
      <p:sp>
        <p:nvSpPr>
          <p:cNvPr id="356" name="TextBox 355"/>
          <p:cNvSpPr txBox="1"/>
          <p:nvPr/>
        </p:nvSpPr>
        <p:spPr>
          <a:xfrm>
            <a:off x="3406140" y="1490472"/>
            <a:ext cx="2331720" cy="731520"/>
          </a:xfrm>
          <a:prstGeom prst="rect">
            <a:avLst/>
          </a:prstGeom>
          <a:noFill/>
        </p:spPr>
        <p:txBody>
          <a:bodyPr wrap="square" lIns="0" rIns="0" tIns="0" bIns="0" anchor="t">
            <a:spAutoFit/>
          </a:bodyPr>
          <a:lstStyle/>
          <a:p>
            <a:pPr algn="l">
              <a:spcAft>
                <a:spcPts val="400"/>
              </a:spcAft>
            </a:pPr>
            <a:r>
              <a:rPr sz="950" b="0" i="0">
                <a:solidFill>
                  <a:srgbClr val="DDDDDD"/>
                </a:solidFill>
                <a:latin typeface="Arial"/>
              </a:rPr>
              <a:t>Front y back encajaron porque los dos salieron del mismo plan.md.</a:t>
            </a:r>
          </a:p>
        </p:txBody>
      </p:sp>
      <p:sp>
        <p:nvSpPr>
          <p:cNvPr id="357" name="Rectangle 356"/>
          <p:cNvSpPr/>
          <p:nvPr/>
        </p:nvSpPr>
        <p:spPr>
          <a:xfrm>
            <a:off x="6080760" y="896112"/>
            <a:ext cx="2697480" cy="13716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8" name="Oval 357"/>
          <p:cNvSpPr/>
          <p:nvPr/>
        </p:nvSpPr>
        <p:spPr>
          <a:xfrm>
            <a:off x="6245352" y="1051560"/>
            <a:ext cx="310896" cy="310896"/>
          </a:xfrm>
          <a:prstGeom prst="ellipse">
            <a:avLst/>
          </a:prstGeom>
          <a:solidFill>
            <a:srgbClr val="C8E6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0D0D0D"/>
                </a:solidFill>
                <a:latin typeface="Arial"/>
              </a:rPr>
              <a:t>3</a:t>
            </a:r>
          </a:p>
        </p:txBody>
      </p:sp>
      <p:sp>
        <p:nvSpPr>
          <p:cNvPr id="359" name="TextBox 358"/>
          <p:cNvSpPr txBox="1"/>
          <p:nvPr/>
        </p:nvSpPr>
        <p:spPr>
          <a:xfrm>
            <a:off x="6647688" y="1051560"/>
            <a:ext cx="2011680" cy="310896"/>
          </a:xfrm>
          <a:prstGeom prst="rect">
            <a:avLst/>
          </a:prstGeom>
          <a:noFill/>
        </p:spPr>
        <p:txBody>
          <a:bodyPr wrap="square" lIns="0" rIns="0" tIns="0" bIns="0" anchor="ctr">
            <a:spAutoFit/>
          </a:bodyPr>
          <a:lstStyle/>
          <a:p>
            <a:pPr algn="l">
              <a:spcAft>
                <a:spcPts val="400"/>
              </a:spcAft>
            </a:pPr>
            <a:r>
              <a:rPr sz="1100" b="1" i="0">
                <a:solidFill>
                  <a:srgbClr val="C8E64D"/>
                </a:solidFill>
                <a:latin typeface="Arial"/>
              </a:rPr>
              <a:t>Tests como freno</a:t>
            </a:r>
          </a:p>
        </p:txBody>
      </p:sp>
      <p:sp>
        <p:nvSpPr>
          <p:cNvPr id="360" name="TextBox 359"/>
          <p:cNvSpPr txBox="1"/>
          <p:nvPr/>
        </p:nvSpPr>
        <p:spPr>
          <a:xfrm>
            <a:off x="6263640" y="1490472"/>
            <a:ext cx="2331720" cy="731520"/>
          </a:xfrm>
          <a:prstGeom prst="rect">
            <a:avLst/>
          </a:prstGeom>
          <a:noFill/>
        </p:spPr>
        <p:txBody>
          <a:bodyPr wrap="square" lIns="0" rIns="0" tIns="0" bIns="0" anchor="t">
            <a:spAutoFit/>
          </a:bodyPr>
          <a:lstStyle/>
          <a:p>
            <a:pPr algn="l">
              <a:spcAft>
                <a:spcPts val="400"/>
              </a:spcAft>
            </a:pPr>
            <a:r>
              <a:rPr sz="950" b="0" i="0">
                <a:solidFill>
                  <a:srgbClr val="DDDDDD"/>
                </a:solidFill>
                <a:latin typeface="Arial"/>
              </a:rPr>
              <a:t>'Listo' solo con tests en verde. El $837 quedó escrito como test.</a:t>
            </a:r>
          </a:p>
        </p:txBody>
      </p:sp>
      <p:sp>
        <p:nvSpPr>
          <p:cNvPr id="361" name="Rectangle 360"/>
          <p:cNvSpPr/>
          <p:nvPr/>
        </p:nvSpPr>
        <p:spPr>
          <a:xfrm>
            <a:off x="365760" y="2377440"/>
            <a:ext cx="2697480" cy="13716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2" name="Oval 361"/>
          <p:cNvSpPr/>
          <p:nvPr/>
        </p:nvSpPr>
        <p:spPr>
          <a:xfrm>
            <a:off x="530352" y="2532888"/>
            <a:ext cx="310896" cy="310896"/>
          </a:xfrm>
          <a:prstGeom prst="ellipse">
            <a:avLst/>
          </a:prstGeom>
          <a:solidFill>
            <a:srgbClr val="C8E6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0D0D0D"/>
                </a:solidFill>
                <a:latin typeface="Arial"/>
              </a:rPr>
              <a:t>4</a:t>
            </a:r>
          </a:p>
        </p:txBody>
      </p:sp>
      <p:sp>
        <p:nvSpPr>
          <p:cNvPr id="363" name="TextBox 362"/>
          <p:cNvSpPr txBox="1"/>
          <p:nvPr/>
        </p:nvSpPr>
        <p:spPr>
          <a:xfrm>
            <a:off x="932688" y="2532888"/>
            <a:ext cx="2011680" cy="310896"/>
          </a:xfrm>
          <a:prstGeom prst="rect">
            <a:avLst/>
          </a:prstGeom>
          <a:noFill/>
        </p:spPr>
        <p:txBody>
          <a:bodyPr wrap="square" lIns="0" rIns="0" tIns="0" bIns="0" anchor="ctr">
            <a:spAutoFit/>
          </a:bodyPr>
          <a:lstStyle/>
          <a:p>
            <a:pPr algn="l">
              <a:spcAft>
                <a:spcPts val="400"/>
              </a:spcAft>
            </a:pPr>
            <a:r>
              <a:rPr sz="1100" b="1" i="0">
                <a:solidFill>
                  <a:srgbClr val="C8E64D"/>
                </a:solidFill>
                <a:latin typeface="Arial"/>
              </a:rPr>
              <a:t>Checkpoints baratos</a:t>
            </a:r>
          </a:p>
        </p:txBody>
      </p:sp>
      <p:sp>
        <p:nvSpPr>
          <p:cNvPr id="364" name="TextBox 363"/>
          <p:cNvSpPr txBox="1"/>
          <p:nvPr/>
        </p:nvSpPr>
        <p:spPr>
          <a:xfrm>
            <a:off x="548640" y="2971800"/>
            <a:ext cx="2331720" cy="731520"/>
          </a:xfrm>
          <a:prstGeom prst="rect">
            <a:avLst/>
          </a:prstGeom>
          <a:noFill/>
        </p:spPr>
        <p:txBody>
          <a:bodyPr wrap="square" lIns="0" rIns="0" tIns="0" bIns="0" anchor="t">
            <a:spAutoFit/>
          </a:bodyPr>
          <a:lstStyle/>
          <a:p>
            <a:pPr algn="l">
              <a:spcAft>
                <a:spcPts val="400"/>
              </a:spcAft>
            </a:pPr>
            <a:r>
              <a:rPr sz="950" b="0" i="0">
                <a:solidFill>
                  <a:srgbClr val="DDDDDD"/>
                </a:solidFill>
                <a:latin typeface="Arial"/>
              </a:rPr>
              <a:t>Un tag por paso. Fallar en vivo cuesta un git switch, no la demo.</a:t>
            </a:r>
          </a:p>
        </p:txBody>
      </p:sp>
      <p:sp>
        <p:nvSpPr>
          <p:cNvPr id="365" name="Rectangle 364"/>
          <p:cNvSpPr/>
          <p:nvPr/>
        </p:nvSpPr>
        <p:spPr>
          <a:xfrm>
            <a:off x="3223260" y="2377440"/>
            <a:ext cx="2697480" cy="13716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6" name="Oval 365"/>
          <p:cNvSpPr/>
          <p:nvPr/>
        </p:nvSpPr>
        <p:spPr>
          <a:xfrm>
            <a:off x="3387852" y="2532888"/>
            <a:ext cx="310896" cy="310896"/>
          </a:xfrm>
          <a:prstGeom prst="ellipse">
            <a:avLst/>
          </a:prstGeom>
          <a:solidFill>
            <a:srgbClr val="C8E6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0D0D0D"/>
                </a:solidFill>
                <a:latin typeface="Arial"/>
              </a:rPr>
              <a:t>5</a:t>
            </a:r>
          </a:p>
        </p:txBody>
      </p:sp>
      <p:sp>
        <p:nvSpPr>
          <p:cNvPr id="367" name="TextBox 366"/>
          <p:cNvSpPr txBox="1"/>
          <p:nvPr/>
        </p:nvSpPr>
        <p:spPr>
          <a:xfrm>
            <a:off x="3790187" y="2532888"/>
            <a:ext cx="2011680" cy="310896"/>
          </a:xfrm>
          <a:prstGeom prst="rect">
            <a:avLst/>
          </a:prstGeom>
          <a:noFill/>
        </p:spPr>
        <p:txBody>
          <a:bodyPr wrap="square" lIns="0" rIns="0" tIns="0" bIns="0" anchor="ctr">
            <a:spAutoFit/>
          </a:bodyPr>
          <a:lstStyle/>
          <a:p>
            <a:pPr algn="l">
              <a:spcAft>
                <a:spcPts val="400"/>
              </a:spcAft>
            </a:pPr>
            <a:r>
              <a:rPr sz="1100" b="1" i="0">
                <a:solidFill>
                  <a:srgbClr val="C8E64D"/>
                </a:solidFill>
                <a:latin typeface="Arial"/>
              </a:rPr>
              <a:t>Tú decides qué sale</a:t>
            </a:r>
          </a:p>
        </p:txBody>
      </p:sp>
      <p:sp>
        <p:nvSpPr>
          <p:cNvPr id="368" name="TextBox 367"/>
          <p:cNvSpPr txBox="1"/>
          <p:nvPr/>
        </p:nvSpPr>
        <p:spPr>
          <a:xfrm>
            <a:off x="3406140" y="2971800"/>
            <a:ext cx="2331720" cy="731520"/>
          </a:xfrm>
          <a:prstGeom prst="rect">
            <a:avLst/>
          </a:prstGeom>
          <a:noFill/>
        </p:spPr>
        <p:txBody>
          <a:bodyPr wrap="square" lIns="0" rIns="0" tIns="0" bIns="0" anchor="t">
            <a:spAutoFit/>
          </a:bodyPr>
          <a:lstStyle/>
          <a:p>
            <a:pPr algn="l">
              <a:spcAft>
                <a:spcPts val="400"/>
              </a:spcAft>
            </a:pPr>
            <a:r>
              <a:rPr sz="950" b="0" i="0">
                <a:solidFill>
                  <a:srgbClr val="DDDDDD"/>
                </a:solidFill>
                <a:latin typeface="Arial"/>
              </a:rPr>
              <a:t>El agente no puede hacer push. Commit y producción son decisiones humanas.</a:t>
            </a:r>
          </a:p>
        </p:txBody>
      </p:sp>
      <p:sp>
        <p:nvSpPr>
          <p:cNvPr id="369" name="Rectangle 368"/>
          <p:cNvSpPr/>
          <p:nvPr/>
        </p:nvSpPr>
        <p:spPr>
          <a:xfrm>
            <a:off x="6080760" y="2377440"/>
            <a:ext cx="2697480" cy="13716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0" name="Oval 369"/>
          <p:cNvSpPr/>
          <p:nvPr/>
        </p:nvSpPr>
        <p:spPr>
          <a:xfrm>
            <a:off x="6245352" y="2532888"/>
            <a:ext cx="310896" cy="310896"/>
          </a:xfrm>
          <a:prstGeom prst="ellipse">
            <a:avLst/>
          </a:prstGeom>
          <a:solidFill>
            <a:srgbClr val="C8E6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0D0D0D"/>
                </a:solidFill>
                <a:latin typeface="Arial"/>
              </a:rPr>
              <a:t>6</a:t>
            </a:r>
          </a:p>
        </p:txBody>
      </p:sp>
      <p:sp>
        <p:nvSpPr>
          <p:cNvPr id="371" name="TextBox 370"/>
          <p:cNvSpPr txBox="1"/>
          <p:nvPr/>
        </p:nvSpPr>
        <p:spPr>
          <a:xfrm>
            <a:off x="6647688" y="2532888"/>
            <a:ext cx="2011680" cy="310896"/>
          </a:xfrm>
          <a:prstGeom prst="rect">
            <a:avLst/>
          </a:prstGeom>
          <a:noFill/>
        </p:spPr>
        <p:txBody>
          <a:bodyPr wrap="square" lIns="0" rIns="0" tIns="0" bIns="0" anchor="ctr">
            <a:spAutoFit/>
          </a:bodyPr>
          <a:lstStyle/>
          <a:p>
            <a:pPr algn="l">
              <a:spcAft>
                <a:spcPts val="400"/>
              </a:spcAft>
            </a:pPr>
            <a:r>
              <a:rPr sz="1100" b="1" i="0">
                <a:solidFill>
                  <a:srgbClr val="C8E64D"/>
                </a:solidFill>
                <a:latin typeface="Arial"/>
              </a:rPr>
              <a:t>QA con ojos</a:t>
            </a:r>
          </a:p>
        </p:txBody>
      </p:sp>
      <p:sp>
        <p:nvSpPr>
          <p:cNvPr id="372" name="TextBox 371"/>
          <p:cNvSpPr txBox="1"/>
          <p:nvPr/>
        </p:nvSpPr>
        <p:spPr>
          <a:xfrm>
            <a:off x="6263640" y="2971800"/>
            <a:ext cx="2331720" cy="731520"/>
          </a:xfrm>
          <a:prstGeom prst="rect">
            <a:avLst/>
          </a:prstGeom>
          <a:noFill/>
        </p:spPr>
        <p:txBody>
          <a:bodyPr wrap="square" lIns="0" rIns="0" tIns="0" bIns="0" anchor="t">
            <a:spAutoFit/>
          </a:bodyPr>
          <a:lstStyle/>
          <a:p>
            <a:pPr algn="l">
              <a:spcAft>
                <a:spcPts val="400"/>
              </a:spcAft>
            </a:pPr>
            <a:r>
              <a:rPr sz="950" b="0" i="0">
                <a:solidFill>
                  <a:srgbClr val="DDDDDD"/>
                </a:solidFill>
                <a:latin typeface="Arial"/>
              </a:rPr>
              <a:t>Playwright compró en producción y confirmó el $837 del PRD.</a:t>
            </a:r>
          </a:p>
        </p:txBody>
      </p:sp>
      <p:sp>
        <p:nvSpPr>
          <p:cNvPr id="373" name="Rectangle 372"/>
          <p:cNvSpPr/>
          <p:nvPr/>
        </p:nvSpPr>
        <p:spPr>
          <a:xfrm>
            <a:off x="365760" y="3931920"/>
            <a:ext cx="8412480" cy="685800"/>
          </a:xfrm>
          <a:prstGeom prst="rect">
            <a:avLst/>
          </a:prstGeom>
          <a:solidFill>
            <a:srgbClr val="23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4" name="TextBox 373"/>
          <p:cNvSpPr txBox="1"/>
          <p:nvPr/>
        </p:nvSpPr>
        <p:spPr>
          <a:xfrm>
            <a:off x="548640" y="3931920"/>
            <a:ext cx="8046720" cy="685800"/>
          </a:xfrm>
          <a:prstGeom prst="rect">
            <a:avLst/>
          </a:prstGeom>
          <a:noFill/>
        </p:spPr>
        <p:txBody>
          <a:bodyPr wrap="square" lIns="0" rIns="0" tIns="0" bIns="0" anchor="ctr">
            <a:spAutoFit/>
          </a:bodyPr>
          <a:lstStyle/>
          <a:p>
            <a:pPr algn="ctr">
              <a:spcAft>
                <a:spcPts val="400"/>
              </a:spcAft>
            </a:pPr>
            <a:r>
              <a:rPr sz="1200" b="0" i="0">
                <a:solidFill>
                  <a:srgbClr val="FFFFFF"/>
                </a:solidFill>
                <a:latin typeface="Arial"/>
              </a:rPr>
              <a:t>Hoy fue la versión exprés. </a:t>
            </a:r>
            <a:r>
              <a:rPr sz="1200" b="1" i="0">
                <a:solidFill>
                  <a:srgbClr val="C8E64D"/>
                </a:solidFill>
                <a:latin typeface="Arial"/>
              </a:rPr>
              <a:t>En las próximas 10 estaciones cada paso se hace con método.</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D0D0D"/>
        </a:solidFill>
      </p:bgPr>
    </p:bg>
    <p:spTree>
      <p:nvGrpSpPr>
        <p:cNvPr id="1" name=""/>
        <p:cNvGrpSpPr/>
        <p:nvPr/>
      </p:nvGrpSpPr>
      <p:grpSpPr/>
      <p:sp>
        <p:nvSpPr>
          <p:cNvPr id="335" name="Google Shape;335;p14"/>
          <p:cNvSpPr/>
          <p:nvPr/>
        </p:nvSpPr>
        <p:spPr>
          <a:xfrm>
            <a:off x="4572" y="4514"/>
            <a:ext cx="9143999" cy="64065"/>
          </a:xfrm>
          <a:prstGeom prst="rect">
            <a:avLst/>
          </a:prstGeom>
          <a:solidFill>
            <a:srgbClr val="C8E64D"/>
          </a:solidFill>
          <a:ln cap="flat" cmpd="sng" w="12700">
            <a:solidFill>
              <a:srgbClr val="C8E64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336" name="Google Shape;336;p14"/>
          <p:cNvCxnSpPr/>
          <p:nvPr/>
        </p:nvCxnSpPr>
        <p:spPr>
          <a:xfrm>
            <a:off x="365759" y="759586"/>
            <a:ext cx="4389120" cy="0"/>
          </a:xfrm>
          <a:prstGeom prst="straightConnector1">
            <a:avLst/>
          </a:prstGeom>
          <a:noFill/>
          <a:ln cap="flat" cmpd="sng" w="19050">
            <a:solidFill>
              <a:srgbClr val="C8E64D"/>
            </a:solidFill>
            <a:prstDash val="solid"/>
            <a:round/>
            <a:headEnd len="sm" w="sm" type="none"/>
            <a:tailEnd len="sm" w="sm" type="none"/>
          </a:ln>
          <a:effectLst>
            <a:outerShdw blurRad="40000" rotWithShape="0" dir="5400000" dist="20000">
              <a:srgbClr val="000000">
                <a:alpha val="38039"/>
              </a:srgbClr>
            </a:outerShdw>
          </a:effectLst>
        </p:spPr>
      </p:cxnSp>
      <p:pic>
        <p:nvPicPr>
          <p:cNvPr descr="image.png" id="345" name="Google Shape;345;p14"/>
          <p:cNvPicPr preferRelativeResize="0"/>
          <p:nvPr/>
        </p:nvPicPr>
        <p:blipFill rotWithShape="1">
          <a:blip r:embed="rId2">
            <a:alphaModFix/>
          </a:blip>
          <a:srcRect b="0" l="0" r="0" t="0"/>
          <a:stretch/>
        </p:blipFill>
        <p:spPr>
          <a:xfrm>
            <a:off x="7772400" y="91566"/>
            <a:ext cx="1170432" cy="658368"/>
          </a:xfrm>
          <a:prstGeom prst="rect">
            <a:avLst/>
          </a:prstGeom>
          <a:noFill/>
          <a:ln>
            <a:noFill/>
          </a:ln>
        </p:spPr>
      </p:pic>
      <p:sp>
        <p:nvSpPr>
          <p:cNvPr id="346" name="Google Shape;346;p14"/>
          <p:cNvSpPr txBox="1"/>
          <p:nvPr/>
        </p:nvSpPr>
        <p:spPr>
          <a:xfrm>
            <a:off x="320357" y="4940472"/>
            <a:ext cx="1263005" cy="11250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90">
                <a:solidFill>
                  <a:srgbClr val="666666"/>
                </a:solidFill>
                <a:latin typeface="Arial"/>
                <a:ea typeface="Arial"/>
                <a:cs typeface="Arial"/>
                <a:sym typeface="Arial"/>
              </a:rPr>
              <a:t>AI for Developers | 30X</a:t>
            </a:r>
            <a:endParaRPr/>
          </a:p>
        </p:txBody>
      </p:sp>
      <p:sp>
        <p:nvSpPr>
          <p:cNvPr id="347" name="Google Shape;347;p14"/>
          <p:cNvSpPr txBox="1"/>
          <p:nvPr/>
        </p:nvSpPr>
        <p:spPr>
          <a:xfrm>
            <a:off x="8549640" y="4940472"/>
            <a:ext cx="457200" cy="11250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790">
                <a:solidFill>
                  <a:srgbClr val="666666"/>
                </a:solidFill>
                <a:latin typeface="Arial"/>
                <a:ea typeface="Arial"/>
                <a:cs typeface="Arial"/>
                <a:sym typeface="Arial"/>
              </a:rPr>
              <a:t>12</a:t>
            </a:r>
            <a:endParaRPr/>
          </a:p>
        </p:txBody>
      </p:sp>
      <p:sp>
        <p:nvSpPr>
          <p:cNvPr id="348" name="Google Shape;348;p14"/>
          <p:cNvSpPr txBox="1"/>
          <p:nvPr/>
        </p:nvSpPr>
        <p:spPr>
          <a:xfrm>
            <a:off x="366077" y="236955"/>
            <a:ext cx="7223760" cy="3171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240">
                <a:solidFill>
                  <a:srgbClr val="FFFFFF"/>
                </a:solidFill>
                <a:latin typeface="Arial"/>
                <a:ea typeface="Arial"/>
                <a:cs typeface="Arial"/>
                <a:sym typeface="Arial"/>
              </a:rPr>
              <a:t>Tu entregable: Product Vision Board</a:t>
            </a:r>
            <a:endParaRPr/>
          </a:p>
        </p:txBody>
      </p:sp>
      <p:sp>
        <p:nvSpPr>
          <p:cNvPr id="349" name="TextBox 348"/>
          <p:cNvSpPr txBox="1"/>
          <p:nvPr/>
        </p:nvSpPr>
        <p:spPr>
          <a:xfrm>
            <a:off x="365760" y="896112"/>
            <a:ext cx="8412480" cy="274320"/>
          </a:xfrm>
          <a:prstGeom prst="rect">
            <a:avLst/>
          </a:prstGeom>
          <a:noFill/>
        </p:spPr>
        <p:txBody>
          <a:bodyPr wrap="square" lIns="0" rIns="0" tIns="0" bIns="0" anchor="t">
            <a:spAutoFit/>
          </a:bodyPr>
          <a:lstStyle/>
          <a:p>
            <a:pPr algn="l">
              <a:spcAft>
                <a:spcPts val="400"/>
              </a:spcAft>
            </a:pPr>
            <a:r>
              <a:rPr sz="1150" b="0" i="0">
                <a:solidFill>
                  <a:srgbClr val="DDDDDD"/>
                </a:solidFill>
                <a:latin typeface="Arial"/>
              </a:rPr>
              <a:t>El PVB del producto que vas a construir en el programa. Elige tu track:</a:t>
            </a:r>
          </a:p>
        </p:txBody>
      </p:sp>
      <p:sp>
        <p:nvSpPr>
          <p:cNvPr id="350" name="Rectangle 349"/>
          <p:cNvSpPr/>
          <p:nvPr/>
        </p:nvSpPr>
        <p:spPr>
          <a:xfrm>
            <a:off x="365760" y="1325880"/>
            <a:ext cx="4023360" cy="896112"/>
          </a:xfrm>
          <a:prstGeom prst="rect">
            <a:avLst/>
          </a:prstGeom>
          <a:solidFill>
            <a:srgbClr val="1A1A1A"/>
          </a:solidFill>
          <a:ln w="12700">
            <a:solidFill>
              <a:srgbClr val="C8E6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1" name="TextBox 350"/>
          <p:cNvSpPr txBox="1"/>
          <p:nvPr/>
        </p:nvSpPr>
        <p:spPr>
          <a:xfrm>
            <a:off x="530352" y="1435607"/>
            <a:ext cx="3657600" cy="256032"/>
          </a:xfrm>
          <a:prstGeom prst="rect">
            <a:avLst/>
          </a:prstGeom>
          <a:noFill/>
        </p:spPr>
        <p:txBody>
          <a:bodyPr wrap="square" lIns="0" rIns="0" tIns="0" bIns="0" anchor="t">
            <a:spAutoFit/>
          </a:bodyPr>
          <a:lstStyle/>
          <a:p>
            <a:pPr algn="l">
              <a:spcAft>
                <a:spcPts val="400"/>
              </a:spcAft>
            </a:pPr>
            <a:r>
              <a:rPr sz="1150" b="1" i="0">
                <a:solidFill>
                  <a:srgbClr val="FFFFFF"/>
                </a:solidFill>
                <a:latin typeface="Arial"/>
              </a:rPr>
              <a:t>Producto nuevo</a:t>
            </a:r>
          </a:p>
        </p:txBody>
      </p:sp>
      <p:sp>
        <p:nvSpPr>
          <p:cNvPr id="352" name="TextBox 351"/>
          <p:cNvSpPr txBox="1"/>
          <p:nvPr/>
        </p:nvSpPr>
        <p:spPr>
          <a:xfrm>
            <a:off x="530352" y="1709928"/>
            <a:ext cx="3657600" cy="228600"/>
          </a:xfrm>
          <a:prstGeom prst="rect">
            <a:avLst/>
          </a:prstGeom>
          <a:noFill/>
        </p:spPr>
        <p:txBody>
          <a:bodyPr wrap="square" lIns="0" rIns="0" tIns="0" bIns="0" anchor="t">
            <a:spAutoFit/>
          </a:bodyPr>
          <a:lstStyle/>
          <a:p>
            <a:pPr algn="l">
              <a:spcAft>
                <a:spcPts val="400"/>
              </a:spcAft>
            </a:pPr>
            <a:r>
              <a:rPr sz="1000" b="1" i="0">
                <a:solidFill>
                  <a:srgbClr val="C8E64D"/>
                </a:solidFill>
                <a:latin typeface="Arial"/>
              </a:rPr>
              <a:t>Product Vision Board (PVB)</a:t>
            </a:r>
          </a:p>
        </p:txBody>
      </p:sp>
      <p:sp>
        <p:nvSpPr>
          <p:cNvPr id="353" name="TextBox 352"/>
          <p:cNvSpPr txBox="1"/>
          <p:nvPr/>
        </p:nvSpPr>
        <p:spPr>
          <a:xfrm>
            <a:off x="530352" y="1947672"/>
            <a:ext cx="3657600" cy="228600"/>
          </a:xfrm>
          <a:prstGeom prst="rect">
            <a:avLst/>
          </a:prstGeom>
          <a:noFill/>
        </p:spPr>
        <p:txBody>
          <a:bodyPr wrap="square" lIns="0" rIns="0" tIns="0" bIns="0" anchor="t">
            <a:spAutoFit/>
          </a:bodyPr>
          <a:lstStyle/>
          <a:p>
            <a:pPr algn="l">
              <a:spcAft>
                <a:spcPts val="400"/>
              </a:spcAft>
            </a:pPr>
            <a:r>
              <a:rPr sz="900" b="0" i="0">
                <a:solidFill>
                  <a:srgbClr val="A6A6A6"/>
                </a:solidFill>
                <a:latin typeface="Arial"/>
              </a:rPr>
              <a:t>Para una idea propia o un producto que no existe.</a:t>
            </a:r>
          </a:p>
        </p:txBody>
      </p:sp>
      <p:sp>
        <p:nvSpPr>
          <p:cNvPr id="354" name="Rectangle 353"/>
          <p:cNvSpPr/>
          <p:nvPr/>
        </p:nvSpPr>
        <p:spPr>
          <a:xfrm>
            <a:off x="365760" y="2350008"/>
            <a:ext cx="4023360" cy="89611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5" name="TextBox 354"/>
          <p:cNvSpPr txBox="1"/>
          <p:nvPr/>
        </p:nvSpPr>
        <p:spPr>
          <a:xfrm>
            <a:off x="530352" y="2459736"/>
            <a:ext cx="3657600" cy="256032"/>
          </a:xfrm>
          <a:prstGeom prst="rect">
            <a:avLst/>
          </a:prstGeom>
          <a:noFill/>
        </p:spPr>
        <p:txBody>
          <a:bodyPr wrap="square" lIns="0" rIns="0" tIns="0" bIns="0" anchor="t">
            <a:spAutoFit/>
          </a:bodyPr>
          <a:lstStyle/>
          <a:p>
            <a:pPr algn="l">
              <a:spcAft>
                <a:spcPts val="400"/>
              </a:spcAft>
            </a:pPr>
            <a:r>
              <a:rPr sz="1150" b="1" i="0">
                <a:solidFill>
                  <a:srgbClr val="FFFFFF"/>
                </a:solidFill>
                <a:latin typeface="Arial"/>
              </a:rPr>
              <a:t>Solución interna</a:t>
            </a:r>
          </a:p>
        </p:txBody>
      </p:sp>
      <p:sp>
        <p:nvSpPr>
          <p:cNvPr id="356" name="TextBox 355"/>
          <p:cNvSpPr txBox="1"/>
          <p:nvPr/>
        </p:nvSpPr>
        <p:spPr>
          <a:xfrm>
            <a:off x="530352" y="2734056"/>
            <a:ext cx="3657600" cy="228600"/>
          </a:xfrm>
          <a:prstGeom prst="rect">
            <a:avLst/>
          </a:prstGeom>
          <a:noFill/>
        </p:spPr>
        <p:txBody>
          <a:bodyPr wrap="square" lIns="0" rIns="0" tIns="0" bIns="0" anchor="t">
            <a:spAutoFit/>
          </a:bodyPr>
          <a:lstStyle/>
          <a:p>
            <a:pPr algn="l">
              <a:spcAft>
                <a:spcPts val="400"/>
              </a:spcAft>
            </a:pPr>
            <a:r>
              <a:rPr sz="1000" b="1" i="0">
                <a:solidFill>
                  <a:srgbClr val="C8E64D"/>
                </a:solidFill>
                <a:latin typeface="Arial"/>
              </a:rPr>
              <a:t>Internal Solution Brief (ISB)</a:t>
            </a:r>
          </a:p>
        </p:txBody>
      </p:sp>
      <p:sp>
        <p:nvSpPr>
          <p:cNvPr id="357" name="TextBox 356"/>
          <p:cNvSpPr txBox="1"/>
          <p:nvPr/>
        </p:nvSpPr>
        <p:spPr>
          <a:xfrm>
            <a:off x="530352" y="2971800"/>
            <a:ext cx="3657600" cy="228600"/>
          </a:xfrm>
          <a:prstGeom prst="rect">
            <a:avLst/>
          </a:prstGeom>
          <a:noFill/>
        </p:spPr>
        <p:txBody>
          <a:bodyPr wrap="square" lIns="0" rIns="0" tIns="0" bIns="0" anchor="t">
            <a:spAutoFit/>
          </a:bodyPr>
          <a:lstStyle/>
          <a:p>
            <a:pPr algn="l">
              <a:spcAft>
                <a:spcPts val="400"/>
              </a:spcAft>
            </a:pPr>
            <a:r>
              <a:rPr sz="900" b="0" i="0">
                <a:solidFill>
                  <a:srgbClr val="A6A6A6"/>
                </a:solidFill>
                <a:latin typeface="Arial"/>
              </a:rPr>
              <a:t>Para resolver un problema dentro de tu empresa.</a:t>
            </a:r>
          </a:p>
        </p:txBody>
      </p:sp>
      <p:sp>
        <p:nvSpPr>
          <p:cNvPr id="358" name="Rectangle 357"/>
          <p:cNvSpPr/>
          <p:nvPr/>
        </p:nvSpPr>
        <p:spPr>
          <a:xfrm>
            <a:off x="4572000" y="1325880"/>
            <a:ext cx="4206240" cy="192024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9" name="TextBox 358"/>
          <p:cNvSpPr txBox="1"/>
          <p:nvPr/>
        </p:nvSpPr>
        <p:spPr>
          <a:xfrm>
            <a:off x="4736592" y="1417320"/>
            <a:ext cx="3840480" cy="256032"/>
          </a:xfrm>
          <a:prstGeom prst="rect">
            <a:avLst/>
          </a:prstGeom>
          <a:noFill/>
        </p:spPr>
        <p:txBody>
          <a:bodyPr wrap="square" lIns="0" rIns="0" tIns="0" bIns="0" anchor="t">
            <a:spAutoFit/>
          </a:bodyPr>
          <a:lstStyle/>
          <a:p>
            <a:pPr algn="l">
              <a:spcAft>
                <a:spcPts val="400"/>
              </a:spcAft>
            </a:pPr>
            <a:r>
              <a:rPr sz="1150" b="1" i="0">
                <a:solidFill>
                  <a:srgbClr val="C8E64D"/>
                </a:solidFill>
                <a:latin typeface="Arial"/>
              </a:rPr>
              <a:t>Está bien hecho si…</a:t>
            </a:r>
          </a:p>
        </p:txBody>
      </p:sp>
      <p:sp>
        <p:nvSpPr>
          <p:cNvPr id="360" name="TextBox 359"/>
          <p:cNvSpPr txBox="1"/>
          <p:nvPr/>
        </p:nvSpPr>
        <p:spPr>
          <a:xfrm>
            <a:off x="4736592" y="1755648"/>
            <a:ext cx="3840480" cy="1463040"/>
          </a:xfrm>
          <a:prstGeom prst="rect">
            <a:avLst/>
          </a:prstGeom>
          <a:noFill/>
        </p:spPr>
        <p:txBody>
          <a:bodyPr wrap="square" lIns="0" rIns="0" tIns="0" bIns="0" anchor="t">
            <a:spAutoFit/>
          </a:bodyPr>
          <a:lstStyle/>
          <a:p>
            <a:pPr algn="l">
              <a:spcAft>
                <a:spcPts val="500"/>
              </a:spcAft>
            </a:pPr>
            <a:r>
              <a:rPr sz="1000" b="0" i="0">
                <a:solidFill>
                  <a:srgbClr val="FFFFFF"/>
                </a:solidFill>
                <a:latin typeface="Arial"/>
              </a:rPr>
              <a:t>✓ La visión cabe en una frase</a:t>
            </a:r>
          </a:p>
          <a:p>
            <a:pPr algn="l">
              <a:spcAft>
                <a:spcPts val="500"/>
              </a:spcAft>
            </a:pPr>
            <a:r>
              <a:rPr sz="1000" b="0" i="0">
                <a:solidFill>
                  <a:srgbClr val="FFFFFF"/>
                </a:solidFill>
                <a:latin typeface="Arial"/>
              </a:rPr>
              <a:t>✓ El usuario es concreto, no "todo el mundo"</a:t>
            </a:r>
          </a:p>
          <a:p>
            <a:pPr algn="l">
              <a:spcAft>
                <a:spcPts val="500"/>
              </a:spcAft>
            </a:pPr>
            <a:r>
              <a:rPr sz="1000" b="0" i="0">
                <a:solidFill>
                  <a:srgbClr val="FFFFFF"/>
                </a:solidFill>
                <a:latin typeface="Arial"/>
              </a:rPr>
              <a:t>✓ Cada objetivo tiene un número</a:t>
            </a:r>
          </a:p>
          <a:p>
            <a:pPr algn="l">
              <a:spcAft>
                <a:spcPts val="500"/>
              </a:spcAft>
            </a:pPr>
            <a:r>
              <a:rPr sz="1000" b="0" i="0">
                <a:solidFill>
                  <a:srgbClr val="FFFFFF"/>
                </a:solidFill>
                <a:latin typeface="Arial"/>
              </a:rPr>
              <a:t>✓ Hay reglas de negocio y algo fuera de alcance</a:t>
            </a:r>
          </a:p>
          <a:p>
            <a:pPr algn="l">
              <a:spcAft>
                <a:spcPts val="500"/>
              </a:spcAft>
            </a:pPr>
            <a:r>
              <a:rPr sz="1000" b="0" i="0">
                <a:solidFill>
                  <a:srgbClr val="FFFFFF"/>
                </a:solidFill>
                <a:latin typeface="Arial"/>
              </a:rPr>
              <a:t>✓ Un agente podría escribir el PRD solo con él</a:t>
            </a:r>
          </a:p>
        </p:txBody>
      </p:sp>
      <p:sp>
        <p:nvSpPr>
          <p:cNvPr id="361" name="Rectangle 360"/>
          <p:cNvSpPr/>
          <p:nvPr/>
        </p:nvSpPr>
        <p:spPr>
          <a:xfrm>
            <a:off x="365760" y="3429000"/>
            <a:ext cx="8412480" cy="1188720"/>
          </a:xfrm>
          <a:prstGeom prst="rect">
            <a:avLst/>
          </a:prstGeom>
          <a:solidFill>
            <a:srgbClr val="23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2" name="TextBox 361"/>
          <p:cNvSpPr txBox="1"/>
          <p:nvPr/>
        </p:nvSpPr>
        <p:spPr>
          <a:xfrm>
            <a:off x="548640" y="3493008"/>
            <a:ext cx="8046720" cy="1097280"/>
          </a:xfrm>
          <a:prstGeom prst="rect">
            <a:avLst/>
          </a:prstGeom>
          <a:noFill/>
        </p:spPr>
        <p:txBody>
          <a:bodyPr wrap="square" lIns="0" rIns="0" tIns="0" bIns="0" anchor="ctr">
            <a:spAutoFit/>
          </a:bodyPr>
          <a:lstStyle/>
          <a:p>
            <a:pPr algn="l">
              <a:spcAft>
                <a:spcPts val="600"/>
              </a:spcAft>
            </a:pPr>
            <a:r>
              <a:rPr sz="1050" b="1" i="0">
                <a:solidFill>
                  <a:srgbClr val="FFFFFF"/>
                </a:solidFill>
                <a:latin typeface="Arial"/>
              </a:rPr>
              <a:t>Entrega:</a:t>
            </a:r>
            <a:r>
              <a:rPr sz="1050" b="0" i="0">
                <a:solidFill>
                  <a:srgbClr val="DDDDDD"/>
                </a:solidFill>
                <a:latin typeface="Arial"/>
              </a:rPr>
              <a:t> antes de la E2 (miércoles 14 de octubre). La E2 arranca de tu PVB para escribir el PRD.</a:t>
            </a:r>
          </a:p>
          <a:p>
            <a:pPr algn="l">
              <a:spcAft>
                <a:spcPts val="600"/>
              </a:spcAft>
            </a:pPr>
            <a:r>
              <a:rPr sz="1050" b="1" i="0">
                <a:solidFill>
                  <a:srgbClr val="FFFFFF"/>
                </a:solidFill>
                <a:latin typeface="Arial"/>
              </a:rPr>
              <a:t>Material:</a:t>
            </a:r>
            <a:r>
              <a:rPr sz="1050" b="0" i="0">
                <a:solidFill>
                  <a:srgbClr val="DDDDDD"/>
                </a:solidFill>
                <a:latin typeface="Arial"/>
              </a:rPr>
              <a:t> plantillas con preguntas guía y ejemplos resueltos en la plataforma de 30X.</a:t>
            </a:r>
          </a:p>
          <a:p>
            <a:pPr algn="l">
              <a:spcAft>
                <a:spcPts val="600"/>
              </a:spcAft>
            </a:pPr>
            <a:r>
              <a:rPr sz="1050" b="1" i="0">
                <a:solidFill>
                  <a:srgbClr val="FFFFFF"/>
                </a:solidFill>
                <a:latin typeface="Arial"/>
              </a:rPr>
              <a:t>Dudas:</a:t>
            </a:r>
            <a:r>
              <a:rPr sz="1050" b="0" i="0">
                <a:solidFill>
                  <a:srgbClr val="DDDDDD"/>
                </a:solidFill>
                <a:latin typeface="Arial"/>
              </a:rPr>
              <a:t> en la tutoría de la E1 y en el canal del programa.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D0D0D"/>
        </a:solidFill>
      </p:bgPr>
    </p:bg>
    <p:spTree>
      <p:nvGrpSpPr>
        <p:cNvPr id="1" name=""/>
        <p:cNvGrpSpPr/>
        <p:nvPr/>
      </p:nvGrpSpPr>
      <p:grpSpPr/>
      <p:sp>
        <p:nvSpPr>
          <p:cNvPr id="117" name="Google Shape;117;p3"/>
          <p:cNvSpPr/>
          <p:nvPr/>
        </p:nvSpPr>
        <p:spPr>
          <a:xfrm>
            <a:off x="4572" y="4579"/>
            <a:ext cx="128015" cy="5152644"/>
          </a:xfrm>
          <a:prstGeom prst="rect">
            <a:avLst/>
          </a:prstGeom>
          <a:solidFill>
            <a:srgbClr val="C8E64D"/>
          </a:solidFill>
          <a:ln cap="flat" cmpd="sng" w="12700">
            <a:solidFill>
              <a:srgbClr val="C8E64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3"/>
          <p:cNvSpPr txBox="1"/>
          <p:nvPr/>
        </p:nvSpPr>
        <p:spPr>
          <a:xfrm>
            <a:off x="457834" y="737089"/>
            <a:ext cx="1381971" cy="116545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30">
                <a:solidFill>
                  <a:srgbClr val="C8E64D"/>
                </a:solidFill>
                <a:latin typeface="Arial"/>
                <a:ea typeface="Arial"/>
                <a:cs typeface="Arial"/>
                <a:sym typeface="Arial"/>
              </a:rPr>
              <a:t>?</a:t>
            </a:r>
            <a:endParaRPr/>
          </a:p>
        </p:txBody>
      </p:sp>
      <p:sp>
        <p:nvSpPr>
          <p:cNvPr id="119" name="Google Shape;119;p3"/>
          <p:cNvSpPr txBox="1"/>
          <p:nvPr/>
        </p:nvSpPr>
        <p:spPr>
          <a:xfrm>
            <a:off x="457834" y="2583813"/>
            <a:ext cx="7255061" cy="45000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80">
                <a:solidFill>
                  <a:srgbClr val="FFFFFF"/>
                </a:solidFill>
                <a:latin typeface="Arial"/>
                <a:ea typeface="Arial"/>
                <a:cs typeface="Arial"/>
                <a:sym typeface="Arial"/>
              </a:rPr>
              <a:t>Preguntas</a:t>
            </a:r>
            <a:endParaRPr/>
          </a:p>
        </p:txBody>
      </p:sp>
      <p:sp>
        <p:nvSpPr>
          <p:cNvPr id="120" name="Google Shape;120;p3"/>
          <p:cNvSpPr txBox="1"/>
          <p:nvPr/>
        </p:nvSpPr>
        <p:spPr>
          <a:xfrm>
            <a:off x="457834" y="3723373"/>
            <a:ext cx="7772400" cy="18422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00">
                <a:solidFill>
                  <a:srgbClr val="999999"/>
                </a:solidFill>
                <a:latin typeface="Arial"/>
                <a:ea typeface="Arial"/>
                <a:cs typeface="Arial"/>
                <a:sym typeface="Arial"/>
              </a:rPr>
              <a:t>7:50 · sigue Andrés Bilbao</a:t>
            </a:r>
            <a:endParaRPr/>
          </a:p>
        </p:txBody>
      </p:sp>
      <p:sp>
        <p:nvSpPr>
          <p:cNvPr id="121" name="Google Shape;121;p3"/>
          <p:cNvSpPr txBox="1"/>
          <p:nvPr/>
        </p:nvSpPr>
        <p:spPr>
          <a:xfrm>
            <a:off x="320357" y="4941101"/>
            <a:ext cx="1262575" cy="11215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90">
                <a:solidFill>
                  <a:srgbClr val="666666"/>
                </a:solidFill>
                <a:latin typeface="Arial"/>
                <a:ea typeface="Arial"/>
                <a:cs typeface="Arial"/>
                <a:sym typeface="Arial"/>
              </a:rPr>
              <a:t>AI for Developers | 30X</a:t>
            </a:r>
            <a:endParaRPr/>
          </a:p>
        </p:txBody>
      </p:sp>
      <p:sp>
        <p:nvSpPr>
          <p:cNvPr id="122" name="Google Shape;122;p3"/>
          <p:cNvSpPr txBox="1"/>
          <p:nvPr/>
        </p:nvSpPr>
        <p:spPr>
          <a:xfrm>
            <a:off x="8549640" y="4941101"/>
            <a:ext cx="457200" cy="11215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790">
                <a:solidFill>
                  <a:srgbClr val="666666"/>
                </a:solidFill>
                <a:latin typeface="Arial"/>
                <a:ea typeface="Arial"/>
                <a:cs typeface="Arial"/>
                <a:sym typeface="Arial"/>
              </a:rPr>
              <a:t>13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