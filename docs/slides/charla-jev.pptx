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336" r:id="rId20"/>
    <p:sldId id="337" r:id="rId21"/>
    <p:sldId id="338" r:id="rId22"/>
    <p:sldId id="339" r:id="rId23"/>
    <p:sldId id="340" r:id="rId24"/>
    <p:sldId id="341" r:id="rId19"/>
    <p:sldId id="342" r:id="rId18"/>
    <p:sldId id="343" r:id="rId17"/>
    <p:sldId id="344" r:id="rId16"/>
    <p:sldId id="345" r:id="rId15"/>
    <p:sldId id="346" r:id="rId14"/>
    <p:sldId id="347" r:id="rId13"/>
    <p:sldId id="348" r:id="rId12"/>
    <p:sldId id="349" r:id="rId11"/>
    <p:sldId id="350" r:id="rId10"/>
    <p:sldId id="351" r:id="rId9"/>
  </p:sldIdLst>
  <p:sldSz cy="514805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jc7gD/wRqr05EwQvDqIjTIQbH/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" Type="http://schemas.openxmlformats.org/officeDocument/2006/relationships/slide" Target="slides/slide29.xml"/><Relationship Id="rId10" Type="http://schemas.openxmlformats.org/officeDocument/2006/relationships/slide" Target="slides/slide28.xml"/><Relationship Id="rId11" Type="http://schemas.openxmlformats.org/officeDocument/2006/relationships/slide" Target="slides/slide27.xml"/><Relationship Id="rId12" Type="http://schemas.openxmlformats.org/officeDocument/2006/relationships/slide" Target="slides/slide26.xml"/><Relationship Id="rId13" Type="http://schemas.openxmlformats.org/officeDocument/2006/relationships/slide" Target="slides/slide25.xml"/><Relationship Id="rId14" Type="http://schemas.openxmlformats.org/officeDocument/2006/relationships/slide" Target="slides/slide24.xml"/><Relationship Id="rId15" Type="http://schemas.openxmlformats.org/officeDocument/2006/relationships/slide" Target="slides/slide23.xml"/><Relationship Id="rId16" Type="http://schemas.openxmlformats.org/officeDocument/2006/relationships/slide" Target="slides/slide22.xml"/><Relationship Id="rId17" Type="http://schemas.openxmlformats.org/officeDocument/2006/relationships/slide" Target="slides/slide21.xml"/><Relationship Id="rId18" Type="http://schemas.openxmlformats.org/officeDocument/2006/relationships/slide" Target="slides/slide20.xml"/><Relationship Id="rId19" Type="http://schemas.openxmlformats.org/officeDocument/2006/relationships/slide" Target="slides/slide19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3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Pantalla mientras entra la gente. Terminal y navegador ya abiertos en la otra pantalla.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Presentarme en una línea. La promesa: vamos a arreglar una PDP real gastando tokens solo donde aportan.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 cifras son del ensayo (metrics/prioritize-runs.jsonl). Con un solo ticket, la diferencia de criterios es ilustrativa, no un benchmark.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Medido con builds de producción y red móvil simulada (npm run metrics). El precio aparece igual de rápido en ambas: lo que mejora es la carga completa, la accesibilidad y el código.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/>
      <p:sp>
        <p:nvSpPr>
          <p:cNvPr id="84" name="Google Shape;84;p1"/>
          <p:cNvSpPr/>
          <p:nvPr/>
        </p:nvSpPr>
        <p:spPr>
          <a:xfrm>
            <a:off x="4572" y="4600"/>
            <a:ext cx="9143999" cy="109825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4572" y="5047398"/>
            <a:ext cx="9143999" cy="109825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1"/>
          <p:cNvCxnSpPr/>
          <p:nvPr/>
        </p:nvCxnSpPr>
        <p:spPr>
          <a:xfrm>
            <a:off x="3022092" y="2036317"/>
            <a:ext cx="3108960" cy="0"/>
          </a:xfrm>
          <a:prstGeom prst="straightConnector1">
            <a:avLst/>
          </a:pr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image.png" id="87" name="Google Shape;8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29000" y="594867"/>
            <a:ext cx="2286000" cy="12893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940892" y="2279534"/>
            <a:ext cx="8406131" cy="7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Ya casi empezamos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/>
      <p:sp>
        <p:nvSpPr>
          <p:cNvPr id="93" name="Google Shape;93;p2"/>
          <p:cNvSpPr/>
          <p:nvPr/>
        </p:nvSpPr>
        <p:spPr>
          <a:xfrm>
            <a:off x="4572" y="4600"/>
            <a:ext cx="9143999" cy="109825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572" y="5047398"/>
            <a:ext cx="9143999" cy="109825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3022092" y="2036317"/>
            <a:ext cx="3108960" cy="0"/>
          </a:xfrm>
          <a:prstGeom prst="straightConnector1">
            <a:avLst/>
          </a:prstGeom>
          <a:noFill/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image.png" id="96" name="Google Shape;9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29000" y="594867"/>
            <a:ext cx="2286000" cy="128930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457200" y="2279534"/>
            <a:ext cx="8229600" cy="7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Pregúntale a la IA lo justo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914400" y="3264395"/>
            <a:ext cx="7315200" cy="337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Jev decide · Claude genera · el código pone las reglas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/>
      <p:sp>
        <p:nvSpPr>
          <p:cNvPr id="335" name="Google Shape;335;p14"/>
          <p:cNvSpPr/>
          <p:nvPr/>
        </p:nvSpPr>
        <p:spPr>
          <a:xfrm>
            <a:off x="4572" y="4514"/>
            <a:ext cx="9143999" cy="64065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4"/>
          <p:cNvCxnSpPr/>
          <p:nvPr/>
        </p:nvCxnSpPr>
        <p:spPr>
          <a:xfrm>
            <a:off x="365759" y="759586"/>
            <a:ext cx="4389120" cy="0"/>
          </a:xfrm>
          <a:prstGeom prst="straightConnector1">
            <a:avLst/>
          </a:prstGeom>
          <a:noFill/>
          <a:ln cap="flat" cmpd="sng" w="1905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image.png" id="345" name="Google Shape;34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91566"/>
            <a:ext cx="1170432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4"/>
          <p:cNvSpPr txBox="1"/>
          <p:nvPr/>
        </p:nvSpPr>
        <p:spPr>
          <a:xfrm>
            <a:off x="320357" y="4940472"/>
            <a:ext cx="1263005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for Developers | 30X</a:t>
            </a:r>
            <a:endParaRPr/>
          </a:p>
        </p:txBody>
      </p:sp>
      <p:sp>
        <p:nvSpPr>
          <p:cNvPr id="347" name="Google Shape;347;p14"/>
          <p:cNvSpPr txBox="1"/>
          <p:nvPr/>
        </p:nvSpPr>
        <p:spPr>
          <a:xfrm>
            <a:off x="8549640" y="4940472"/>
            <a:ext cx="457200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48" name="Google Shape;348;p14"/>
          <p:cNvSpPr txBox="1"/>
          <p:nvPr/>
        </p:nvSpPr>
        <p:spPr>
          <a:xfrm>
            <a:off x="366077" y="236955"/>
            <a:ext cx="7223760" cy="31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 · 40 minutos</a:t>
            </a:r>
            <a:endParaRPr/>
          </a:p>
        </p:txBody>
      </p:sp>
      <p:sp>
        <p:nvSpPr>
          <p:cNvPr id="349" name="TextBox 348"/>
          <p:cNvSpPr txBox="1"/>
          <p:nvPr/>
        </p:nvSpPr>
        <p:spPr>
          <a:xfrm>
            <a:off x="365760" y="89611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DDDDDD"/>
                </a:solidFill>
                <a:latin typeface="Arial"/>
              </a:rPr>
              <a:t>Una sola historia de e-commerce: la página de detalle de producto de una tienda de ropa en pesos mexicanos.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365760" y="1325880"/>
            <a:ext cx="3113532" cy="45720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1" name="TextBox 350"/>
          <p:cNvSpPr txBox="1"/>
          <p:nvPr/>
        </p:nvSpPr>
        <p:spPr>
          <a:xfrm>
            <a:off x="365760" y="1325880"/>
            <a:ext cx="31135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Narrativa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3515868" y="1325880"/>
            <a:ext cx="4151376" cy="457200"/>
          </a:xfrm>
          <a:prstGeom prst="rect">
            <a:avLst/>
          </a:prstGeom>
          <a:solidFill>
            <a:srgbClr val="C8E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3" name="TextBox 352"/>
          <p:cNvSpPr txBox="1"/>
          <p:nvPr/>
        </p:nvSpPr>
        <p:spPr>
          <a:xfrm>
            <a:off x="3515868" y="1325880"/>
            <a:ext cx="41513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D0D0D"/>
                </a:solidFill>
                <a:latin typeface="Arial"/>
              </a:rPr>
              <a:t>Demo en vivo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7703820" y="1325880"/>
            <a:ext cx="1037844" cy="45720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5" name="TextBox 354"/>
          <p:cNvSpPr txBox="1"/>
          <p:nvPr/>
        </p:nvSpPr>
        <p:spPr>
          <a:xfrm>
            <a:off x="7703820" y="1325880"/>
            <a:ext cx="10378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Preguntas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365760" y="181051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A6A6"/>
                </a:solidFill>
                <a:latin typeface="Arial"/>
              </a:rPr>
              <a:t>0'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3515868" y="181051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A6A6"/>
                </a:solidFill>
                <a:latin typeface="Arial"/>
              </a:rPr>
              <a:t>15'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7703820" y="181051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A6A6"/>
                </a:solidFill>
                <a:latin typeface="Arial"/>
              </a:rPr>
              <a:t>35'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8193024" y="181051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A6A6"/>
                </a:solidFill>
                <a:latin typeface="Arial"/>
              </a:rPr>
              <a:t>40'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365760" y="2240280"/>
            <a:ext cx="4114800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4" name="TextBox 363"/>
          <p:cNvSpPr txBox="1"/>
          <p:nvPr/>
        </p:nvSpPr>
        <p:spPr>
          <a:xfrm>
            <a:off x="502920" y="2240280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C8E64D"/>
                </a:solidFill>
                <a:latin typeface="Arial"/>
              </a:rPr>
              <a:t>01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1097280" y="2395728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Pregúntale a la IA lo justo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1097280" y="26974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A6A6A6"/>
                </a:solidFill>
                <a:latin typeface="Arial"/>
              </a:rPr>
              <a:t>El problema de los tokens, las 3 ideas y qué es Jev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3383279" y="239572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 i="0">
                <a:solidFill>
                  <a:srgbClr val="C8E64D"/>
                </a:solidFill>
                <a:latin typeface="Arial"/>
              </a:rPr>
              <a:t>0:00 · 15'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4663440" y="2240280"/>
            <a:ext cx="411480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C8E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9" name="TextBox 368"/>
          <p:cNvSpPr txBox="1"/>
          <p:nvPr/>
        </p:nvSpPr>
        <p:spPr>
          <a:xfrm>
            <a:off x="4800600" y="2240280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C8E64D"/>
                </a:solidFill>
                <a:latin typeface="Arial"/>
              </a:rPr>
              <a:t>02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5394960" y="2395728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Demo en vivo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5394960" y="26974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A6A6A6"/>
                </a:solidFill>
                <a:latin typeface="Arial"/>
              </a:rPr>
              <a:t>De un ticket mal escrito a un PR revisado, en local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7680960" y="239572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 i="0">
                <a:solidFill>
                  <a:srgbClr val="C8E64D"/>
                </a:solidFill>
                <a:latin typeface="Arial"/>
              </a:rPr>
              <a:t>0:15 · 20'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365760" y="3264408"/>
            <a:ext cx="4114800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4" name="TextBox 373"/>
          <p:cNvSpPr txBox="1"/>
          <p:nvPr/>
        </p:nvSpPr>
        <p:spPr>
          <a:xfrm>
            <a:off x="502920" y="3264408"/>
            <a:ext cx="548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C8E64D"/>
                </a:solidFill>
                <a:latin typeface="Arial"/>
              </a:rPr>
              <a:t>03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097280" y="3419856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Preguntas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097280" y="372160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A6A6A6"/>
                </a:solidFill>
                <a:latin typeface="Arial"/>
              </a:rPr>
              <a:t>Dudas e ideas para el hackatón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3383279" y="341985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 i="0">
                <a:solidFill>
                  <a:srgbClr val="C8E64D"/>
                </a:solidFill>
                <a:latin typeface="Arial"/>
              </a:rPr>
              <a:t>0:35 · 5'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/>
      <p:sp>
        <p:nvSpPr>
          <p:cNvPr id="117" name="Google Shape;117;p3"/>
          <p:cNvSpPr/>
          <p:nvPr/>
        </p:nvSpPr>
        <p:spPr>
          <a:xfrm>
            <a:off x="4572" y="4579"/>
            <a:ext cx="128015" cy="5152644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457834" y="737089"/>
            <a:ext cx="1381971" cy="1165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30">
                <a:solidFill>
                  <a:srgbClr val="C8E64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457834" y="2583813"/>
            <a:ext cx="7255061" cy="450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Pregúntale a la IA lo justo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457834" y="3723373"/>
            <a:ext cx="7772400" cy="184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El problema de los tokens, las 3 ideas y qué es Jev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320357" y="4941101"/>
            <a:ext cx="1262575" cy="112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for Developers | 30X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8549640" y="4941101"/>
            <a:ext cx="457200" cy="112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/>
      <p:sp>
        <p:nvSpPr>
          <p:cNvPr id="335" name="Google Shape;335;p14"/>
          <p:cNvSpPr/>
          <p:nvPr/>
        </p:nvSpPr>
        <p:spPr>
          <a:xfrm>
            <a:off x="4572" y="4514"/>
            <a:ext cx="9143999" cy="64065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4"/>
          <p:cNvCxnSpPr/>
          <p:nvPr/>
        </p:nvCxnSpPr>
        <p:spPr>
          <a:xfrm>
            <a:off x="365759" y="759586"/>
            <a:ext cx="4389120" cy="0"/>
          </a:xfrm>
          <a:prstGeom prst="straightConnector1">
            <a:avLst/>
          </a:prstGeom>
          <a:noFill/>
          <a:ln cap="flat" cmpd="sng" w="1905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image.png" id="345" name="Google Shape;34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91566"/>
            <a:ext cx="1170432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4"/>
          <p:cNvSpPr txBox="1"/>
          <p:nvPr/>
        </p:nvSpPr>
        <p:spPr>
          <a:xfrm>
            <a:off x="320357" y="4940472"/>
            <a:ext cx="1263005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for Developers | 30X</a:t>
            </a:r>
            <a:endParaRPr/>
          </a:p>
        </p:txBody>
      </p:sp>
      <p:sp>
        <p:nvSpPr>
          <p:cNvPr id="347" name="Google Shape;347;p14"/>
          <p:cNvSpPr txBox="1"/>
          <p:nvPr/>
        </p:nvSpPr>
        <p:spPr>
          <a:xfrm>
            <a:off x="8549640" y="4940472"/>
            <a:ext cx="457200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48" name="Google Shape;348;p14"/>
          <p:cNvSpPr txBox="1"/>
          <p:nvPr/>
        </p:nvSpPr>
        <p:spPr>
          <a:xfrm>
            <a:off x="366077" y="236955"/>
            <a:ext cx="7223760" cy="31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problema: "prompt y parseo"</a:t>
            </a:r>
            <a:endParaRPr/>
          </a:p>
        </p:txBody>
      </p:sp>
      <p:sp>
        <p:nvSpPr>
          <p:cNvPr id="349" name="Rectangle 348"/>
          <p:cNvSpPr/>
          <p:nvPr/>
        </p:nvSpPr>
        <p:spPr>
          <a:xfrm>
            <a:off x="365760" y="896112"/>
            <a:ext cx="4114800" cy="2971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TextBox 349"/>
          <p:cNvSpPr txBox="1"/>
          <p:nvPr/>
        </p:nvSpPr>
        <p:spPr>
          <a:xfrm>
            <a:off x="548640" y="10058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Pedirle el orden a Opus (Claude Code)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548640" y="1417320"/>
            <a:ext cx="3749039" cy="365760"/>
          </a:xfrm>
          <a:prstGeom prst="rect">
            <a:avLst/>
          </a:prstGeom>
          <a:solidFill>
            <a:srgbClr val="12121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2" name="TextBox 351"/>
          <p:cNvSpPr txBox="1"/>
          <p:nvPr/>
        </p:nvSpPr>
        <p:spPr>
          <a:xfrm>
            <a:off x="640080" y="1490472"/>
            <a:ext cx="3566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E8E8E8"/>
                </a:solidFill>
                <a:latin typeface="Courier New"/>
              </a:rPr>
              <a:t>&gt; ordena estas 10 subtareas y responde en JSON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548640" y="196596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6A6A6"/>
                </a:solidFill>
                <a:latin typeface="Arial"/>
              </a:rPr>
              <a:t>Resultado en el ensayo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548640" y="2240280"/>
            <a:ext cx="374903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✗ Se paga leer, razonar y escribir la respuesta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✗ El motivo queda en prosa: no se puede auditar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✗ s/d de 5 criterios · s/d · s/d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4663440" y="896112"/>
            <a:ext cx="4114800" cy="2971800"/>
          </a:xfrm>
          <a:prstGeom prst="rect">
            <a:avLst/>
          </a:prstGeom>
          <a:solidFill>
            <a:srgbClr val="1A1A1A"/>
          </a:solidFill>
          <a:ln w="12700">
            <a:solidFill>
              <a:srgbClr val="C8E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6" name="TextBox 355"/>
          <p:cNvSpPr txBox="1"/>
          <p:nvPr/>
        </p:nvSpPr>
        <p:spPr>
          <a:xfrm>
            <a:off x="4846320" y="10058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8E64D"/>
                </a:solidFill>
                <a:latin typeface="Arial"/>
              </a:rPr>
              <a:t>Preguntarle a Jev lo justo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4846320" y="1417320"/>
            <a:ext cx="3749039" cy="365760"/>
          </a:xfrm>
          <a:prstGeom prst="rect">
            <a:avLst/>
          </a:prstGeom>
          <a:solidFill>
            <a:srgbClr val="12121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TextBox 357"/>
          <p:cNvSpPr txBox="1"/>
          <p:nvPr/>
        </p:nvSpPr>
        <p:spPr>
          <a:xfrm>
            <a:off x="4937760" y="1490472"/>
            <a:ext cx="3566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E8E8E8"/>
                </a:solidFill>
                <a:latin typeface="Courier New"/>
              </a:rPr>
              <a:t>&gt; touches_money? blocks_purchase? area? impacto?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4846320" y="196596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6A6A6"/>
                </a:solidFill>
                <a:latin typeface="Arial"/>
              </a:rPr>
              <a:t>Resultado en el ensayo (Jev + código)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4846320" y="2240280"/>
            <a:ext cx="374903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✓ 8 preguntas cerradas por subtarea, en un solo request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✓ El orden y el motivo los calcula el código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✓ s/d de 5 criterios · s/d · s/d</a:t>
            </a:r>
          </a:p>
        </p:txBody>
      </p:sp>
      <p:sp>
        <p:nvSpPr>
          <p:cNvPr id="361" name="Rectangle 360"/>
          <p:cNvSpPr/>
          <p:nvPr/>
        </p:nvSpPr>
        <p:spPr>
          <a:xfrm>
            <a:off x="365760" y="4005072"/>
            <a:ext cx="8412480" cy="621792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2" name="TextBox 361"/>
          <p:cNvSpPr txBox="1"/>
          <p:nvPr/>
        </p:nvSpPr>
        <p:spPr>
          <a:xfrm>
            <a:off x="548640" y="4005072"/>
            <a:ext cx="80467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Una decisión no necesita una redacción: </a:t>
            </a:r>
            <a:r>
              <a:rPr sz="1200" b="1" i="0">
                <a:solidFill>
                  <a:srgbClr val="C8E64D"/>
                </a:solidFill>
                <a:latin typeface="Arial"/>
              </a:rPr>
              <a:t>necesita una probabilidad y una regla.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/>
      <p:sp>
        <p:nvSpPr>
          <p:cNvPr id="335" name="Google Shape;335;p14"/>
          <p:cNvSpPr/>
          <p:nvPr/>
        </p:nvSpPr>
        <p:spPr>
          <a:xfrm>
            <a:off x="4572" y="4514"/>
            <a:ext cx="9143999" cy="64065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4"/>
          <p:cNvCxnSpPr/>
          <p:nvPr/>
        </p:nvCxnSpPr>
        <p:spPr>
          <a:xfrm>
            <a:off x="365759" y="759586"/>
            <a:ext cx="4389120" cy="0"/>
          </a:xfrm>
          <a:prstGeom prst="straightConnector1">
            <a:avLst/>
          </a:prstGeom>
          <a:noFill/>
          <a:ln cap="flat" cmpd="sng" w="1905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image.png" id="345" name="Google Shape;34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91566"/>
            <a:ext cx="1170432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4"/>
          <p:cNvSpPr txBox="1"/>
          <p:nvPr/>
        </p:nvSpPr>
        <p:spPr>
          <a:xfrm>
            <a:off x="320357" y="4940472"/>
            <a:ext cx="1263005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for Developers | 30X</a:t>
            </a:r>
            <a:endParaRPr/>
          </a:p>
        </p:txBody>
      </p:sp>
      <p:sp>
        <p:nvSpPr>
          <p:cNvPr id="347" name="Google Shape;347;p14"/>
          <p:cNvSpPr txBox="1"/>
          <p:nvPr/>
        </p:nvSpPr>
        <p:spPr>
          <a:xfrm>
            <a:off x="8549640" y="4940472"/>
            <a:ext cx="457200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348" name="Google Shape;348;p14"/>
          <p:cNvSpPr txBox="1"/>
          <p:nvPr/>
        </p:nvSpPr>
        <p:spPr>
          <a:xfrm>
            <a:off x="366077" y="236955"/>
            <a:ext cx="7223760" cy="31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3 ideas de hoy</a:t>
            </a:r>
            <a:endParaRPr/>
          </a:p>
        </p:txBody>
      </p:sp>
      <p:sp>
        <p:nvSpPr>
          <p:cNvPr id="349" name="Rectangle 348"/>
          <p:cNvSpPr/>
          <p:nvPr/>
        </p:nvSpPr>
        <p:spPr>
          <a:xfrm>
            <a:off x="365760" y="896112"/>
            <a:ext cx="2697480" cy="1371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Oval 349"/>
          <p:cNvSpPr/>
          <p:nvPr/>
        </p:nvSpPr>
        <p:spPr>
          <a:xfrm>
            <a:off x="530352" y="1051560"/>
            <a:ext cx="310896" cy="310896"/>
          </a:xfrm>
          <a:prstGeom prst="ellipse">
            <a:avLst/>
          </a:prstGeom>
          <a:solidFill>
            <a:srgbClr val="C8E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0D0D0D"/>
                </a:solidFill>
                <a:latin typeface="Arial"/>
              </a:rPr>
              <a:t>1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932688" y="105156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8E64D"/>
                </a:solidFill>
                <a:latin typeface="Arial"/>
              </a:rPr>
              <a:t>Jev decide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548640" y="1490472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DDDDDD"/>
                </a:solidFill>
                <a:latin typeface="Arial"/>
              </a:rPr>
              <a:t>Barato y calibrado: preguntas cerradas que devuelven probabilidades, no texto.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3223260" y="896112"/>
            <a:ext cx="2697480" cy="1371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4" name="Oval 353"/>
          <p:cNvSpPr/>
          <p:nvPr/>
        </p:nvSpPr>
        <p:spPr>
          <a:xfrm>
            <a:off x="3387852" y="1051560"/>
            <a:ext cx="310896" cy="310896"/>
          </a:xfrm>
          <a:prstGeom prst="ellipse">
            <a:avLst/>
          </a:prstGeom>
          <a:solidFill>
            <a:srgbClr val="C8E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0D0D0D"/>
                </a:solidFill>
                <a:latin typeface="Arial"/>
              </a:rPr>
              <a:t>2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3790187" y="105156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8E64D"/>
                </a:solidFill>
                <a:latin typeface="Arial"/>
              </a:rPr>
              <a:t>Claude genera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3406140" y="1490472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DDDDDD"/>
                </a:solidFill>
                <a:latin typeface="Arial"/>
              </a:rPr>
              <a:t>Solo donde aporta: Sonnet escribe el refactor en Claude Code.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6080760" y="896112"/>
            <a:ext cx="2697480" cy="1371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Oval 357"/>
          <p:cNvSpPr/>
          <p:nvPr/>
        </p:nvSpPr>
        <p:spPr>
          <a:xfrm>
            <a:off x="6245352" y="1051560"/>
            <a:ext cx="310896" cy="310896"/>
          </a:xfrm>
          <a:prstGeom prst="ellipse">
            <a:avLst/>
          </a:prstGeom>
          <a:solidFill>
            <a:srgbClr val="C8E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0D0D0D"/>
                </a:solidFill>
                <a:latin typeface="Arial"/>
              </a:rPr>
              <a:t>3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6647688" y="105156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8E64D"/>
                </a:solidFill>
                <a:latin typeface="Arial"/>
              </a:rPr>
              <a:t>El código manda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6263640" y="1490472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DDDDDD"/>
                </a:solidFill>
                <a:latin typeface="Arial"/>
              </a:rPr>
              <a:t>El orden, los umbrales, los motivos, los chequeos y el bloqueo del merge.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365760" y="3931920"/>
            <a:ext cx="8412480" cy="68580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4" name="TextBox 373"/>
          <p:cNvSpPr txBox="1"/>
          <p:nvPr/>
        </p:nvSpPr>
        <p:spPr>
          <a:xfrm>
            <a:off x="548640" y="3931920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Pregúntale a la IA </a:t>
            </a:r>
            <a:r>
              <a:rPr sz="1200" b="1" i="0">
                <a:solidFill>
                  <a:srgbClr val="C8E64D"/>
                </a:solidFill>
                <a:latin typeface="Arial"/>
              </a:rPr>
              <a:t>lo justo</a:t>
            </a:r>
            <a:r>
              <a:rPr sz="1200" b="0" i="0">
                <a:solidFill>
                  <a:srgbClr val="FFFF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/>
      <p:sp>
        <p:nvSpPr>
          <p:cNvPr id="335" name="Google Shape;335;p14"/>
          <p:cNvSpPr/>
          <p:nvPr/>
        </p:nvSpPr>
        <p:spPr>
          <a:xfrm>
            <a:off x="4572" y="4514"/>
            <a:ext cx="9143999" cy="64065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4"/>
          <p:cNvCxnSpPr/>
          <p:nvPr/>
        </p:nvCxnSpPr>
        <p:spPr>
          <a:xfrm>
            <a:off x="365759" y="759586"/>
            <a:ext cx="4389120" cy="0"/>
          </a:xfrm>
          <a:prstGeom prst="straightConnector1">
            <a:avLst/>
          </a:prstGeom>
          <a:noFill/>
          <a:ln cap="flat" cmpd="sng" w="1905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image.png" id="345" name="Google Shape;34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91566"/>
            <a:ext cx="1170432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4"/>
          <p:cNvSpPr txBox="1"/>
          <p:nvPr/>
        </p:nvSpPr>
        <p:spPr>
          <a:xfrm>
            <a:off x="320357" y="4940472"/>
            <a:ext cx="1263005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for Developers | 30X</a:t>
            </a:r>
            <a:endParaRPr/>
          </a:p>
        </p:txBody>
      </p:sp>
      <p:sp>
        <p:nvSpPr>
          <p:cNvPr id="347" name="Google Shape;347;p14"/>
          <p:cNvSpPr txBox="1"/>
          <p:nvPr/>
        </p:nvSpPr>
        <p:spPr>
          <a:xfrm>
            <a:off x="8549640" y="4940472"/>
            <a:ext cx="457200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348" name="Google Shape;348;p14"/>
          <p:cNvSpPr txBox="1"/>
          <p:nvPr/>
        </p:nvSpPr>
        <p:spPr>
          <a:xfrm>
            <a:off x="366077" y="236955"/>
            <a:ext cx="7223760" cy="31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Qué es Jev</a:t>
            </a:r>
            <a:endParaRPr/>
          </a:p>
        </p:txBody>
      </p:sp>
      <p:sp>
        <p:nvSpPr>
          <p:cNvPr id="349" name="Rectangle 348"/>
          <p:cNvSpPr/>
          <p:nvPr/>
        </p:nvSpPr>
        <p:spPr>
          <a:xfrm>
            <a:off x="365760" y="896112"/>
            <a:ext cx="2697480" cy="2606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TextBox 349"/>
          <p:cNvSpPr txBox="1"/>
          <p:nvPr/>
        </p:nvSpPr>
        <p:spPr>
          <a:xfrm>
            <a:off x="502920" y="987552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C8E64D"/>
                </a:solidFill>
                <a:latin typeface="Courier New"/>
              </a:rPr>
              <a:t>State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502920" y="126187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A6A6A6"/>
                </a:solidFill>
                <a:latin typeface="Arial"/>
              </a:rPr>
              <a:t>Lo que Jev evalúa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502920" y="1600200"/>
            <a:ext cx="2423160" cy="1737360"/>
          </a:xfrm>
          <a:prstGeom prst="rect">
            <a:avLst/>
          </a:prstGeom>
          <a:solidFill>
            <a:srgbClr val="12121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3" name="TextBox 352"/>
          <p:cNvSpPr txBox="1"/>
          <p:nvPr/>
        </p:nvSpPr>
        <p:spPr>
          <a:xfrm>
            <a:off x="594360" y="1673352"/>
            <a:ext cx="2240279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{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 "evidence": {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  "subtask": {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   "title": "precio raro",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   "description":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    "…no dice si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     trae iva…"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  }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 }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}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3200400" y="896112"/>
            <a:ext cx="2697480" cy="2606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5" name="TextBox 354"/>
          <p:cNvSpPr txBox="1"/>
          <p:nvPr/>
        </p:nvSpPr>
        <p:spPr>
          <a:xfrm>
            <a:off x="3337560" y="987552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C8E64D"/>
                </a:solidFill>
                <a:latin typeface="Courier New"/>
              </a:rPr>
              <a:t>Preguntas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3337560" y="126187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A6A6A6"/>
                </a:solidFill>
                <a:latin typeface="Arial"/>
              </a:rPr>
              <a:t>Una propiedad por pregunta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3337560" y="1600200"/>
            <a:ext cx="2423160" cy="1737360"/>
          </a:xfrm>
          <a:prstGeom prst="rect">
            <a:avLst/>
          </a:prstGeom>
          <a:solidFill>
            <a:srgbClr val="12121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TextBox 357"/>
          <p:cNvSpPr txBox="1"/>
          <p:nvPr/>
        </p:nvSpPr>
        <p:spPr>
          <a:xfrm>
            <a:off x="3429000" y="1673352"/>
            <a:ext cx="2240279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touches_money      noul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legal_or_compliance noul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blocks_purchase    noul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area               choice (6)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conversion_impact  score (4)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instrucciones en inglés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texto de terceros = evidencia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6035040" y="896112"/>
            <a:ext cx="2743200" cy="2606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0" name="TextBox 359"/>
          <p:cNvSpPr txBox="1"/>
          <p:nvPr/>
        </p:nvSpPr>
        <p:spPr>
          <a:xfrm>
            <a:off x="6172200" y="98755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C8E64D"/>
                </a:solidFill>
                <a:latin typeface="Arial"/>
              </a:rPr>
              <a:t>Respuesta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6172200" y="126187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A6A6A6"/>
                </a:solidFill>
                <a:latin typeface="Arial"/>
              </a:rPr>
              <a:t>Probabilidades, no texto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6172200" y="1645920"/>
            <a:ext cx="2468880" cy="45720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3" name="TextBox 362"/>
          <p:cNvSpPr txBox="1"/>
          <p:nvPr/>
        </p:nvSpPr>
        <p:spPr>
          <a:xfrm>
            <a:off x="6281927" y="1700784"/>
            <a:ext cx="822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Noul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7040879" y="1700784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A6A6"/>
                </a:solidFill>
                <a:latin typeface="Arial"/>
              </a:rPr>
              <a:t>probabilidad de "sí"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6172200" y="2240280"/>
            <a:ext cx="2468880" cy="45720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6" name="TextBox 365"/>
          <p:cNvSpPr txBox="1"/>
          <p:nvPr/>
        </p:nvSpPr>
        <p:spPr>
          <a:xfrm>
            <a:off x="6281927" y="2295144"/>
            <a:ext cx="822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Choice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7040879" y="2295144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A6A6"/>
                </a:solidFill>
                <a:latin typeface="Arial"/>
              </a:rPr>
              <a:t>opción + distribución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6172200" y="2834640"/>
            <a:ext cx="2468880" cy="45720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9" name="TextBox 368"/>
          <p:cNvSpPr txBox="1"/>
          <p:nvPr/>
        </p:nvSpPr>
        <p:spPr>
          <a:xfrm>
            <a:off x="6281927" y="2889504"/>
            <a:ext cx="822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Score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7040879" y="2889504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A6A6"/>
                </a:solidFill>
                <a:latin typeface="Arial"/>
              </a:rPr>
              <a:t>nivel + confianza</a:t>
            </a:r>
          </a:p>
        </p:txBody>
      </p:sp>
      <p:cxnSp>
        <p:nvCxnSpPr>
          <p:cNvPr id="371" name="Connector 370"/>
          <p:cNvCxnSpPr/>
          <p:nvPr/>
        </p:nvCxnSpPr>
        <p:spPr>
          <a:xfrm>
            <a:off x="7406640" y="2103120"/>
            <a:ext cx="0" cy="13716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7406640" y="2697480"/>
            <a:ext cx="0" cy="13716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Rectangle 372"/>
          <p:cNvSpPr/>
          <p:nvPr/>
        </p:nvSpPr>
        <p:spPr>
          <a:xfrm>
            <a:off x="365760" y="3657600"/>
            <a:ext cx="8412480" cy="96012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4" name="TextBox 373"/>
          <p:cNvSpPr txBox="1"/>
          <p:nvPr/>
        </p:nvSpPr>
        <p:spPr>
          <a:xfrm>
            <a:off x="548640" y="3657600"/>
            <a:ext cx="80467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Jev no escribe, no explica y no genera código. Cuesta </a:t>
            </a:r>
            <a:r>
              <a:rPr sz="1150" b="1" i="0">
                <a:solidFill>
                  <a:srgbClr val="C8E64D"/>
                </a:solidFill>
                <a:latin typeface="Arial"/>
              </a:rPr>
              <a:t>USD 0.042 por millón de tokens</a:t>
            </a:r>
            <a:r>
              <a:rPr sz="1150" b="0" i="0">
                <a:solidFill>
                  <a:srgbClr val="FFFFFF"/>
                </a:solidFill>
                <a:latin typeface="Arial"/>
              </a:rPr>
              <a:t> de entrada; la salida es gratis.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/>
      <p:sp>
        <p:nvSpPr>
          <p:cNvPr id="335" name="Google Shape;335;p14"/>
          <p:cNvSpPr/>
          <p:nvPr/>
        </p:nvSpPr>
        <p:spPr>
          <a:xfrm>
            <a:off x="4572" y="4514"/>
            <a:ext cx="9143999" cy="64065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4"/>
          <p:cNvCxnSpPr/>
          <p:nvPr/>
        </p:nvCxnSpPr>
        <p:spPr>
          <a:xfrm>
            <a:off x="365759" y="759586"/>
            <a:ext cx="4389120" cy="0"/>
          </a:xfrm>
          <a:prstGeom prst="straightConnector1">
            <a:avLst/>
          </a:prstGeom>
          <a:noFill/>
          <a:ln cap="flat" cmpd="sng" w="1905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image.png" id="345" name="Google Shape;34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91566"/>
            <a:ext cx="1170432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4"/>
          <p:cNvSpPr txBox="1"/>
          <p:nvPr/>
        </p:nvSpPr>
        <p:spPr>
          <a:xfrm>
            <a:off x="320357" y="4940472"/>
            <a:ext cx="1263005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for Developers | 30X</a:t>
            </a:r>
            <a:endParaRPr/>
          </a:p>
        </p:txBody>
      </p:sp>
      <p:sp>
        <p:nvSpPr>
          <p:cNvPr id="347" name="Google Shape;347;p14"/>
          <p:cNvSpPr txBox="1"/>
          <p:nvPr/>
        </p:nvSpPr>
        <p:spPr>
          <a:xfrm>
            <a:off x="8549640" y="4940472"/>
            <a:ext cx="457200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348" name="Google Shape;348;p14"/>
          <p:cNvSpPr txBox="1"/>
          <p:nvPr/>
        </p:nvSpPr>
        <p:spPr>
          <a:xfrm>
            <a:off x="366077" y="236955"/>
            <a:ext cx="7223760" cy="31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Cuándo usar Jev y cuándo no</a:t>
            </a:r>
            <a:endParaRPr/>
          </a:p>
        </p:txBody>
      </p:sp>
      <p:sp>
        <p:nvSpPr>
          <p:cNvPr id="349" name="Rectangle 348"/>
          <p:cNvSpPr/>
          <p:nvPr/>
        </p:nvSpPr>
        <p:spPr>
          <a:xfrm>
            <a:off x="365760" y="896112"/>
            <a:ext cx="4114800" cy="2971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TextBox 349"/>
          <p:cNvSpPr txBox="1"/>
          <p:nvPr/>
        </p:nvSpPr>
        <p:spPr>
          <a:xfrm>
            <a:off x="548640" y="10058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Cuándo sí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548640" y="1417320"/>
            <a:ext cx="3749039" cy="365760"/>
          </a:xfrm>
          <a:prstGeom prst="rect">
            <a:avLst/>
          </a:prstGeom>
          <a:solidFill>
            <a:srgbClr val="12121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2" name="TextBox 351"/>
          <p:cNvSpPr txBox="1"/>
          <p:nvPr/>
        </p:nvSpPr>
        <p:spPr>
          <a:xfrm>
            <a:off x="640080" y="1490472"/>
            <a:ext cx="3566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E8E8E8"/>
                </a:solidFill>
                <a:latin typeface="Courier New"/>
              </a:rPr>
              <a:t>&gt; ¿este diff confía en un precio del cliente?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548640" y="196596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6A6A6"/>
                </a:solidFill>
                <a:latin typeface="Arial"/>
              </a:rPr>
              <a:t>Decisiones cerradas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548640" y="2240280"/>
            <a:ext cx="374903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✓ Clasificar y priorizar: ¿toca dinero?, ¿es solo estético?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✓ Verificar y hacer de gate: aprobar, revisar o bloquear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✓ Elegir ruta: qué modelo o qué persona atiende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4663440" y="896112"/>
            <a:ext cx="4114800" cy="2971800"/>
          </a:xfrm>
          <a:prstGeom prst="rect">
            <a:avLst/>
          </a:prstGeom>
          <a:solidFill>
            <a:srgbClr val="1A1A1A"/>
          </a:solidFill>
          <a:ln w="12700">
            <a:solidFill>
              <a:srgbClr val="C8E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6" name="TextBox 355"/>
          <p:cNvSpPr txBox="1"/>
          <p:nvPr/>
        </p:nvSpPr>
        <p:spPr>
          <a:xfrm>
            <a:off x="4846320" y="10058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8E64D"/>
                </a:solidFill>
                <a:latin typeface="Arial"/>
              </a:rPr>
              <a:t>Cuándo no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4846320" y="1417320"/>
            <a:ext cx="3749039" cy="365760"/>
          </a:xfrm>
          <a:prstGeom prst="rect">
            <a:avLst/>
          </a:prstGeom>
          <a:solidFill>
            <a:srgbClr val="12121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TextBox 357"/>
          <p:cNvSpPr txBox="1"/>
          <p:nvPr/>
        </p:nvSpPr>
        <p:spPr>
          <a:xfrm>
            <a:off x="4937760" y="1490472"/>
            <a:ext cx="3566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E8E8E8"/>
                </a:solidFill>
                <a:latin typeface="Courier New"/>
              </a:rPr>
              <a:t>&gt; escribe el refactor de la PDP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4846320" y="196596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6A6A6"/>
                </a:solidFill>
                <a:latin typeface="Arial"/>
              </a:rPr>
              <a:t>Otra herramienta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4846320" y="2240280"/>
            <a:ext cx="374903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✗ Prosa, explicaciones o código: modelo generativo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✗ Aritmética, fechas y conteos: código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✗ Lo que diga un ticket o un PR: evidencia, no orden</a:t>
            </a:r>
          </a:p>
        </p:txBody>
      </p:sp>
      <p:sp>
        <p:nvSpPr>
          <p:cNvPr id="361" name="Rectangle 360"/>
          <p:cNvSpPr/>
          <p:nvPr/>
        </p:nvSpPr>
        <p:spPr>
          <a:xfrm>
            <a:off x="365760" y="4005072"/>
            <a:ext cx="8412480" cy="621792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2" name="TextBox 361"/>
          <p:cNvSpPr txBox="1"/>
          <p:nvPr/>
        </p:nvSpPr>
        <p:spPr>
          <a:xfrm>
            <a:off x="548640" y="4005072"/>
            <a:ext cx="80467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Si una persona experta lo respondería en un segundo, </a:t>
            </a:r>
            <a:r>
              <a:rPr sz="1200" b="1" i="0">
                <a:solidFill>
                  <a:srgbClr val="C8E64D"/>
                </a:solidFill>
                <a:latin typeface="Arial"/>
              </a:rPr>
              <a:t>es una pregunta para Jev.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/>
      <p:sp>
        <p:nvSpPr>
          <p:cNvPr id="117" name="Google Shape;117;p3"/>
          <p:cNvSpPr/>
          <p:nvPr/>
        </p:nvSpPr>
        <p:spPr>
          <a:xfrm>
            <a:off x="4572" y="4579"/>
            <a:ext cx="128015" cy="5152644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457834" y="737089"/>
            <a:ext cx="1381971" cy="1165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30">
                <a:solidFill>
                  <a:srgbClr val="C8E64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457834" y="2583813"/>
            <a:ext cx="7255061" cy="450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 en vivo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457834" y="3723373"/>
            <a:ext cx="7772400" cy="184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De un ticket mal escrito a un PR revisado, en local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320357" y="4941101"/>
            <a:ext cx="1262575" cy="112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for Developers | 30X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8549640" y="4941101"/>
            <a:ext cx="457200" cy="112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/>
      <p:sp>
        <p:nvSpPr>
          <p:cNvPr id="335" name="Google Shape;335;p14"/>
          <p:cNvSpPr/>
          <p:nvPr/>
        </p:nvSpPr>
        <p:spPr>
          <a:xfrm>
            <a:off x="4572" y="4514"/>
            <a:ext cx="9143999" cy="64065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4"/>
          <p:cNvCxnSpPr/>
          <p:nvPr/>
        </p:nvCxnSpPr>
        <p:spPr>
          <a:xfrm>
            <a:off x="365759" y="759586"/>
            <a:ext cx="4389120" cy="0"/>
          </a:xfrm>
          <a:prstGeom prst="straightConnector1">
            <a:avLst/>
          </a:prstGeom>
          <a:noFill/>
          <a:ln cap="flat" cmpd="sng" w="1905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image.png" id="345" name="Google Shape;34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91566"/>
            <a:ext cx="1170432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4"/>
          <p:cNvSpPr txBox="1"/>
          <p:nvPr/>
        </p:nvSpPr>
        <p:spPr>
          <a:xfrm>
            <a:off x="320357" y="4940472"/>
            <a:ext cx="1263005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for Developers | 30X</a:t>
            </a:r>
            <a:endParaRPr/>
          </a:p>
        </p:txBody>
      </p:sp>
      <p:sp>
        <p:nvSpPr>
          <p:cNvPr id="347" name="Google Shape;347;p14"/>
          <p:cNvSpPr txBox="1"/>
          <p:nvPr/>
        </p:nvSpPr>
        <p:spPr>
          <a:xfrm>
            <a:off x="8549640" y="4940472"/>
            <a:ext cx="457200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48" name="Google Shape;348;p14"/>
          <p:cNvSpPr txBox="1"/>
          <p:nvPr/>
        </p:nvSpPr>
        <p:spPr>
          <a:xfrm>
            <a:off x="366077" y="236955"/>
            <a:ext cx="7223760" cy="31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 que van a ver</a:t>
            </a:r>
            <a:endParaRPr/>
          </a:p>
        </p:txBody>
      </p:sp>
      <p:sp>
        <p:nvSpPr>
          <p:cNvPr id="349" name="Rectangle 348"/>
          <p:cNvSpPr/>
          <p:nvPr/>
        </p:nvSpPr>
        <p:spPr>
          <a:xfrm>
            <a:off x="365760" y="914400"/>
            <a:ext cx="1883664" cy="11887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TextBox 349"/>
          <p:cNvSpPr txBox="1"/>
          <p:nvPr/>
        </p:nvSpPr>
        <p:spPr>
          <a:xfrm>
            <a:off x="493776" y="10241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8E64D"/>
                </a:solidFill>
                <a:latin typeface="Arial"/>
              </a:rPr>
              <a:t>1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1188720" y="1051560"/>
            <a:ext cx="932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 i="0">
                <a:solidFill>
                  <a:srgbClr val="A6A6A6"/>
                </a:solidFill>
                <a:latin typeface="Arial"/>
              </a:rPr>
              <a:t>3'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493776" y="1371600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Ticket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493776" y="1645920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DDDDDD"/>
                </a:solidFill>
                <a:latin typeface="Courier New"/>
              </a:rPr>
              <a:t>PDP antes + PDP-142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493776" y="1847088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A6A6"/>
                </a:solidFill>
                <a:latin typeface="Arial"/>
              </a:rPr>
              <a:t>local · main</a:t>
            </a:r>
          </a:p>
        </p:txBody>
      </p:sp>
      <p:cxnSp>
        <p:nvCxnSpPr>
          <p:cNvPr id="355" name="Connector 354"/>
          <p:cNvCxnSpPr/>
          <p:nvPr/>
        </p:nvCxnSpPr>
        <p:spPr>
          <a:xfrm>
            <a:off x="2286000" y="1508760"/>
            <a:ext cx="219456" cy="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6" name="Rectangle 355"/>
          <p:cNvSpPr/>
          <p:nvPr/>
        </p:nvSpPr>
        <p:spPr>
          <a:xfrm>
            <a:off x="2542032" y="914400"/>
            <a:ext cx="1883664" cy="11887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7" name="TextBox 356"/>
          <p:cNvSpPr txBox="1"/>
          <p:nvPr/>
        </p:nvSpPr>
        <p:spPr>
          <a:xfrm>
            <a:off x="2670048" y="10241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8E64D"/>
                </a:solidFill>
                <a:latin typeface="Arial"/>
              </a:rPr>
              <a:t>2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3364991" y="1051560"/>
            <a:ext cx="932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 i="0">
                <a:solidFill>
                  <a:srgbClr val="A6A6A6"/>
                </a:solidFill>
                <a:latin typeface="Arial"/>
              </a:rPr>
              <a:t>4'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2670048" y="1371600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Priorización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2670048" y="1645920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DDDDDD"/>
                </a:solidFill>
                <a:latin typeface="Courier New"/>
              </a:rPr>
              <a:t>npm run prioritize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2670048" y="1847088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A6A6"/>
                </a:solidFill>
                <a:latin typeface="Arial"/>
              </a:rPr>
              <a:t>Jev + código</a:t>
            </a:r>
          </a:p>
        </p:txBody>
      </p:sp>
      <p:cxnSp>
        <p:nvCxnSpPr>
          <p:cNvPr id="362" name="Connector 361"/>
          <p:cNvCxnSpPr/>
          <p:nvPr/>
        </p:nvCxnSpPr>
        <p:spPr>
          <a:xfrm>
            <a:off x="4462272" y="1508760"/>
            <a:ext cx="219456" cy="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Rectangle 362"/>
          <p:cNvSpPr/>
          <p:nvPr/>
        </p:nvSpPr>
        <p:spPr>
          <a:xfrm>
            <a:off x="4718304" y="914400"/>
            <a:ext cx="1883664" cy="11887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4" name="TextBox 363"/>
          <p:cNvSpPr txBox="1"/>
          <p:nvPr/>
        </p:nvSpPr>
        <p:spPr>
          <a:xfrm>
            <a:off x="4846320" y="10241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8E64D"/>
                </a:solidFill>
                <a:latin typeface="Arial"/>
              </a:rPr>
              <a:t>3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5541264" y="1051560"/>
            <a:ext cx="932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 i="0">
                <a:solidFill>
                  <a:srgbClr val="A6A6A6"/>
                </a:solidFill>
                <a:latin typeface="Arial"/>
              </a:rPr>
              <a:t>5'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4846320" y="1371600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Refactor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4846320" y="1645920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DDDDDD"/>
                </a:solidFill>
                <a:latin typeface="Courier New"/>
              </a:rPr>
              <a:t>Claude Code + Sonnet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4846320" y="1847088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A6A6"/>
                </a:solidFill>
                <a:latin typeface="Arial"/>
              </a:rPr>
              <a:t>rama refactor/pdp</a:t>
            </a:r>
          </a:p>
        </p:txBody>
      </p:sp>
      <p:cxnSp>
        <p:nvCxnSpPr>
          <p:cNvPr id="369" name="Connector 368"/>
          <p:cNvCxnSpPr/>
          <p:nvPr/>
        </p:nvCxnSpPr>
        <p:spPr>
          <a:xfrm>
            <a:off x="6638544" y="1508760"/>
            <a:ext cx="219456" cy="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Rectangle 369"/>
          <p:cNvSpPr/>
          <p:nvPr/>
        </p:nvSpPr>
        <p:spPr>
          <a:xfrm>
            <a:off x="6894576" y="914400"/>
            <a:ext cx="1883664" cy="11887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1" name="TextBox 370"/>
          <p:cNvSpPr txBox="1"/>
          <p:nvPr/>
        </p:nvSpPr>
        <p:spPr>
          <a:xfrm>
            <a:off x="7022592" y="10241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8E64D"/>
                </a:solidFill>
                <a:latin typeface="Arial"/>
              </a:rPr>
              <a:t>4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7717536" y="1051560"/>
            <a:ext cx="932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 i="0">
                <a:solidFill>
                  <a:srgbClr val="A6A6A6"/>
                </a:solidFill>
                <a:latin typeface="Arial"/>
              </a:rPr>
              <a:t>5'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7022592" y="1371600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Revisión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7022592" y="1645920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DDDDDD"/>
                </a:solidFill>
                <a:latin typeface="Courier New"/>
              </a:rPr>
              <a:t>npm run review + hook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7022592" y="1847088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A6A6"/>
                </a:solidFill>
                <a:latin typeface="Arial"/>
              </a:rPr>
              <a:t>Jev + código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365760" y="2331720"/>
            <a:ext cx="1883664" cy="11887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7" name="TextBox 376"/>
          <p:cNvSpPr txBox="1"/>
          <p:nvPr/>
        </p:nvSpPr>
        <p:spPr>
          <a:xfrm>
            <a:off x="493776" y="24414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8E64D"/>
                </a:solidFill>
                <a:latin typeface="Arial"/>
              </a:rPr>
              <a:t>5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1188720" y="2468879"/>
            <a:ext cx="9326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 i="0">
                <a:solidFill>
                  <a:srgbClr val="A6A6A6"/>
                </a:solidFill>
                <a:latin typeface="Arial"/>
              </a:rPr>
              <a:t>3'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493776" y="2788920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Antes y después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493776" y="3063239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DDDDDD"/>
                </a:solidFill>
                <a:latin typeface="Courier New"/>
              </a:rPr>
              <a:t>métricas + dashboard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493776" y="3264408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A6A6"/>
                </a:solidFill>
                <a:latin typeface="Arial"/>
              </a:rPr>
              <a:t>local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365760" y="3886200"/>
            <a:ext cx="8412480" cy="73152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TextBox 403"/>
          <p:cNvSpPr txBox="1"/>
          <p:nvPr/>
        </p:nvSpPr>
        <p:spPr>
          <a:xfrm>
            <a:off x="548640" y="388620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Cada paso tiene respaldo: </a:t>
            </a:r>
            <a:r>
              <a:rPr sz="1050" b="1" i="0">
                <a:solidFill>
                  <a:srgbClr val="C8E64D"/>
                </a:solidFill>
                <a:latin typeface="Arial"/>
              </a:rPr>
              <a:t>grabaciones del ensayo</a:t>
            </a:r>
            <a:r>
              <a:rPr sz="1050" b="0" i="0">
                <a:solidFill>
                  <a:srgbClr val="FFFFFF"/>
                </a:solidFill>
                <a:latin typeface="Arial"/>
              </a:rPr>
              <a:t> y la rama </a:t>
            </a:r>
            <a:r>
              <a:rPr sz="1050" b="1" i="0">
                <a:solidFill>
                  <a:srgbClr val="C8E64D"/>
                </a:solidFill>
                <a:latin typeface="Arial"/>
              </a:rPr>
              <a:t>refactor/pdp-recorded</a:t>
            </a:r>
            <a:r>
              <a:rPr sz="1050" b="0" i="0">
                <a:solidFill>
                  <a:srgbClr val="FFFFFF"/>
                </a:solidFill>
                <a:latin typeface="Arial"/>
              </a:rPr>
              <a:t>. Si algo falla en vivo, sigo en modo replay.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/>
      <p:sp>
        <p:nvSpPr>
          <p:cNvPr id="335" name="Google Shape;335;p14"/>
          <p:cNvSpPr/>
          <p:nvPr/>
        </p:nvSpPr>
        <p:spPr>
          <a:xfrm>
            <a:off x="4572" y="4514"/>
            <a:ext cx="9143999" cy="64065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4"/>
          <p:cNvCxnSpPr/>
          <p:nvPr/>
        </p:nvCxnSpPr>
        <p:spPr>
          <a:xfrm>
            <a:off x="365759" y="759586"/>
            <a:ext cx="4389120" cy="0"/>
          </a:xfrm>
          <a:prstGeom prst="straightConnector1">
            <a:avLst/>
          </a:prstGeom>
          <a:noFill/>
          <a:ln cap="flat" cmpd="sng" w="1905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image.png" id="345" name="Google Shape;34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91566"/>
            <a:ext cx="1170432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4"/>
          <p:cNvSpPr txBox="1"/>
          <p:nvPr/>
        </p:nvSpPr>
        <p:spPr>
          <a:xfrm>
            <a:off x="320357" y="4940472"/>
            <a:ext cx="1263005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for Developers | 30X</a:t>
            </a:r>
            <a:endParaRPr/>
          </a:p>
        </p:txBody>
      </p:sp>
      <p:sp>
        <p:nvSpPr>
          <p:cNvPr id="347" name="Google Shape;347;p14"/>
          <p:cNvSpPr txBox="1"/>
          <p:nvPr/>
        </p:nvSpPr>
        <p:spPr>
          <a:xfrm>
            <a:off x="8549640" y="4940472"/>
            <a:ext cx="457200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348" name="Google Shape;348;p14"/>
          <p:cNvSpPr txBox="1"/>
          <p:nvPr/>
        </p:nvSpPr>
        <p:spPr>
          <a:xfrm>
            <a:off x="366077" y="236955"/>
            <a:ext cx="7223760" cy="31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reglas del juego</a:t>
            </a:r>
            <a:endParaRPr/>
          </a:p>
        </p:txBody>
      </p:sp>
      <p:sp>
        <p:nvSpPr>
          <p:cNvPr id="349" name="Rectangle 348"/>
          <p:cNvSpPr/>
          <p:nvPr/>
        </p:nvSpPr>
        <p:spPr>
          <a:xfrm>
            <a:off x="365760" y="896112"/>
            <a:ext cx="2697480" cy="2606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TextBox 349"/>
          <p:cNvSpPr txBox="1"/>
          <p:nvPr/>
        </p:nvSpPr>
        <p:spPr>
          <a:xfrm>
            <a:off x="502920" y="987552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C8E64D"/>
                </a:solidFill>
                <a:latin typeface="Courier New"/>
              </a:rPr>
              <a:t>CLAUDE.md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502920" y="126187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A6A6A6"/>
                </a:solidFill>
                <a:latin typeface="Arial"/>
              </a:rPr>
              <a:t>Reglas de negocio que Claude respeta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502920" y="1600200"/>
            <a:ext cx="2423160" cy="1737360"/>
          </a:xfrm>
          <a:prstGeom prst="rect">
            <a:avLst/>
          </a:prstGeom>
          <a:solidFill>
            <a:srgbClr val="12121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3" name="TextBox 352"/>
          <p:cNvSpPr txBox="1"/>
          <p:nvPr/>
        </p:nvSpPr>
        <p:spPr>
          <a:xfrm>
            <a:off x="594360" y="1673352"/>
            <a:ext cx="2240279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Dinero: centavos + IVA en API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Carrito: { sku, quantity }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Contratos primero (zod)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Accesibilidad WCAG 2.1 AA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'Listo' = typecheck + tests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3200400" y="896112"/>
            <a:ext cx="2697480" cy="2606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5" name="TextBox 354"/>
          <p:cNvSpPr txBox="1"/>
          <p:nvPr/>
        </p:nvSpPr>
        <p:spPr>
          <a:xfrm>
            <a:off x="3337560" y="987552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C8E64D"/>
                </a:solidFill>
                <a:latin typeface="Courier New"/>
              </a:rPr>
              <a:t>.claude/settings.json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3337560" y="126187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A6A6A6"/>
                </a:solidFill>
                <a:latin typeface="Arial"/>
              </a:rPr>
              <a:t>Hooks que no dependen del agente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3337560" y="1600200"/>
            <a:ext cx="2423160" cy="1737360"/>
          </a:xfrm>
          <a:prstGeom prst="rect">
            <a:avLst/>
          </a:prstGeom>
          <a:solidFill>
            <a:srgbClr val="12121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TextBox 357"/>
          <p:cNvSpPr txBox="1"/>
          <p:nvPr/>
        </p:nvSpPr>
        <p:spPr>
          <a:xfrm>
            <a:off x="3429000" y="1673352"/>
            <a:ext cx="2240279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PreToolUse: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  git merge refactor/*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  git push … main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  → revisión con Jev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  → exit 2 si no aprueba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8E8E8"/>
                </a:solidFill>
                <a:latin typeface="Courier New"/>
              </a:rPr>
              <a:t>Stop: tokens de la sesión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6035040" y="896112"/>
            <a:ext cx="2743200" cy="2606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0" name="TextBox 359"/>
          <p:cNvSpPr txBox="1"/>
          <p:nvPr/>
        </p:nvSpPr>
        <p:spPr>
          <a:xfrm>
            <a:off x="6172200" y="98755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C8E64D"/>
                </a:solidFill>
                <a:latin typeface="Arial"/>
              </a:rPr>
              <a:t>Modo replay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6172200" y="126187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A6A6A6"/>
                </a:solidFill>
                <a:latin typeface="Arial"/>
              </a:rPr>
              <a:t>La demo corre sin red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6172200" y="1645920"/>
            <a:ext cx="2468880" cy="45720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3" name="TextBox 362"/>
          <p:cNvSpPr txBox="1"/>
          <p:nvPr/>
        </p:nvSpPr>
        <p:spPr>
          <a:xfrm>
            <a:off x="6281927" y="1700784"/>
            <a:ext cx="822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Jev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7040879" y="1700784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A6A6"/>
                </a:solidFill>
                <a:latin typeface="Arial"/>
              </a:rPr>
              <a:t>recordings/jev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6172200" y="2240280"/>
            <a:ext cx="2468880" cy="45720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6" name="TextBox 365"/>
          <p:cNvSpPr txBox="1"/>
          <p:nvPr/>
        </p:nvSpPr>
        <p:spPr>
          <a:xfrm>
            <a:off x="6281927" y="2295144"/>
            <a:ext cx="822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Claude Code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7040879" y="2295144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A6A6"/>
                </a:solidFill>
                <a:latin typeface="Arial"/>
              </a:rPr>
              <a:t>recordings/claude-code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6172200" y="2834640"/>
            <a:ext cx="2468880" cy="45720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9" name="TextBox 368"/>
          <p:cNvSpPr txBox="1"/>
          <p:nvPr/>
        </p:nvSpPr>
        <p:spPr>
          <a:xfrm>
            <a:off x="6281927" y="2889504"/>
            <a:ext cx="822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JEV_MODE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7040879" y="2889504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6A6A6"/>
                </a:solidFill>
                <a:latin typeface="Arial"/>
              </a:rPr>
              <a:t>live · record · replay</a:t>
            </a:r>
          </a:p>
        </p:txBody>
      </p:sp>
      <p:cxnSp>
        <p:nvCxnSpPr>
          <p:cNvPr id="371" name="Connector 370"/>
          <p:cNvCxnSpPr/>
          <p:nvPr/>
        </p:nvCxnSpPr>
        <p:spPr>
          <a:xfrm>
            <a:off x="7406640" y="2103120"/>
            <a:ext cx="0" cy="13716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7406640" y="2697480"/>
            <a:ext cx="0" cy="13716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Rectangle 372"/>
          <p:cNvSpPr/>
          <p:nvPr/>
        </p:nvSpPr>
        <p:spPr>
          <a:xfrm>
            <a:off x="365760" y="3657600"/>
            <a:ext cx="8412480" cy="96012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4" name="TextBox 373"/>
          <p:cNvSpPr txBox="1"/>
          <p:nvPr/>
        </p:nvSpPr>
        <p:spPr>
          <a:xfrm>
            <a:off x="548640" y="3657600"/>
            <a:ext cx="80467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El agente propone. </a:t>
            </a:r>
            <a:r>
              <a:rPr sz="1150" b="1" i="0">
                <a:solidFill>
                  <a:srgbClr val="C8E64D"/>
                </a:solidFill>
                <a:latin typeface="Arial"/>
              </a:rPr>
              <a:t>El merge lo deciden el código y una persona.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/>
      <p:sp>
        <p:nvSpPr>
          <p:cNvPr id="117" name="Google Shape;117;p3"/>
          <p:cNvSpPr/>
          <p:nvPr/>
        </p:nvSpPr>
        <p:spPr>
          <a:xfrm>
            <a:off x="4572" y="4579"/>
            <a:ext cx="128015" cy="5152644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457834" y="737089"/>
            <a:ext cx="1381971" cy="1165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30">
                <a:solidFill>
                  <a:srgbClr val="C8E64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457834" y="2583813"/>
            <a:ext cx="7255061" cy="450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Qué pasó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457834" y="3723373"/>
            <a:ext cx="7772400" cy="184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Antes y después, costos por modelo e ideas para el hackatón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320357" y="4941101"/>
            <a:ext cx="1262575" cy="112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for Developers | 30X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8549640" y="4941101"/>
            <a:ext cx="457200" cy="112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/>
      <p:sp>
        <p:nvSpPr>
          <p:cNvPr id="335" name="Google Shape;335;p14"/>
          <p:cNvSpPr/>
          <p:nvPr/>
        </p:nvSpPr>
        <p:spPr>
          <a:xfrm>
            <a:off x="4572" y="4514"/>
            <a:ext cx="9143999" cy="64065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4"/>
          <p:cNvCxnSpPr/>
          <p:nvPr/>
        </p:nvCxnSpPr>
        <p:spPr>
          <a:xfrm>
            <a:off x="365759" y="759586"/>
            <a:ext cx="4389120" cy="0"/>
          </a:xfrm>
          <a:prstGeom prst="straightConnector1">
            <a:avLst/>
          </a:prstGeom>
          <a:noFill/>
          <a:ln cap="flat" cmpd="sng" w="1905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image.png" id="345" name="Google Shape;34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91566"/>
            <a:ext cx="1170432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4"/>
          <p:cNvSpPr txBox="1"/>
          <p:nvPr/>
        </p:nvSpPr>
        <p:spPr>
          <a:xfrm>
            <a:off x="320357" y="4940472"/>
            <a:ext cx="1263005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for Developers | 30X</a:t>
            </a:r>
            <a:endParaRPr/>
          </a:p>
        </p:txBody>
      </p:sp>
      <p:sp>
        <p:nvSpPr>
          <p:cNvPr id="347" name="Google Shape;347;p14"/>
          <p:cNvSpPr txBox="1"/>
          <p:nvPr/>
        </p:nvSpPr>
        <p:spPr>
          <a:xfrm>
            <a:off x="8549640" y="4940472"/>
            <a:ext cx="457200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48" name="Google Shape;348;p14"/>
          <p:cNvSpPr txBox="1"/>
          <p:nvPr/>
        </p:nvSpPr>
        <p:spPr>
          <a:xfrm>
            <a:off x="366077" y="236955"/>
            <a:ext cx="7223760" cy="31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Antes y después de la PDP</a:t>
            </a:r>
            <a:endParaRPr/>
          </a:p>
        </p:txBody>
      </p:sp>
      <p:sp>
        <p:nvSpPr>
          <p:cNvPr id="349" name="Rectangle 348"/>
          <p:cNvSpPr/>
          <p:nvPr/>
        </p:nvSpPr>
        <p:spPr>
          <a:xfrm>
            <a:off x="365760" y="896112"/>
            <a:ext cx="4114800" cy="2971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TextBox 349"/>
          <p:cNvSpPr txBox="1"/>
          <p:nvPr/>
        </p:nvSpPr>
        <p:spPr>
          <a:xfrm>
            <a:off x="548640" y="10058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Antes · tag pdp-before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4663440" y="896112"/>
            <a:ext cx="4114800" cy="2971800"/>
          </a:xfrm>
          <a:prstGeom prst="rect">
            <a:avLst/>
          </a:prstGeom>
          <a:solidFill>
            <a:srgbClr val="1A1A1A"/>
          </a:solidFill>
          <a:ln w="12700">
            <a:solidFill>
              <a:srgbClr val="C8E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6" name="TextBox 355"/>
          <p:cNvSpPr txBox="1"/>
          <p:nvPr/>
        </p:nvSpPr>
        <p:spPr>
          <a:xfrm>
            <a:off x="4846320" y="10058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8E64D"/>
                </a:solidFill>
                <a:latin typeface="Arial"/>
              </a:rPr>
              <a:t>Después · refactor/pdp-recorded</a:t>
            </a:r>
          </a:p>
        </p:txBody>
      </p:sp>
      <p:sp>
        <p:nvSpPr>
          <p:cNvPr id="361" name="Rectangle 360"/>
          <p:cNvSpPr/>
          <p:nvPr/>
        </p:nvSpPr>
        <p:spPr>
          <a:xfrm>
            <a:off x="365760" y="4005072"/>
            <a:ext cx="8412480" cy="621792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2" name="TextBox 361"/>
          <p:cNvSpPr txBox="1"/>
          <p:nvPr/>
        </p:nvSpPr>
        <p:spPr>
          <a:xfrm>
            <a:off x="548640" y="4005072"/>
            <a:ext cx="80467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Requests </a:t>
            </a:r>
            <a:r>
              <a:rPr sz="1200" b="1" i="0">
                <a:solidFill>
                  <a:srgbClr val="C8E64D"/>
                </a:solidFill>
                <a:latin typeface="Arial"/>
              </a:rPr>
              <a:t>4 → 1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· accesibilidad </a:t>
            </a:r>
            <a:r>
              <a:rPr sz="1200" b="1" i="0">
                <a:solidFill>
                  <a:srgbClr val="C8E64D"/>
                </a:solidFill>
                <a:latin typeface="Arial"/>
              </a:rPr>
              <a:t>81 → 100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· ProductPage.tsx </a:t>
            </a:r>
            <a:r>
              <a:rPr sz="1200" b="1" i="0">
                <a:solidFill>
                  <a:srgbClr val="C8E64D"/>
                </a:solidFill>
                <a:latin typeface="Arial"/>
              </a:rPr>
              <a:t>481 → 99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líneas · carga en móvil 1,363 ms → 1,007 ms</a:t>
            </a:r>
          </a:p>
        </p:txBody>
      </p:sp>
      <p:pic>
        <p:nvPicPr>
          <p:cNvPr id="363" name="Imagen before-desktop" descr="before-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38" y="1389888"/>
            <a:ext cx="3368243" cy="2368296"/>
          </a:xfrm>
          <a:prstGeom prst="rect">
            <a:avLst/>
          </a:prstGeom>
        </p:spPr>
      </p:pic>
      <p:pic>
        <p:nvPicPr>
          <p:cNvPr id="364" name="Imagen after-desktop" descr="after-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718" y="1389888"/>
            <a:ext cx="3368243" cy="23682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/>
      <p:sp>
        <p:nvSpPr>
          <p:cNvPr id="335" name="Google Shape;335;p14"/>
          <p:cNvSpPr/>
          <p:nvPr/>
        </p:nvSpPr>
        <p:spPr>
          <a:xfrm>
            <a:off x="4572" y="4514"/>
            <a:ext cx="9143999" cy="64065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4"/>
          <p:cNvCxnSpPr/>
          <p:nvPr/>
        </p:nvCxnSpPr>
        <p:spPr>
          <a:xfrm>
            <a:off x="365759" y="759586"/>
            <a:ext cx="4389120" cy="0"/>
          </a:xfrm>
          <a:prstGeom prst="straightConnector1">
            <a:avLst/>
          </a:prstGeom>
          <a:noFill/>
          <a:ln cap="flat" cmpd="sng" w="1905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image.png" id="345" name="Google Shape;34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91566"/>
            <a:ext cx="1170432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4"/>
          <p:cNvSpPr txBox="1"/>
          <p:nvPr/>
        </p:nvSpPr>
        <p:spPr>
          <a:xfrm>
            <a:off x="320357" y="4940472"/>
            <a:ext cx="1263005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for Developers | 30X</a:t>
            </a:r>
            <a:endParaRPr/>
          </a:p>
        </p:txBody>
      </p:sp>
      <p:sp>
        <p:nvSpPr>
          <p:cNvPr id="347" name="Google Shape;347;p14"/>
          <p:cNvSpPr txBox="1"/>
          <p:nvPr/>
        </p:nvSpPr>
        <p:spPr>
          <a:xfrm>
            <a:off x="8549640" y="4940472"/>
            <a:ext cx="457200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348" name="Google Shape;348;p14"/>
          <p:cNvSpPr txBox="1"/>
          <p:nvPr/>
        </p:nvSpPr>
        <p:spPr>
          <a:xfrm>
            <a:off x="366077" y="236955"/>
            <a:ext cx="7223760" cy="31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Cuánto costó cada decisión</a:t>
            </a:r>
            <a:endParaRPr/>
          </a:p>
        </p:txBody>
      </p:sp>
      <p:sp>
        <p:nvSpPr>
          <p:cNvPr id="349" name="Rectangle 348"/>
          <p:cNvSpPr/>
          <p:nvPr/>
        </p:nvSpPr>
        <p:spPr>
          <a:xfrm>
            <a:off x="365760" y="896112"/>
            <a:ext cx="4114800" cy="2971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TextBox 349"/>
          <p:cNvSpPr txBox="1"/>
          <p:nvPr/>
        </p:nvSpPr>
        <p:spPr>
          <a:xfrm>
            <a:off x="548640" y="10058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Costo total por modelo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4663440" y="896112"/>
            <a:ext cx="4114800" cy="2971800"/>
          </a:xfrm>
          <a:prstGeom prst="rect">
            <a:avLst/>
          </a:prstGeom>
          <a:solidFill>
            <a:srgbClr val="1A1A1A"/>
          </a:solidFill>
          <a:ln w="12700">
            <a:solidFill>
              <a:srgbClr val="C8E6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6" name="TextBox 355"/>
          <p:cNvSpPr txBox="1"/>
          <p:nvPr/>
        </p:nvSpPr>
        <p:spPr>
          <a:xfrm>
            <a:off x="4846320" y="10058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8E64D"/>
                </a:solidFill>
                <a:latin typeface="Arial"/>
              </a:rPr>
              <a:t>Por paso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4846320" y="196596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6A6A6"/>
                </a:solidFill>
                <a:latin typeface="Arial"/>
              </a:rPr>
              <a:t>Jev contra la alternativa, en el ensayo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4846320" y="2240280"/>
            <a:ext cx="374903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Priorizar: Jev s/d en s/d · Opus s/d en s/d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Refactor: Sonnet s/d · con Opus s/d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Revisar 5 fixtures: Jev s/d · s/d correctos</a:t>
            </a:r>
          </a:p>
        </p:txBody>
      </p:sp>
      <p:sp>
        <p:nvSpPr>
          <p:cNvPr id="361" name="Rectangle 360"/>
          <p:cNvSpPr/>
          <p:nvPr/>
        </p:nvSpPr>
        <p:spPr>
          <a:xfrm>
            <a:off x="365760" y="4005072"/>
            <a:ext cx="8412480" cy="621792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2" name="TextBox 361"/>
          <p:cNvSpPr txBox="1"/>
          <p:nvPr/>
        </p:nvSpPr>
        <p:spPr>
          <a:xfrm>
            <a:off x="548640" y="4005072"/>
            <a:ext cx="80467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Se paga generación </a:t>
            </a:r>
            <a:r>
              <a:rPr sz="1200" b="1" i="0">
                <a:solidFill>
                  <a:srgbClr val="C8E64D"/>
                </a:solidFill>
                <a:latin typeface="Arial"/>
              </a:rPr>
              <a:t>solo donde se genera.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/>
      <p:sp>
        <p:nvSpPr>
          <p:cNvPr id="335" name="Google Shape;335;p14"/>
          <p:cNvSpPr/>
          <p:nvPr/>
        </p:nvSpPr>
        <p:spPr>
          <a:xfrm>
            <a:off x="4572" y="4514"/>
            <a:ext cx="9143999" cy="64065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4"/>
          <p:cNvCxnSpPr/>
          <p:nvPr/>
        </p:nvCxnSpPr>
        <p:spPr>
          <a:xfrm>
            <a:off x="365759" y="759586"/>
            <a:ext cx="4389120" cy="0"/>
          </a:xfrm>
          <a:prstGeom prst="straightConnector1">
            <a:avLst/>
          </a:prstGeom>
          <a:noFill/>
          <a:ln cap="flat" cmpd="sng" w="1905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image.png" id="345" name="Google Shape;34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91566"/>
            <a:ext cx="1170432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4"/>
          <p:cNvSpPr txBox="1"/>
          <p:nvPr/>
        </p:nvSpPr>
        <p:spPr>
          <a:xfrm>
            <a:off x="320357" y="4940472"/>
            <a:ext cx="1263005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for Developers | 30X</a:t>
            </a:r>
            <a:endParaRPr/>
          </a:p>
        </p:txBody>
      </p:sp>
      <p:sp>
        <p:nvSpPr>
          <p:cNvPr id="347" name="Google Shape;347;p14"/>
          <p:cNvSpPr txBox="1"/>
          <p:nvPr/>
        </p:nvSpPr>
        <p:spPr>
          <a:xfrm>
            <a:off x="8549640" y="4940472"/>
            <a:ext cx="457200" cy="112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48" name="Google Shape;348;p14"/>
          <p:cNvSpPr txBox="1"/>
          <p:nvPr/>
        </p:nvSpPr>
        <p:spPr>
          <a:xfrm>
            <a:off x="366077" y="236955"/>
            <a:ext cx="7223760" cy="31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Ideas para el hackatón</a:t>
            </a:r>
            <a:endParaRPr/>
          </a:p>
        </p:txBody>
      </p:sp>
      <p:sp>
        <p:nvSpPr>
          <p:cNvPr id="349" name="Rectangle 348"/>
          <p:cNvSpPr/>
          <p:nvPr/>
        </p:nvSpPr>
        <p:spPr>
          <a:xfrm>
            <a:off x="365760" y="896112"/>
            <a:ext cx="2697480" cy="1371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Oval 349"/>
          <p:cNvSpPr/>
          <p:nvPr/>
        </p:nvSpPr>
        <p:spPr>
          <a:xfrm>
            <a:off x="530352" y="1051560"/>
            <a:ext cx="310896" cy="310896"/>
          </a:xfrm>
          <a:prstGeom prst="ellipse">
            <a:avLst/>
          </a:prstGeom>
          <a:solidFill>
            <a:srgbClr val="C8E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0D0D0D"/>
                </a:solidFill>
                <a:latin typeface="Arial"/>
              </a:rPr>
              <a:t>1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932688" y="105156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8E64D"/>
                </a:solidFill>
                <a:latin typeface="Arial"/>
              </a:rPr>
              <a:t>Reseñas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548640" y="1490472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DDDDDD"/>
                </a:solidFill>
                <a:latin typeface="Arial"/>
              </a:rPr>
              <a:t>Jev clasifica y etiqueta; el código publica, oculta o manda a revisión.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3223260" y="896112"/>
            <a:ext cx="2697480" cy="1371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4" name="Oval 353"/>
          <p:cNvSpPr/>
          <p:nvPr/>
        </p:nvSpPr>
        <p:spPr>
          <a:xfrm>
            <a:off x="3387852" y="1051560"/>
            <a:ext cx="310896" cy="310896"/>
          </a:xfrm>
          <a:prstGeom prst="ellipse">
            <a:avLst/>
          </a:prstGeom>
          <a:solidFill>
            <a:srgbClr val="C8E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0D0D0D"/>
                </a:solidFill>
                <a:latin typeface="Arial"/>
              </a:rPr>
              <a:t>2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3790187" y="105156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8E64D"/>
                </a:solidFill>
                <a:latin typeface="Arial"/>
              </a:rPr>
              <a:t>Devoluciones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3406140" y="1490472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DDDDDD"/>
                </a:solidFill>
                <a:latin typeface="Arial"/>
              </a:rPr>
              <a:t>Chequeos en código, tres Nouls y una persona cuando hay duda.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6080760" y="896112"/>
            <a:ext cx="2697480" cy="1371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Oval 357"/>
          <p:cNvSpPr/>
          <p:nvPr/>
        </p:nvSpPr>
        <p:spPr>
          <a:xfrm>
            <a:off x="6245352" y="1051560"/>
            <a:ext cx="310896" cy="310896"/>
          </a:xfrm>
          <a:prstGeom prst="ellipse">
            <a:avLst/>
          </a:prstGeom>
          <a:solidFill>
            <a:srgbClr val="C8E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0D0D0D"/>
                </a:solidFill>
                <a:latin typeface="Arial"/>
              </a:rPr>
              <a:t>3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6647688" y="105156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8E64D"/>
                </a:solidFill>
                <a:latin typeface="Arial"/>
              </a:rPr>
              <a:t>Catálogo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6263640" y="1490472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DDDDDD"/>
                </a:solidFill>
                <a:latin typeface="Arial"/>
              </a:rPr>
              <a:t>Jev detecta lo que la ficha promete de más; Claude la reescribe.</a:t>
            </a:r>
          </a:p>
        </p:txBody>
      </p:sp>
      <p:sp>
        <p:nvSpPr>
          <p:cNvPr id="361" name="Rectangle 360"/>
          <p:cNvSpPr/>
          <p:nvPr/>
        </p:nvSpPr>
        <p:spPr>
          <a:xfrm>
            <a:off x="365760" y="2377440"/>
            <a:ext cx="2697480" cy="1371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2" name="Oval 361"/>
          <p:cNvSpPr/>
          <p:nvPr/>
        </p:nvSpPr>
        <p:spPr>
          <a:xfrm>
            <a:off x="530352" y="2532888"/>
            <a:ext cx="310896" cy="310896"/>
          </a:xfrm>
          <a:prstGeom prst="ellipse">
            <a:avLst/>
          </a:prstGeom>
          <a:solidFill>
            <a:srgbClr val="C8E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0D0D0D"/>
                </a:solidFill>
                <a:latin typeface="Arial"/>
              </a:rPr>
              <a:t>4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932688" y="253288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8E64D"/>
                </a:solidFill>
                <a:latin typeface="Arial"/>
              </a:rPr>
              <a:t>Soporte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548640" y="297180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DDDDDD"/>
                </a:solidFill>
                <a:latin typeface="Arial"/>
              </a:rPr>
              <a:t>Equipo, urgencia y si toca dinero, en una sola request.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3223260" y="2377440"/>
            <a:ext cx="2697480" cy="1371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6" name="Oval 365"/>
          <p:cNvSpPr/>
          <p:nvPr/>
        </p:nvSpPr>
        <p:spPr>
          <a:xfrm>
            <a:off x="3387852" y="2532888"/>
            <a:ext cx="310896" cy="310896"/>
          </a:xfrm>
          <a:prstGeom prst="ellipse">
            <a:avLst/>
          </a:prstGeom>
          <a:solidFill>
            <a:srgbClr val="C8E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0D0D0D"/>
                </a:solidFill>
                <a:latin typeface="Arial"/>
              </a:rPr>
              <a:t>5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3790187" y="253288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8E64D"/>
                </a:solidFill>
                <a:latin typeface="Arial"/>
              </a:rPr>
              <a:t>Precios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3406140" y="297180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DDDDDD"/>
                </a:solidFill>
                <a:latin typeface="Arial"/>
              </a:rPr>
              <a:t>¿La PDP muestra el total con IVA? Regex primero, Jev después.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6080760" y="2377440"/>
            <a:ext cx="2697480" cy="1371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0" name="Oval 369"/>
          <p:cNvSpPr/>
          <p:nvPr/>
        </p:nvSpPr>
        <p:spPr>
          <a:xfrm>
            <a:off x="6245352" y="2532888"/>
            <a:ext cx="310896" cy="310896"/>
          </a:xfrm>
          <a:prstGeom prst="ellipse">
            <a:avLst/>
          </a:prstGeom>
          <a:solidFill>
            <a:srgbClr val="C8E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0D0D0D"/>
                </a:solidFill>
                <a:latin typeface="Arial"/>
              </a:rPr>
              <a:t>6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6647688" y="253288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8E64D"/>
                </a:solidFill>
                <a:latin typeface="Arial"/>
              </a:rPr>
              <a:t>Carrito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6263640" y="297180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DDDDDD"/>
                </a:solidFill>
                <a:latin typeface="Arial"/>
              </a:rPr>
              <a:t>Por qué abandonan: Jev clasifica, el código cuenta, Claude resume.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365760" y="3931920"/>
            <a:ext cx="8412480" cy="68580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4" name="TextBox 373"/>
          <p:cNvSpPr txBox="1"/>
          <p:nvPr/>
        </p:nvSpPr>
        <p:spPr>
          <a:xfrm>
            <a:off x="548640" y="3931920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Preguntas sugeridas y criterios de éxito en </a:t>
            </a:r>
            <a:r>
              <a:rPr sz="1200" b="1" i="0">
                <a:solidFill>
                  <a:srgbClr val="C8E64D"/>
                </a:solidFill>
                <a:latin typeface="Arial"/>
              </a:rPr>
              <a:t>docs/hackathon.md</a:t>
            </a:r>
            <a:r>
              <a:rPr sz="1200" b="0" i="0">
                <a:solidFill>
                  <a:srgbClr val="FFFFFF"/>
                </a:solidFill>
                <a:latin typeface="Arial"/>
              </a:rPr>
              <a:t>. El servidor MCP </a:t>
            </a:r>
            <a:r>
              <a:rPr sz="1200" b="1" i="0">
                <a:solidFill>
                  <a:srgbClr val="C8E64D"/>
                </a:solidFill>
                <a:latin typeface="Arial"/>
              </a:rPr>
              <a:t>jev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ya está listo.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/>
      <p:sp>
        <p:nvSpPr>
          <p:cNvPr id="117" name="Google Shape;117;p3"/>
          <p:cNvSpPr/>
          <p:nvPr/>
        </p:nvSpPr>
        <p:spPr>
          <a:xfrm>
            <a:off x="4572" y="4579"/>
            <a:ext cx="128015" cy="5152644"/>
          </a:xfrm>
          <a:prstGeom prst="rect">
            <a:avLst/>
          </a:prstGeom>
          <a:solidFill>
            <a:srgbClr val="C8E64D"/>
          </a:solidFill>
          <a:ln cap="flat" cmpd="sng" w="12700">
            <a:solidFill>
              <a:srgbClr val="C8E6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457834" y="737089"/>
            <a:ext cx="1381971" cy="1165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30">
                <a:solidFill>
                  <a:srgbClr val="C8E64D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457834" y="2583813"/>
            <a:ext cx="7255061" cy="450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Preguntas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457834" y="3723373"/>
            <a:ext cx="7772400" cy="184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Repo: jev-pdp-flow · guía del hackatón: docs/hackathon.md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320357" y="4941101"/>
            <a:ext cx="1262575" cy="112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for Developers | 30X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8549640" y="4941101"/>
            <a:ext cx="457200" cy="112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